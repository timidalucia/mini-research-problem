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notesSlides/notesSlide10.xml" ContentType="application/vnd.openxmlformats-officedocument.presentationml.notesSlide+xml"/>
  <Override PartName="/ppt/ink/ink2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22.xml" ContentType="application/inkml+xml"/>
  <Override PartName="/ppt/ink/ink2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3"/>
  </p:notesMasterIdLst>
  <p:sldIdLst>
    <p:sldId id="256" r:id="rId2"/>
    <p:sldId id="258" r:id="rId3"/>
    <p:sldId id="260" r:id="rId4"/>
    <p:sldId id="261" r:id="rId5"/>
    <p:sldId id="291" r:id="rId6"/>
    <p:sldId id="294" r:id="rId7"/>
    <p:sldId id="293" r:id="rId8"/>
    <p:sldId id="301" r:id="rId9"/>
    <p:sldId id="296" r:id="rId10"/>
    <p:sldId id="304" r:id="rId11"/>
    <p:sldId id="302" r:id="rId12"/>
    <p:sldId id="295" r:id="rId13"/>
    <p:sldId id="303" r:id="rId14"/>
    <p:sldId id="308" r:id="rId15"/>
    <p:sldId id="309" r:id="rId16"/>
    <p:sldId id="310" r:id="rId17"/>
    <p:sldId id="312" r:id="rId18"/>
    <p:sldId id="313" r:id="rId19"/>
    <p:sldId id="316" r:id="rId20"/>
    <p:sldId id="314" r:id="rId21"/>
    <p:sldId id="315" r:id="rId22"/>
  </p:sldIdLst>
  <p:sldSz cx="9144000" cy="5143500" type="screen16x9"/>
  <p:notesSz cx="6858000" cy="9144000"/>
  <p:embeddedFontLst>
    <p:embeddedFont>
      <p:font typeface="Archivo" pitchFamily="2" charset="77"/>
      <p:regular r:id="rId24"/>
      <p:bold r:id="rId25"/>
      <p:italic r:id="rId26"/>
      <p:boldItalic r:id="rId27"/>
    </p:embeddedFont>
    <p:embeddedFont>
      <p:font typeface="Raleway" pitchFamily="2" charset="77"/>
      <p:regular r:id="rId28"/>
      <p:bold r:id="rId29"/>
      <p:italic r:id="rId30"/>
      <p:boldItalic r:id="rId31"/>
    </p:embeddedFont>
    <p:embeddedFont>
      <p:font typeface="Red Hat Mono" panose="02010509040201060303" pitchFamily="49" charset="0"/>
      <p:regular r:id="rId32"/>
      <p:bold r:id="rId33"/>
      <p:italic r:id="rId34"/>
      <p:boldItalic r:id="rId35"/>
    </p:embeddedFont>
    <p:embeddedFont>
      <p:font typeface="VT323" pitchFamily="49" charset="77"/>
      <p:regular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C6F8"/>
    <a:srgbClr val="C7C3F1"/>
    <a:srgbClr val="C5B4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B959B7B-5EBC-4252-BE56-7F1E977C57D6}">
  <a:tblStyle styleId="{7B959B7B-5EBC-4252-BE56-7F1E977C57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8"/>
    <p:restoredTop sz="94658"/>
  </p:normalViewPr>
  <p:slideViewPr>
    <p:cSldViewPr snapToGrid="0">
      <p:cViewPr>
        <p:scale>
          <a:sx n="125" d="100"/>
          <a:sy n="125" d="100"/>
        </p:scale>
        <p:origin x="1512" y="736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7:47:00.261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31,'54'0,"-7"0,-30 0,8 0,12 0,-9 0,28 0,-34 0,17 0,-18 0,-1 0,-3-5,3 3,-3-3,0 2,3 2,-6-2,2 1,6 1,-7-2,6 3,-5 0,-1 0,1 0,1 0,-2 0,4 0,-4 0,3 0,-5-3,4 3,-3-3,2 3,0 0,0 0,1 3,-3-3,3 5,-2-4,0 4,2-2,-6 5,3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7:48:02.261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 42,'55'0,"-3"0,-12 0,12 0,-3 0,15 0,-4 0,6 0,6 0,-5 0,11 0,-11 0,12 0,-6 0,14 0,-11 0,16 0,-10 0,14 0,-8 0,6 0,-5-5,-18 4,-17-4,-3 0,-5 3,44-3,-40 5,16 0,12 0,-24 0,15 0,-27 0,30 0,-15 0,21 0,-34 0,18 0,-6 0,0 0,7 0,-10 0,1 0,5 0,-1 0,-4 0,5 0,-7 0,1 0,-1 0,1 0,-6 0,9 0,-8-4,4 3,-1-3,-8 4,53-2,7 0,-28 1,25-2,-11 1,-64 2,10 0,-12 0,6 0,-8 0,-4 0,0 0,1 0,-4 3,6-2,-4 4,0-4,5 1,-7-2,5 0,-3 0,-2 0,8 0,-12 0,14 0,-11 0,6 0,-4 0,0 0,3 0,-4 0,0 15,-9 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7:48:04.599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41,'66'0,"6"0,-17 0,10 0,7 0,9 0,1 0,5 0,-1 0,-4 0,-17 0,3 0,-12 0,0 0,8 0,-22 0,4 0,-10 0,-6 0,-5 0,-8 0,0 0,1 0,-5 0,5 0,-2-5,-4 2,10-3,-9 1,19 4,-16-5,10 6,-13-3,-1 0,5 3,-4-6,7 6,-6-3,1 3,3 0,-5 0,6 0,-5 0,0 0,0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1:57.002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67,'54'0,"-8"0,-4 0,-7 0,15 0,-11 0,11 0,-10 0,10 0,-16 0,15 0,-15 0,10-4,0 3,-5-3,5-1,-11 4,-1-3,-6 4,0-4,-4 3,-2-3,-4 4,0-3,3 2,-6-3,5 1,0-2,0 1,0-3,-3 6,1-6,0 7,2-4,-4 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8:54.835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1,'59'0,"-2"0,-34 0,15 0,-3 0,7 0,-9 0,11 0,-4 0,4 0,6 0,-8 0,14 0,-16 0,4 0,-6 0,-5 0,3 0,-13 0,8 0,-14 0,8 0,-8 0,3 0,-4 0,0 0,0 0,0 0,0 0,-1 0,0 0,3 0,-4 0,3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8:56.644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8,'84'0,"7"0,-30 0,20 0,-30 0,18 0,-27 0,16 0,-13 0,5 0,-10 0,4 0,-11 0,-2 0,-5 0,1 0,-1 0,-5 0,0 0,-5 0,3 0,-6 0,5 0,-4 0,6 0,-5 0,7 0,-9 0,2 0,7 0,-4 0,6 0,-3 0,-5 0,0 0,0 0,3-3,-6 2,4-2,-6 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9:15.510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87,'55'0,"10"0,-39 0,13 0,4 0,-14 0,13 0,11 0,-10 0,21 0,-24 0,24 0,-9 0,19 0,-8 0,1 0,-8 0,0 0,-1 0,-5 0,19 0,-23 0,29 0,-35 0,43 0,-41 0,49 0,-49 0,34 0,-25 0,12 0,0 0,-6 0,-2 0,-12 0,-2 0,0 0,-5 0,0 0,-2 0,-4 0,5 0,0 0,0 0,0 0,0 0,0 0,0 0,-5 0,3 0,-3 0,5 0,0 0,0 0,-5 0,4 0,-4 0,5 0,0 0,0 0,0 0,6 0,-5 0,11 0,-10 0,4 0,0 0,-10 0,9 0,-10 0,5 0,-6 0,0 0,-1 0,-3 0,9 0,-10 0,10 0,2 0,0 0,5 0,-6-4,6 3,-4-3,4-1,-6 4,0-3,0 4,0-4,6-2,-4 1,4-4,-6 8,0-8,-6 8,5-3,-9 4,3 0,-5 0,-4 0,3 0,-4 0,11 0,-5 0,10 0,-4 0,5 0,0-4,0 3,0-8,0 8,0-8,-5 8,4-3,-10 4,5 0,-6 0,-5 0,4 0,-3 0,0 0,3 0,-8 0,3 0,-4 0,0 0,5 0,-4 0,8 0,-4 0,5 0,1 0,-1 0,0 0,5 0,-8 0,8 0,-10 0,1 0,-2 0,-4 0,0 0,3 0,-6 0,5 0,-4 0,1 3,2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9:47.018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9,'44'0,"-1"0,-22 0,6 0,-1 0,0 0,0 0,6 0,-5 0,5 0,-6 0,0 0,0 0,0 0,-4 0,-2 0,1 0,-4 0,3 0,-4 0,0 0,0 0,4 0,-2 0,2 0,-4 0,0 0,4 0,-6 0,5 0,-7 0,4-4,0 3,0-2,0 3,0 0,0 0,4 0,-3 0,4 0,-1 0,2 0,-1 0,4 0,-3 0,0 0,3 0,-4 0,1 0,3 0,-8 0,27 0,-23 0,19 0,-25 0,1 0,0 0,0 0,0 0,3 0,-6 0,5 0,-3 0,-2 0,9 0,-6 0,0 0,5 0,-12 0,12 0,-5 0,-1 0,6 0,-9 0,7 0,-5 0,5 0,-3 0,2 0,-4 0,5 0,-4 0,4 0,-4 0,1 0,0 0,0 0,0 0,4 0,-3 0,8 0,-3 0,4 0,0 0,1 0,-1 0,0 0,-5 0,5 0,-5 0,1 0,3 0,-4 0,6 0,-6 0,4 0,-3 0,4 0,-4 0,3 0,-4 3,1-2,3 3,-4-4,1 0,3 0,-8 0,8 0,-3 0,-1 0,0 0,-1 0,-3 0,4 0,-1 0,-3 0,4 0,-5 0,0 0,0 0,0 0,0 0,-1 0,1 0,0 0,0 0,5 0,-4 0,3 0,-4 0,0 0,0 0,4 0,-6 0,5 0,-7 0,4 0,7 0,-5 0,5 0,-7 4,4-3,-3 2,4-3,-1 4,-3-3,4 3,-5-4,4 0,-3 0,4 0,-5 0,3 0,-3 0,3 0,1 0,-4 0,0 0,6 0,-13 0,14 0,-8 0,1 0,4 0,-4 0,-1 0,6 0,-4 0,8 0,-8 0,8 0,-3 0,-1 0,4 0,-8 4,8-4,-8 4,4-4,-1 0,-3 0,4 0,-1 0,-3 0,9 0,-9 0,3 0,1 0,-4 0,8 0,-8 0,8 0,-4 0,1 0,-2 0,1 0,-4 0,3 0,1 0,-4 0,8 4,-8-3,8 3,-8-4,8 4,-3-3,-1 2,4 1,-3-3,4 3,-4 0,3-3,-4 2,1-3,3 0,-3 0,4 0,0 0,0 0,-4 0,3 0,-4 0,6 0,-1 0,0 0,0 0,0 0,0 0,1 0,-1 0,0 0,-4 0,3 0,-4 0,1 0,3 0,-8 0,3 0,-4 0,0 0,0 0,0 0,3 0,-6 0,5 0,-3 0,2 0,2 0,-3 0,0 0,0 0,4 0,-2 0,7 0,-4 0,5 0,-4 0,3 0,-8 0,8 0,-8 0,3 0,1 0,-4 0,8 0,-8 0,4 0,-1 0,-3 0,8 0,-8 0,8 0,-8 0,4 0,-1 0,-3 0,4 0,-1 0,-3 0,8 0,-8 0,8 0,-3 0,4 0,6 0,-5 0,5 4,-6-3,5 7,-3-7,3 7,-5-7,-4 3,3 0,-8-3,3 3,-4-4,0 0,0 0,0 0,-1 0,0 0,3 0,-3 0,3 0,-4 0,0 0,3 0,-2 0,2 0,-1 0,-4-9,0-2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2:44:41.633"/>
    </inkml:context>
    <inkml:brush xml:id="br0">
      <inkml:brushProperty name="width" value="0.2" units="cm"/>
      <inkml:brushProperty name="height" value="0.4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0,'41'0,"5"0,1 0,0 0,4 0,-3 0,4 0,1 0,5 0,-4 0,17 0,-10 0,11 0,-6 0,-12 0,9 0,-8 0,5 0,-2 0,-5 0,-1 0,-5 0,5 0,-5 4,5 1,1 3,-6-3,4 3,-3-7,-1 3,-1-4,-5 0,-5 0,-1 3,-9-2,-2 5,-3-5,-4 5,3-2,-3-1,4 4,4-7,-4 7,9-7,-5 3,10-3,-3 0,2 0,1 0,-3 0,7 0,-3 0,5 0,5 0,-4 0,9 0,-9 0,9 0,-9 0,4 0,-10 0,-1 0,-5 0,-4 0,-5 0,-1 0,-6 0,2 0,-6 0,5 0,-8 0,12 0,-8 0,9 0,-7 0,7 0,-3 0,13 0,-7 0,7 0,-9 0,-1 0,1 0,4 0,1 0,0 0,3 0,-3 0,4 0,0 0,-4 0,-1 0,0 0,-4 0,1 0,3 0,-10 0,7 0,-13 0,3 0,-2 0,5 0,-5 0,1 0,0 0,-25 18,17-13,-21 13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2:44:44.400"/>
    </inkml:context>
    <inkml:brush xml:id="br0">
      <inkml:brushProperty name="width" value="0.2" units="cm"/>
      <inkml:brushProperty name="height" value="0.4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 0,'44'0,"2"0,-4 0,5 0,11 0,2 0,6 0,0 0,12 0,-9 0,-1 0,24 0,-46 0,44 0,-40 0,10 0,-7 0,-7 4,-5-3,-5 2,3 1,-7-3,-2 2,-1-3,-7 0,3 0,-8 0,-1 0,-6 0,-1 0,1 0,3 0,5 0,2 0,1 0,-4 0,3 0,-7 0,3 0,-6 0,-1 0,1 0,-1 0,6 0,-3 0,0 0,1 0,-1 0,1 0,-3 0,1 0,-2 0,2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2:44:50.115"/>
    </inkml:context>
    <inkml:brush xml:id="br0">
      <inkml:brushProperty name="width" value="0.2" units="cm"/>
      <inkml:brushProperty name="height" value="0.4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1394 45,'-36'0,"-2"0,12 0,-4 0,-5 0,4 0,-9 0,9 0,-9 0,9 0,-9 0,4 0,-5 0,5 0,1 0,1 0,2 0,-3 0,9 0,1-3,4 2,1-2,2 3,2 0,4 0,-5-3,4 2,-4-2,5 3,-1 0,0 0,-3 0,2-3,-2 2,3-2,1 3,-1 0,0 0,1 0,2 0,-2 0,3 0,-4 0,-5 0,3 0,-3 0,5 0,-3 0,3 0,-4 0,1 0,2 0,1 0,1 0,3 0,-3 0,-1 0,4-2,-1 1,1-1,-2 2,-1 0,3 0,-2 0,1 0,-3 0,4 0,-3 0,2 0,-2-3,2 2,-2-2,3 1,-3-2,0-1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22:48.905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 1,'36'0,"3"0,-3 0,16 0,-3 0,15 0,-10 0,4 0,0 0,2 0,0 0,4 0,2 0,2 0,-7 0,2 0,-9 0,12 0,-6 0,-2 0,-5 0,-1 0,1 0,-1 0,-5 0,5 0,-5 0,0 0,-1 0,-5 0,0 0,-1 0,-4 0,-1 0,0 0,1 0,5 0,0 0,5 0,-4 0,4 0,-1 0,-2 0,3 0,-6 0,-4 0,-1 0,-9 0,3 0,-11 0,6 0,-10 0,2 0,-7 0,0 0,2 0,-2 2,3 4,-6 5,-4 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38:56.049"/>
    </inkml:context>
    <inkml:brush xml:id="br0">
      <inkml:brushProperty name="width" value="0.2" units="cm"/>
      <inkml:brushProperty name="height" value="0.4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0 0,'78'0,"7"0,-33 0,0 0,0 0,3 0,19 0,5 0,-13 0,2 0,-1 0,16 0,-1 0,10 0,0 0,-13 0,-2 0,-7 0,2 0,22 0,2 0,-17 0,-6 0,-17 0,-4 0,46 0,-47 0,13 0,-21 0,-11 0,-11 0,-12 0,0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05:27:00.952"/>
    </inkml:context>
    <inkml:brush xml:id="br0">
      <inkml:brushProperty name="width" value="0.2" units="cm"/>
      <inkml:brushProperty name="height" value="1.2" units="cm"/>
      <inkml:brushProperty name="color" value="#849398"/>
      <inkml:brushProperty name="inkEffects" value="pencil"/>
    </inkml:brush>
  </inkml:definitions>
  <inkml:trace contextRef="#ctx0" brushRef="#br0">0 2090 16383,'41'0'0,"18"10"0,-14 0 0,7 3 0,7 7 0,6 3 0,3 1 0,6 2 0,4 0 0,3 1 0,-4-2 0,4 1 0,2 0 0,1-1 0,8 2 0,1 0 0,3-1 0,1 0 0,-16-4 0,-1-1 0,3 0 0,6 0 0,10 1 0,-21-7 0,6 0 0,4 1 0,6-1 0,3 1 0,2-1 0,3 0 0,0 0 0,1-1 0,-2-2 0,0 0 0,-12-2 0,1-1 0,-1-1 0,1 0 0,0-1 0,1-1 0,1 0 0,1 0 0,2 0 0,1 0 0,3 0 0,2 0 0,2 0 0,-15 0 0,2-1 0,3 1 0,1 0 0,2 0 0,2 1 0,1-1 0,1 0 0,2 0 0,-1 0 0,1-1 0,1 1 0,-1-1 0,0-1 0,-1 1 0,0-1 0,-2-1 0,0 0 0,-2-1 0,-2 0 0,7-1 0,-1 0 0,0-1 0,-2 0 0,0-1 0,-1 0 0,0 0 0,0-1 0,-1-1 0,1 1 0,-1-1 0,1-1 0,1 0 0,0 0 0,1-1 0,0 1 0,2-2 0,-9 1 0,0 0 0,2-1 0,1 1 0,0-1 0,1-1 0,0 1 0,0-1 0,1 0 0,-1-1 0,1 0 0,-2 0 0,1-1 0,-1 0 0,-1-1 0,0 0 0,-2-1 0,0 0 0,-2 0 0,-2-2 0,10-1 0,-1-1 0,-1 0 0,-1-1 0,-1-1 0,-1 0 0,-1 0 0,0-2 0,-1 1 0,0-1 0,0-1 0,-2 0 0,1 0 0,0-1 0,-1 0 0,0-1 0,8-2 0,0 0 0,-1-1 0,1 0 0,-2-1 0,0-1 0,0 0 0,-1 0 0,-1-1 0,0-1 0,-1 0 0,0-1 0,-1 0 0,-1-1 0,1-2 0,1-1 0,0 0 0,-1-1 0,1-2 0,-2 1 0,-1-1 0,-2 0 0,-1 0 0,-2 0 0,-2 0 0,-3 0 0,-3 1 0,17-9 0,-5 0 0,-3 1 0,-3-1 0,-2 0 0,-2 0 0,1-1 0,0-1 0,-2 1 0,1-1 0,0-2 0,0 1 0,-4-1 0,-2 2 0,-6 2 0,-4 2 0,13-14 0,-7 3 0,-6 2 0,-2 0 0,15-15 0,-4 2 0,-11 5 0,-12 9 0,-9 4 0,17-33 0,-30 39 0,-14 12 0,-7 16 0,-3 3 0,0 1 0,-3 4 0,0-1 0,0 0 0,0-2 0,0-5 0,-11-13 0,-20-20 0,13 19 0,-10-6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05:27:19.941"/>
    </inkml:context>
    <inkml:brush xml:id="br0">
      <inkml:brushProperty name="width" value="0.35" units="cm"/>
      <inkml:brushProperty name="height" value="2.1" units="cm"/>
      <inkml:brushProperty name="color" value="#849398"/>
      <inkml:brushProperty name="inkEffects" value="pencil"/>
    </inkml:brush>
  </inkml:definitions>
  <inkml:trace contextRef="#ctx0" brushRef="#br0">837 0 16383,'-40'0'0,"-1"0"0,-19 12 0,-4 3 0,-3 3 0,2-1 0,0 3 0,2 11 0,5-2 0,1-3 0,-1 4 0,15-12 0,-13 7 0,18-6 0,3-7 0,21-7 0,7-5 0,2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05:27:20.995"/>
    </inkml:context>
    <inkml:brush xml:id="br0">
      <inkml:brushProperty name="width" value="0.35" units="cm"/>
      <inkml:brushProperty name="height" value="2.1" units="cm"/>
      <inkml:brushProperty name="color" value="#849398"/>
      <inkml:brushProperty name="inkEffects" value="pencil"/>
    </inkml:brush>
  </inkml:definitions>
  <inkml:trace contextRef="#ctx0" brushRef="#br0">1 0 16383,'0'64'0,"0"4"0,0-8 0,0 6 0,0-1 0,0-5 0,0-19 0,0 10 0,0-24 0,0 6 0,0-15 0,0-9 0,0-3 0,0 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6:27.603"/>
    </inkml:context>
    <inkml:brush xml:id="br0">
      <inkml:brushProperty name="width" value="0.2" units="cm"/>
      <inkml:brushProperty name="height" value="0.4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11,'57'0,"0"0,13 0,4 0,11 0,5 0,-17 0,3 0,1 0,3 0,1 0,1 0,0 0,1 0,5 0,-1 0,6 0,-2 0,-10 0,12 0,-4 0,0 0,4 0,-18 0,-12 0,10 0,-25 0,-16 0,-11 0,-12 0,-2-5,-5-1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6:53.432"/>
    </inkml:context>
    <inkml:brush xml:id="br0">
      <inkml:brushProperty name="width" value="0.2" units="cm"/>
      <inkml:brushProperty name="height" value="0.4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96,'71'0,"-15"0,28 0,6 0,3 0,-36 0,4 0,20 0,1 0,-19 0,1 0,21 0,0 0,-24 0,-2 0,-2 0,0 0,3 0,1 0,-5 0,0 0,0 0,0 0,-4 0,1 0,6 0,0 0,41 0,-45 0,1 0,39 0,-24 0,12 0,-27 0,22 0,-16 0,8 0,-16 0,5 0,12 0,-26 0,50-6,-54 5,43-8,-36 8,11-7,-12 7,4-7,-9 7,9-3,-9 1,0 2,-7-3,-5 4,-4-3,-2 2,-6-2,-5 3,-1 0,-6 0,7 0,4 0,-2 0,8 0,-2 0,1 0,7 0,-3-3,4 2,0-6,0 6,-8-2,2 3,-10 0,-1 0,-4 0,-1-12,1-2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7:02.784"/>
    </inkml:context>
    <inkml:brush xml:id="br0">
      <inkml:brushProperty name="width" value="0.2" units="cm"/>
      <inkml:brushProperty name="height" value="0.4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1 138,'88'0,"-3"0,-27 0,2 0,-2 0,-1 0,-4 0,2 0,16 0,0 0,-15 0,1 0,18 0,6 0,17 0,-4 0,-31 0,-1 0,3 0,6 0,-6 0,-2 0,-3 0,15 0,3 0,4 0,1 0,-2 0,0 0,1 0,0 0,2 0,0 0,-8 0,-2 0,-3 0,-1 0,-4-3,-2 1,-6-1,-3 0,-3-2,-1-1,45-10,-25 9,5-7,-21 5,10 3,-10-6,2 7,-15-3,4 3,-6-2,-4 6,-1-3,-5 1,0 2,-2-3,1 1,-2 2,3-2,-4 3,-1 0,-4 0,-4 0,3 0,-7 0,3 0,-3 0,-3 0,1 0,-1 0,3 0,-1-3,1 2,-1-2,-2 3,2 0,-3 0,3 0,-1 0,0 0,1 0,-4 0,4 0,-3 0,3 0,0 0,-4 3,0 7,-5 0,0 3,-3-5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7:16.513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1,'87'0,"-8"0,-22 0,2 0,-5 0,0 0,16 0,-1 0,-17 0,0 0,14 0,-1 0,-14 0,0 0,18 0,1 0,-8 0,0 0,7 0,-1 0,-6 0,-2 0,-2 0,-1 0,0 0,-3 0,35 0,-2 0,-14 0,-1 0,-22 0,6 0,-23 0,11 0,-12 0,-5 0,-7 0,-7 0,-1 0,-2 0,1 2,-3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8:03:06.031"/>
    </inkml:context>
    <inkml:brush xml:id="br0">
      <inkml:brushProperty name="width" value="0.2" units="cm"/>
      <inkml:brushProperty name="height" value="0.4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1 1,'64'0,"30"0,-33 0,5 0,27 0,5 0,-29 0,0 0,3 0,12 0,3 0,0 0,0 0,0 0,1 0,7 0,2 0,-1 0,-7 0,-2 0,2 0,7 0,1 0,-5 0,4 0,1 0,-21 0,7 0,-1 0,-6 0,24 0,-4 0,-14 0,4 0,-3 0,-8 0,-2 0,-4 0,10 0,0 0,-8 0,3 0,-4 0,-1 0,-2 0,8 0,-4 0,10 0,-26 0,-1 0,18 0,2 0,-33 0,-4 0,-15 0,-5 0,-2 3,-7-2,4 3,-2-4,-2 0,6 0,-6 3,5-2,-1 2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2:41:04.802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24,'42'0,"-6"0,1 0,-4 0,-4 0,27 0,-28 0,36 0,-24 0,6 0,-1 0,-1 0,-4 0,11 0,-5 0,6 0,7 0,1 0,0 0,6 0,-12 0,4 0,1-5,-5 3,19-3,-11 5,13 0,-1 0,3 0,7 0,-1 0,1 0,-14 0,10 0,-10 0,7 0,5 0,2 0,-18 0,29 0,-29 0,18 0,-2 0,-5 0,7 0,-15 0,12-5,-11 4,6-5,-1 6,-1 0,-5 0,6 0,-8 0,-7 0,21 0,-16 0,5 0,-6 0,-10 5,13-3,-6 2,-3-4,-12 0,-1 0,-12 0,-1 4,-6-3,1 7,-1-7,6 3,-4-4,9 0,-4 0,12 0,-5 0,4 0,-6 0,1 0,-1 0,1 0,5 0,-4 0,5 0,-7 0,1 0,-6 0,-1 0,-10 0,-2 0,-7 0,-2 0,-1 0,-2 0,3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2:41:44.912"/>
    </inkml:context>
    <inkml:brush xml:id="br0">
      <inkml:brushProperty name="width" value="0.1" units="cm"/>
      <inkml:brushProperty name="height" value="0.2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0 20,'37'0,"16"0,-11 0,31 0,-3 0,13 0,10 0,-44 0,4 0,43 0,4 0,-33 0,-1 0,32 0,-3 0,-41 0,-5 0,45 0,-44 0,0 0,44 0,-39 0,1 0,-3 0,-2 0,38 0,-1 0,-18 0,14 0,-34 0,1 0,37 0,-38 0,1 0,41 0,-6 0,-36 0,0 0,44 0,-43 0,0 0,43 0,-42 0,-3 0,16 0,-7 0,-2 0,0 0,5 0,2 0,3 0,33 0,-22 0,7 0,-1 0,-19 0,15 0,-23 0,19 0,-1 0,19 0,-13 0,-27 0,0 0,18 0,-1 0,-6 0,-10 0,21 0,-6 0,5 0,-13 0,4 0,-11 0,5 0,-7 0,0 0,-6-5,4 4,-10-3,11 4,-11 0,4 0,-5 0,5 0,-4 0,5-4,-12 2,-1-2,11 4,-17 0,12 0,-22 0,-4 0,0 0,-5 0,0 0,0 0,-3 0,-1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f8ba4015d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f8ba4015d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013A854F-085D-801D-508D-0A337269A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3fb61485ab_0_110:notes">
            <a:extLst>
              <a:ext uri="{FF2B5EF4-FFF2-40B4-BE49-F238E27FC236}">
                <a16:creationId xmlns:a16="http://schemas.microsoft.com/office/drawing/2014/main" id="{4669C21C-C3D7-FF79-A9D3-A96B4291FC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3fb61485ab_0_110:notes">
            <a:extLst>
              <a:ext uri="{FF2B5EF4-FFF2-40B4-BE49-F238E27FC236}">
                <a16:creationId xmlns:a16="http://schemas.microsoft.com/office/drawing/2014/main" id="{43D2B13C-5597-2DE4-9BBD-A00CA6FBE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7121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83425270-D230-8A83-C3F2-4EDAA527F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EF9C6C8E-631D-3D3F-45C7-7B217C3272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4635585D-D78A-06DD-ADBD-12DFBA809D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14776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>
          <a:extLst>
            <a:ext uri="{FF2B5EF4-FFF2-40B4-BE49-F238E27FC236}">
              <a16:creationId xmlns:a16="http://schemas.microsoft.com/office/drawing/2014/main" id="{6A3DB771-BE97-7C29-A97E-AB7F54B57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e1d838b627_4_239:notes">
            <a:extLst>
              <a:ext uri="{FF2B5EF4-FFF2-40B4-BE49-F238E27FC236}">
                <a16:creationId xmlns:a16="http://schemas.microsoft.com/office/drawing/2014/main" id="{C2F3CC73-F7A9-782B-3C1A-066861246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e1d838b627_4_239:notes">
            <a:extLst>
              <a:ext uri="{FF2B5EF4-FFF2-40B4-BE49-F238E27FC236}">
                <a16:creationId xmlns:a16="http://schemas.microsoft.com/office/drawing/2014/main" id="{EE8AED81-0864-16C6-8C5A-525F91F561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52286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E9A366CD-356E-0030-D264-AC66DAA7F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7212604F-58F9-3347-3F73-2D5379C13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CBD228A6-1653-B547-E43A-3779E174D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57416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CE62B4C7-6B9B-545D-A0EC-71C5C6D58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3fb61485ab_0_80:notes">
            <a:extLst>
              <a:ext uri="{FF2B5EF4-FFF2-40B4-BE49-F238E27FC236}">
                <a16:creationId xmlns:a16="http://schemas.microsoft.com/office/drawing/2014/main" id="{A7E4A9A1-A715-BE84-6AEA-169850F8E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3fb61485ab_0_80:notes">
            <a:extLst>
              <a:ext uri="{FF2B5EF4-FFF2-40B4-BE49-F238E27FC236}">
                <a16:creationId xmlns:a16="http://schemas.microsoft.com/office/drawing/2014/main" id="{B8BA407F-9473-DA16-F9F6-9A26E61DDE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960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84559E30-94E7-C44C-758A-B66E4E454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e1d838b627_4_100:notes">
            <a:extLst>
              <a:ext uri="{FF2B5EF4-FFF2-40B4-BE49-F238E27FC236}">
                <a16:creationId xmlns:a16="http://schemas.microsoft.com/office/drawing/2014/main" id="{549BBEF8-5FF9-93B1-7D9A-3A4B34BB39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e1d838b627_4_100:notes">
            <a:extLst>
              <a:ext uri="{FF2B5EF4-FFF2-40B4-BE49-F238E27FC236}">
                <a16:creationId xmlns:a16="http://schemas.microsoft.com/office/drawing/2014/main" id="{A32646AF-5042-1F4A-24AC-262260CE43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8251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6EF5F9EC-4E74-BD01-FC69-6EDFFEE7A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65E85CE8-D2D2-B424-FCA1-C13FA8BB8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8213C207-0C17-6EB1-207B-2A9697383F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91632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0556D3ED-4FF4-3F85-06EB-63F281368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11370949-CCE7-1A87-5276-9DDD48821C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6653B265-B776-30C0-4BA4-452BDE805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45221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438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47AAE0FB-B375-943D-A5D1-50CCD94D8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B60FD27E-0B54-24F4-53B5-CE4AC264E0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537EC22C-6DAF-F320-1454-5360355987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6031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>
            <a:off x="1457611" y="-3227699"/>
            <a:ext cx="9692323" cy="83711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653000" y="1899963"/>
            <a:ext cx="31740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400" b="0" i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666200" y="2389438"/>
            <a:ext cx="1696800" cy="854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 idx="2"/>
          </p:nvPr>
        </p:nvSpPr>
        <p:spPr>
          <a:xfrm>
            <a:off x="5182500" y="449702"/>
            <a:ext cx="2308500" cy="424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19100" b="0" i="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>
            <a:off x="-402625" y="1369750"/>
            <a:ext cx="7337952" cy="573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4256688" y="2401800"/>
            <a:ext cx="4658700" cy="52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0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7100" b="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pic>
        <p:nvPicPr>
          <p:cNvPr id="20" name="Google Shape;20;p4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7459296">
            <a:off x="6267849" y="-814076"/>
            <a:ext cx="7337954" cy="573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5" name="Google Shape;35;p7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>
            <a:off x="-2840400" y="2963700"/>
            <a:ext cx="7337952" cy="573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8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6267889">
            <a:off x="762674" y="-3144201"/>
            <a:ext cx="7337953" cy="5739151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50" name="Google Shape;50;p11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>
            <a:off x="5048950" y="-297825"/>
            <a:ext cx="7337952" cy="573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4322965">
            <a:off x="2675537" y="1282750"/>
            <a:ext cx="9692323" cy="837119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1220209" y="50464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1220209" y="1451585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3"/>
          </p:nvPr>
        </p:nvSpPr>
        <p:spPr>
          <a:xfrm>
            <a:off x="1220209" y="2398521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4"/>
          </p:nvPr>
        </p:nvSpPr>
        <p:spPr>
          <a:xfrm>
            <a:off x="1220209" y="334545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5"/>
          </p:nvPr>
        </p:nvSpPr>
        <p:spPr>
          <a:xfrm>
            <a:off x="5314804" y="50464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6"/>
          </p:nvPr>
        </p:nvSpPr>
        <p:spPr>
          <a:xfrm>
            <a:off x="5314804" y="1451593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7"/>
          </p:nvPr>
        </p:nvSpPr>
        <p:spPr>
          <a:xfrm>
            <a:off x="5314804" y="2398539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8"/>
          </p:nvPr>
        </p:nvSpPr>
        <p:spPr>
          <a:xfrm>
            <a:off x="5314804" y="3345484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hasCustomPrompt="1"/>
          </p:nvPr>
        </p:nvSpPr>
        <p:spPr>
          <a:xfrm>
            <a:off x="521691" y="3465371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9" hasCustomPrompt="1"/>
          </p:nvPr>
        </p:nvSpPr>
        <p:spPr>
          <a:xfrm>
            <a:off x="521692" y="1571283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3" hasCustomPrompt="1"/>
          </p:nvPr>
        </p:nvSpPr>
        <p:spPr>
          <a:xfrm>
            <a:off x="522373" y="624538"/>
            <a:ext cx="7107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4" hasCustomPrompt="1"/>
          </p:nvPr>
        </p:nvSpPr>
        <p:spPr>
          <a:xfrm>
            <a:off x="521691" y="2518327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15" hasCustomPrompt="1"/>
          </p:nvPr>
        </p:nvSpPr>
        <p:spPr>
          <a:xfrm>
            <a:off x="4627489" y="1571508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16" hasCustomPrompt="1"/>
          </p:nvPr>
        </p:nvSpPr>
        <p:spPr>
          <a:xfrm>
            <a:off x="4627487" y="2518452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17" hasCustomPrompt="1"/>
          </p:nvPr>
        </p:nvSpPr>
        <p:spPr>
          <a:xfrm>
            <a:off x="4627489" y="3465396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18" hasCustomPrompt="1"/>
          </p:nvPr>
        </p:nvSpPr>
        <p:spPr>
          <a:xfrm>
            <a:off x="4627489" y="624563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19"/>
          </p:nvPr>
        </p:nvSpPr>
        <p:spPr>
          <a:xfrm>
            <a:off x="228600" y="4352104"/>
            <a:ext cx="8687100" cy="547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subTitle" idx="1"/>
          </p:nvPr>
        </p:nvSpPr>
        <p:spPr>
          <a:xfrm>
            <a:off x="1417350" y="2615513"/>
            <a:ext cx="6309300" cy="161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1417350" y="910088"/>
            <a:ext cx="5262000" cy="15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5700"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pic>
        <p:nvPicPr>
          <p:cNvPr id="74" name="Google Shape;74;p14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5111130">
            <a:off x="5582875" y="-1103551"/>
            <a:ext cx="7337952" cy="5739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228600" y="329146"/>
            <a:ext cx="86868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pic>
        <p:nvPicPr>
          <p:cNvPr id="82" name="Google Shape;82;p16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2517579">
            <a:off x="3900887" y="-3385324"/>
            <a:ext cx="9692321" cy="8371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017726" y="2519050"/>
            <a:ext cx="5911800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subTitle" idx="2"/>
          </p:nvPr>
        </p:nvSpPr>
        <p:spPr>
          <a:xfrm>
            <a:off x="2017425" y="1205425"/>
            <a:ext cx="5911800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ubTitle" idx="3"/>
          </p:nvPr>
        </p:nvSpPr>
        <p:spPr>
          <a:xfrm>
            <a:off x="2017752" y="3832400"/>
            <a:ext cx="5911800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title" hasCustomPrompt="1"/>
          </p:nvPr>
        </p:nvSpPr>
        <p:spPr>
          <a:xfrm>
            <a:off x="1214429" y="2702041"/>
            <a:ext cx="930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90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7"/>
          <p:cNvSpPr txBox="1">
            <a:spLocks noGrp="1"/>
          </p:cNvSpPr>
          <p:nvPr>
            <p:ph type="title" idx="4" hasCustomPrompt="1"/>
          </p:nvPr>
        </p:nvSpPr>
        <p:spPr>
          <a:xfrm>
            <a:off x="1214834" y="1388566"/>
            <a:ext cx="9285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90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9" name="Google Shape;89;p17"/>
          <p:cNvSpPr txBox="1">
            <a:spLocks noGrp="1"/>
          </p:cNvSpPr>
          <p:nvPr>
            <p:ph type="title" idx="5" hasCustomPrompt="1"/>
          </p:nvPr>
        </p:nvSpPr>
        <p:spPr>
          <a:xfrm>
            <a:off x="1215241" y="4015391"/>
            <a:ext cx="9303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90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0" name="Google Shape;90;p17"/>
          <p:cNvSpPr txBox="1">
            <a:spLocks noGrp="1"/>
          </p:cNvSpPr>
          <p:nvPr>
            <p:ph type="title" idx="6"/>
          </p:nvPr>
        </p:nvSpPr>
        <p:spPr>
          <a:xfrm>
            <a:off x="228600" y="342540"/>
            <a:ext cx="86868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600"/>
              <a:buNone/>
              <a:defRPr sz="2600"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pic>
        <p:nvPicPr>
          <p:cNvPr id="91" name="Google Shape;91;p17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10530784">
            <a:off x="5058896" y="980700"/>
            <a:ext cx="7337953" cy="5739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>
            <a:spLocks noGrp="1"/>
          </p:cNvSpPr>
          <p:nvPr>
            <p:ph type="title" hasCustomPrompt="1"/>
          </p:nvPr>
        </p:nvSpPr>
        <p:spPr>
          <a:xfrm>
            <a:off x="1416750" y="552438"/>
            <a:ext cx="6310500" cy="12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200"/>
              <a:buNone/>
              <a:defRPr sz="109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09" name="Google Shape;109;p19"/>
          <p:cNvSpPr txBox="1">
            <a:spLocks noGrp="1"/>
          </p:cNvSpPr>
          <p:nvPr>
            <p:ph type="subTitle" idx="1"/>
          </p:nvPr>
        </p:nvSpPr>
        <p:spPr>
          <a:xfrm>
            <a:off x="1416750" y="1725933"/>
            <a:ext cx="63105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 idx="2" hasCustomPrompt="1"/>
          </p:nvPr>
        </p:nvSpPr>
        <p:spPr>
          <a:xfrm>
            <a:off x="1416750" y="2969413"/>
            <a:ext cx="6310500" cy="12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200"/>
              <a:buNone/>
              <a:defRPr sz="109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3"/>
          </p:nvPr>
        </p:nvSpPr>
        <p:spPr>
          <a:xfrm>
            <a:off x="1416750" y="4142860"/>
            <a:ext cx="63105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12" name="Google Shape;112;p19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4120674">
            <a:off x="3828749" y="1924052"/>
            <a:ext cx="7337950" cy="5739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1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-6250088">
            <a:off x="-3836764" y="-3130824"/>
            <a:ext cx="9692322" cy="837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2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-6250088">
            <a:off x="1293336" y="767001"/>
            <a:ext cx="9692322" cy="837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7" r:id="rId6"/>
    <p:sldLayoutId id="2147483659" r:id="rId7"/>
    <p:sldLayoutId id="2147483660" r:id="rId8"/>
    <p:sldLayoutId id="2147483662" r:id="rId9"/>
    <p:sldLayoutId id="2147483663" r:id="rId10"/>
    <p:sldLayoutId id="2147483665" r:id="rId11"/>
    <p:sldLayoutId id="2147483667" r:id="rId12"/>
    <p:sldLayoutId id="214748366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13" Type="http://schemas.openxmlformats.org/officeDocument/2006/relationships/image" Target="../media/image17.png"/><Relationship Id="rId3" Type="http://schemas.openxmlformats.org/officeDocument/2006/relationships/hyperlink" Target="https://arxiv.org/abs/2602.04118" TargetMode="External"/><Relationship Id="rId7" Type="http://schemas.openxmlformats.org/officeDocument/2006/relationships/image" Target="../media/image14.png"/><Relationship Id="rId12" Type="http://schemas.openxmlformats.org/officeDocument/2006/relationships/customXml" Target="../ink/ink1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customXml" Target="../ink/ink13.xml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0" Type="http://schemas.openxmlformats.org/officeDocument/2006/relationships/customXml" Target="../ink/ink15.xml"/><Relationship Id="rId4" Type="http://schemas.openxmlformats.org/officeDocument/2006/relationships/customXml" Target="../ink/ink12.xml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customXml" Target="../ink/ink17.xml"/><Relationship Id="rId7" Type="http://schemas.openxmlformats.org/officeDocument/2006/relationships/customXml" Target="../ink/ink1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png"/><Relationship Id="rId5" Type="http://schemas.openxmlformats.org/officeDocument/2006/relationships/customXml" Target="../ink/ink18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customXml" Target="../ink/ink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7"/>
          <p:cNvSpPr txBox="1">
            <a:spLocks noGrp="1"/>
          </p:cNvSpPr>
          <p:nvPr>
            <p:ph type="ctrTitle"/>
          </p:nvPr>
        </p:nvSpPr>
        <p:spPr>
          <a:xfrm>
            <a:off x="3713259" y="1130869"/>
            <a:ext cx="5107597" cy="28817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Exploring </a:t>
            </a:r>
            <a:r>
              <a:rPr lang="en-US" dirty="0" err="1"/>
              <a:t>LoRA</a:t>
            </a:r>
            <a:r>
              <a:rPr lang="en-US" dirty="0"/>
              <a:t> for Math Reasoning</a:t>
            </a:r>
            <a:endParaRPr dirty="0"/>
          </a:p>
        </p:txBody>
      </p:sp>
      <p:sp>
        <p:nvSpPr>
          <p:cNvPr id="138" name="Google Shape;138;p27"/>
          <p:cNvSpPr txBox="1">
            <a:spLocks noGrp="1"/>
          </p:cNvSpPr>
          <p:nvPr>
            <p:ph type="subTitle" idx="1"/>
          </p:nvPr>
        </p:nvSpPr>
        <p:spPr>
          <a:xfrm>
            <a:off x="211112" y="4448825"/>
            <a:ext cx="1696800" cy="8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Lusha Zhang</a:t>
            </a:r>
            <a:endParaRPr dirty="0"/>
          </a:p>
        </p:txBody>
      </p:sp>
      <p:sp>
        <p:nvSpPr>
          <p:cNvPr id="139" name="Google Shape;139;p27"/>
          <p:cNvSpPr txBox="1">
            <a:spLocks noGrp="1"/>
          </p:cNvSpPr>
          <p:nvPr>
            <p:ph type="ctrTitle" idx="2"/>
          </p:nvPr>
        </p:nvSpPr>
        <p:spPr>
          <a:xfrm>
            <a:off x="119235" y="791606"/>
            <a:ext cx="4922730" cy="11008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/>
              <a:t>With SFT and GRPO </a:t>
            </a:r>
            <a:endParaRPr sz="1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>
            <a:spLocks noGrp="1"/>
          </p:cNvSpPr>
          <p:nvPr>
            <p:ph type="title" idx="19"/>
          </p:nvPr>
        </p:nvSpPr>
        <p:spPr>
          <a:xfrm>
            <a:off x="228600" y="4352104"/>
            <a:ext cx="86871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186" name="Google Shape;186;p29"/>
          <p:cNvSpPr txBox="1">
            <a:spLocks noGrp="1"/>
          </p:cNvSpPr>
          <p:nvPr>
            <p:ph type="subTitle" idx="1"/>
          </p:nvPr>
        </p:nvSpPr>
        <p:spPr>
          <a:xfrm>
            <a:off x="1220208" y="504648"/>
            <a:ext cx="3486963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Intro and Definition</a:t>
            </a:r>
            <a:endParaRPr dirty="0"/>
          </a:p>
        </p:txBody>
      </p:sp>
      <p:sp>
        <p:nvSpPr>
          <p:cNvPr id="187" name="Google Shape;187;p29"/>
          <p:cNvSpPr txBox="1">
            <a:spLocks noGrp="1"/>
          </p:cNvSpPr>
          <p:nvPr>
            <p:ph type="subTitle" idx="2"/>
          </p:nvPr>
        </p:nvSpPr>
        <p:spPr>
          <a:xfrm>
            <a:off x="1220209" y="1451585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Motivation</a:t>
            </a:r>
            <a:endParaRPr dirty="0"/>
          </a:p>
        </p:txBody>
      </p:sp>
      <p:sp>
        <p:nvSpPr>
          <p:cNvPr id="188" name="Google Shape;188;p29"/>
          <p:cNvSpPr txBox="1">
            <a:spLocks noGrp="1"/>
          </p:cNvSpPr>
          <p:nvPr>
            <p:ph type="subTitle" idx="3"/>
          </p:nvPr>
        </p:nvSpPr>
        <p:spPr>
          <a:xfrm>
            <a:off x="1220209" y="2398521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>
                <a:solidFill>
                  <a:schemeClr val="dk1"/>
                </a:solidFill>
              </a:rPr>
              <a:t>Methodology</a:t>
            </a:r>
            <a:endParaRPr dirty="0"/>
          </a:p>
        </p:txBody>
      </p:sp>
      <p:sp>
        <p:nvSpPr>
          <p:cNvPr id="189" name="Google Shape;189;p29"/>
          <p:cNvSpPr txBox="1">
            <a:spLocks noGrp="1"/>
          </p:cNvSpPr>
          <p:nvPr>
            <p:ph type="subTitle" idx="4"/>
          </p:nvPr>
        </p:nvSpPr>
        <p:spPr>
          <a:xfrm>
            <a:off x="5394486" y="504325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>
                <a:solidFill>
                  <a:schemeClr val="dk1"/>
                </a:solidFill>
              </a:rPr>
              <a:t>Project Workflow</a:t>
            </a:r>
            <a:endParaRPr dirty="0"/>
          </a:p>
        </p:txBody>
      </p:sp>
      <p:sp>
        <p:nvSpPr>
          <p:cNvPr id="190" name="Google Shape;190;p29"/>
          <p:cNvSpPr txBox="1">
            <a:spLocks noGrp="1"/>
          </p:cNvSpPr>
          <p:nvPr>
            <p:ph type="subTitle" idx="5"/>
          </p:nvPr>
        </p:nvSpPr>
        <p:spPr>
          <a:xfrm>
            <a:off x="5394486" y="1451576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>
                <a:solidFill>
                  <a:schemeClr val="dk1"/>
                </a:solidFill>
              </a:rPr>
              <a:t>Results Review</a:t>
            </a:r>
            <a:endParaRPr dirty="0"/>
          </a:p>
        </p:txBody>
      </p:sp>
      <p:sp>
        <p:nvSpPr>
          <p:cNvPr id="191" name="Google Shape;191;p29"/>
          <p:cNvSpPr txBox="1">
            <a:spLocks noGrp="1"/>
          </p:cNvSpPr>
          <p:nvPr>
            <p:ph type="subTitle" idx="6"/>
          </p:nvPr>
        </p:nvSpPr>
        <p:spPr>
          <a:xfrm>
            <a:off x="5394486" y="2398521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>
                <a:solidFill>
                  <a:schemeClr val="dk1"/>
                </a:solidFill>
              </a:rPr>
              <a:t>Key</a:t>
            </a:r>
            <a:r>
              <a:rPr lang="zh-CN" altLang="en-US" dirty="0">
                <a:solidFill>
                  <a:schemeClr val="dk1"/>
                </a:solidFill>
              </a:rPr>
              <a:t> </a:t>
            </a:r>
            <a:r>
              <a:rPr lang="en-US" altLang="zh-CN" dirty="0">
                <a:solidFill>
                  <a:schemeClr val="dk1"/>
                </a:solidFill>
              </a:rPr>
              <a:t>Learnings</a:t>
            </a:r>
            <a:endParaRPr dirty="0"/>
          </a:p>
        </p:txBody>
      </p:sp>
      <p:sp>
        <p:nvSpPr>
          <p:cNvPr id="194" name="Google Shape;194;p29"/>
          <p:cNvSpPr txBox="1">
            <a:spLocks noGrp="1"/>
          </p:cNvSpPr>
          <p:nvPr>
            <p:ph type="title"/>
          </p:nvPr>
        </p:nvSpPr>
        <p:spPr>
          <a:xfrm>
            <a:off x="4695968" y="624238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195" name="Google Shape;195;p29"/>
          <p:cNvSpPr txBox="1">
            <a:spLocks noGrp="1"/>
          </p:cNvSpPr>
          <p:nvPr>
            <p:ph type="title" idx="9"/>
          </p:nvPr>
        </p:nvSpPr>
        <p:spPr>
          <a:xfrm>
            <a:off x="521692" y="1571283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96" name="Google Shape;196;p29"/>
          <p:cNvSpPr txBox="1">
            <a:spLocks noGrp="1"/>
          </p:cNvSpPr>
          <p:nvPr>
            <p:ph type="title" idx="13"/>
          </p:nvPr>
        </p:nvSpPr>
        <p:spPr>
          <a:xfrm>
            <a:off x="522373" y="624538"/>
            <a:ext cx="7107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97" name="Google Shape;197;p29"/>
          <p:cNvSpPr txBox="1">
            <a:spLocks noGrp="1"/>
          </p:cNvSpPr>
          <p:nvPr>
            <p:ph type="title" idx="14"/>
          </p:nvPr>
        </p:nvSpPr>
        <p:spPr>
          <a:xfrm>
            <a:off x="521691" y="2518327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98" name="Google Shape;198;p29"/>
          <p:cNvSpPr txBox="1">
            <a:spLocks noGrp="1"/>
          </p:cNvSpPr>
          <p:nvPr>
            <p:ph type="title" idx="15"/>
          </p:nvPr>
        </p:nvSpPr>
        <p:spPr>
          <a:xfrm>
            <a:off x="4707171" y="2518436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201" name="Google Shape;201;p29"/>
          <p:cNvSpPr txBox="1">
            <a:spLocks noGrp="1"/>
          </p:cNvSpPr>
          <p:nvPr>
            <p:ph type="title" idx="18"/>
          </p:nvPr>
        </p:nvSpPr>
        <p:spPr>
          <a:xfrm>
            <a:off x="4707171" y="1571491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Intro and Definition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14" name="Google Shape;214;p31"/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 txBox="1">
            <a:spLocks noGrp="1"/>
          </p:cNvSpPr>
          <p:nvPr>
            <p:ph type="title"/>
          </p:nvPr>
        </p:nvSpPr>
        <p:spPr>
          <a:xfrm>
            <a:off x="312119" y="449040"/>
            <a:ext cx="5262000" cy="15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>
                <a:latin typeface="VT323"/>
                <a:sym typeface="VT323"/>
              </a:rPr>
              <a:t>Intro</a:t>
            </a:r>
            <a:endParaRPr sz="4400" dirty="0">
              <a:latin typeface="VT323"/>
              <a:sym typeface="VT323"/>
            </a:endParaRPr>
          </a:p>
        </p:txBody>
      </p:sp>
      <p:sp>
        <p:nvSpPr>
          <p:cNvPr id="220" name="Google Shape;220;p32"/>
          <p:cNvSpPr txBox="1">
            <a:spLocks noGrp="1"/>
          </p:cNvSpPr>
          <p:nvPr>
            <p:ph type="subTitle" idx="1"/>
          </p:nvPr>
        </p:nvSpPr>
        <p:spPr>
          <a:xfrm>
            <a:off x="411450" y="1566550"/>
            <a:ext cx="8420431" cy="27862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600" dirty="0"/>
              <a:t>Modern LLM training pipeline = </a:t>
            </a:r>
          </a:p>
          <a:p>
            <a:pPr marL="0" lvl="0" indent="0"/>
            <a:endParaRPr lang="en-US" sz="800" dirty="0"/>
          </a:p>
          <a:p>
            <a:pPr marL="0" lvl="0" indent="0"/>
            <a:r>
              <a:rPr lang="en-US" sz="1600" b="1" dirty="0"/>
              <a:t>                                                                      </a:t>
            </a:r>
            <a:r>
              <a:rPr lang="en-US" sz="2800" b="1" dirty="0"/>
              <a:t>Pre-training</a:t>
            </a:r>
            <a:r>
              <a:rPr lang="en-US" sz="1600" dirty="0"/>
              <a:t> + </a:t>
            </a:r>
            <a:r>
              <a:rPr lang="en-US" sz="2800" b="1" dirty="0"/>
              <a:t>Post-training</a:t>
            </a:r>
            <a:endParaRPr sz="1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36A0B-CF4E-CB5F-558D-92EE4FB5EDC3}"/>
              </a:ext>
            </a:extLst>
          </p:cNvPr>
          <p:cNvSpPr txBox="1"/>
          <p:nvPr/>
        </p:nvSpPr>
        <p:spPr>
          <a:xfrm>
            <a:off x="5478450" y="2611252"/>
            <a:ext cx="3434962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Behavior-shaping &amp; Specialization Stage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7121C0-2299-002B-59C1-F2F21E812792}"/>
              </a:ext>
            </a:extLst>
          </p:cNvPr>
          <p:cNvSpPr txBox="1"/>
          <p:nvPr/>
        </p:nvSpPr>
        <p:spPr>
          <a:xfrm>
            <a:off x="3073180" y="2611253"/>
            <a:ext cx="2285999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Foundation-building Stage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02E42D-CD3B-EF78-1268-F25809487BCE}"/>
              </a:ext>
            </a:extLst>
          </p:cNvPr>
          <p:cNvSpPr txBox="1"/>
          <p:nvPr/>
        </p:nvSpPr>
        <p:spPr>
          <a:xfrm>
            <a:off x="1065475" y="2959688"/>
            <a:ext cx="43533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Learn general language ability from large-scale data.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F75734-28FB-E46C-2E24-AAFD30A63B4A}"/>
              </a:ext>
            </a:extLst>
          </p:cNvPr>
          <p:cNvSpPr txBox="1"/>
          <p:nvPr/>
        </p:nvSpPr>
        <p:spPr>
          <a:xfrm>
            <a:off x="5478450" y="2959688"/>
            <a:ext cx="35264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Adapt the pretrained model for instruction following, alignment, and specific tasks.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3AA8A6BC-FD3B-6C93-A391-651A6CD0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>
            <a:extLst>
              <a:ext uri="{FF2B5EF4-FFF2-40B4-BE49-F238E27FC236}">
                <a16:creationId xmlns:a16="http://schemas.microsoft.com/office/drawing/2014/main" id="{D11B5D14-A998-4C9C-6601-54A75A759F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5516" y="297236"/>
            <a:ext cx="6166105" cy="9601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latin typeface="VT323"/>
              </a:rPr>
              <a:t>Post-training</a:t>
            </a:r>
            <a:endParaRPr sz="5400" dirty="0">
              <a:latin typeface="VT323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90ED2-5245-4D60-DE07-86FC3D96130F}"/>
              </a:ext>
            </a:extLst>
          </p:cNvPr>
          <p:cNvSpPr txBox="1"/>
          <p:nvPr/>
        </p:nvSpPr>
        <p:spPr>
          <a:xfrm>
            <a:off x="592373" y="1484794"/>
            <a:ext cx="2747173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SFT</a:t>
            </a:r>
            <a:r>
              <a:rPr lang="en-US" dirty="0"/>
              <a:t>   - Supervised Fine-Tuning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D70CA-4688-B24A-3864-426815C0619C}"/>
              </a:ext>
            </a:extLst>
          </p:cNvPr>
          <p:cNvSpPr txBox="1"/>
          <p:nvPr/>
        </p:nvSpPr>
        <p:spPr>
          <a:xfrm>
            <a:off x="3458817" y="1484793"/>
            <a:ext cx="5398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on input-output examples to teach the model how to respond.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E21796-08DA-439C-48F7-0372863CF7E9}"/>
              </a:ext>
            </a:extLst>
          </p:cNvPr>
          <p:cNvSpPr txBox="1"/>
          <p:nvPr/>
        </p:nvSpPr>
        <p:spPr>
          <a:xfrm>
            <a:off x="592374" y="1898281"/>
            <a:ext cx="2747174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RFT</a:t>
            </a:r>
            <a:r>
              <a:rPr lang="en-US" dirty="0"/>
              <a:t>   - Reinforcement Fine-Tuning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2AC69-CD7B-00B9-14E2-4756097D5AFC}"/>
              </a:ext>
            </a:extLst>
          </p:cNvPr>
          <p:cNvSpPr txBox="1"/>
          <p:nvPr/>
        </p:nvSpPr>
        <p:spPr>
          <a:xfrm>
            <a:off x="3458817" y="1898281"/>
            <a:ext cx="53989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improves the model using rewards instead of only fixed target answers.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D5C26C4-32F3-B103-DD7C-4642DEDFCF2A}"/>
                  </a:ext>
                </a:extLst>
              </p14:cNvPr>
              <p14:cNvContentPartPr/>
              <p14:nvPr/>
            </p14:nvContentPartPr>
            <p14:xfrm>
              <a:off x="744590" y="1620732"/>
              <a:ext cx="319680" cy="12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D5C26C4-32F3-B103-DD7C-4642DEDFCF2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0590" y="1512732"/>
                <a:ext cx="42732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F21DD6C-C5A5-67DE-18D6-4A9BEF42ED54}"/>
                  </a:ext>
                </a:extLst>
              </p14:cNvPr>
              <p14:cNvContentPartPr/>
              <p14:nvPr/>
            </p14:nvContentPartPr>
            <p14:xfrm>
              <a:off x="3839870" y="1635852"/>
              <a:ext cx="1638000" cy="16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F21DD6C-C5A5-67DE-18D6-4A9BEF42ED5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86230" y="1527852"/>
                <a:ext cx="174564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0D3D44A-8192-1EE7-993D-FCD67FBCFC1C}"/>
                  </a:ext>
                </a:extLst>
              </p14:cNvPr>
              <p14:cNvContentPartPr/>
              <p14:nvPr/>
            </p14:nvContentPartPr>
            <p14:xfrm>
              <a:off x="5655710" y="2040649"/>
              <a:ext cx="595080" cy="151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0D3D44A-8192-1EE7-993D-FCD67FBCF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01710" y="1932649"/>
                <a:ext cx="702720" cy="23076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E6C0909A-A4D4-83F4-DEEB-8E934FEBEBEE}"/>
              </a:ext>
            </a:extLst>
          </p:cNvPr>
          <p:cNvSpPr txBox="1"/>
          <p:nvPr/>
        </p:nvSpPr>
        <p:spPr>
          <a:xfrm>
            <a:off x="501938" y="1091098"/>
            <a:ext cx="23443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Training Methodology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269D435E-452C-D022-0D26-700699709EC9}"/>
                  </a:ext>
                </a:extLst>
              </p14:cNvPr>
              <p14:cNvContentPartPr/>
              <p14:nvPr/>
            </p14:nvContentPartPr>
            <p14:xfrm>
              <a:off x="742265" y="2013211"/>
              <a:ext cx="384840" cy="244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269D435E-452C-D022-0D26-700699709EC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88265" y="1905211"/>
                <a:ext cx="492480" cy="24012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6512B3BA-1D19-2A1A-A237-16274459C7C8}"/>
              </a:ext>
            </a:extLst>
          </p:cNvPr>
          <p:cNvSpPr txBox="1"/>
          <p:nvPr/>
        </p:nvSpPr>
        <p:spPr>
          <a:xfrm>
            <a:off x="501938" y="3301375"/>
            <a:ext cx="2837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Model Update Methodology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882CB59-7E7C-8866-F9D9-D8B3DB5210A0}"/>
              </a:ext>
            </a:extLst>
          </p:cNvPr>
          <p:cNvCxnSpPr/>
          <p:nvPr/>
        </p:nvCxnSpPr>
        <p:spPr>
          <a:xfrm>
            <a:off x="592373" y="3243786"/>
            <a:ext cx="7657324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85BA28E-D0CB-23CD-1B8F-24DB35675A1E}"/>
              </a:ext>
            </a:extLst>
          </p:cNvPr>
          <p:cNvSpPr txBox="1"/>
          <p:nvPr/>
        </p:nvSpPr>
        <p:spPr>
          <a:xfrm>
            <a:off x="592373" y="3707697"/>
            <a:ext cx="2747173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PEFT</a:t>
            </a:r>
            <a:r>
              <a:rPr lang="en-US" dirty="0"/>
              <a:t> - Parameter-Efficient         Fine-Tuning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84124C-AD0D-8973-714A-83D328CD0C5E}"/>
              </a:ext>
            </a:extLst>
          </p:cNvPr>
          <p:cNvSpPr txBox="1"/>
          <p:nvPr/>
        </p:nvSpPr>
        <p:spPr>
          <a:xfrm>
            <a:off x="3458817" y="3707696"/>
            <a:ext cx="53989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updates only a small subset of parameters to adapt a pretrained model more cheaply.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B02D6B-A239-DAFE-9693-46B10597CE9C}"/>
              </a:ext>
            </a:extLst>
          </p:cNvPr>
          <p:cNvSpPr txBox="1"/>
          <p:nvPr/>
        </p:nvSpPr>
        <p:spPr>
          <a:xfrm>
            <a:off x="728242" y="4295258"/>
            <a:ext cx="9041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└──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09C0E7-6510-64A8-3488-90D6235F75F6}"/>
              </a:ext>
            </a:extLst>
          </p:cNvPr>
          <p:cNvSpPr txBox="1"/>
          <p:nvPr/>
        </p:nvSpPr>
        <p:spPr>
          <a:xfrm>
            <a:off x="1632406" y="4353533"/>
            <a:ext cx="2055339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</a:t>
            </a:r>
            <a:r>
              <a:rPr lang="en-US" b="1" dirty="0" err="1"/>
              <a:t>LoRA</a:t>
            </a:r>
            <a:r>
              <a:rPr lang="en-US" b="1" dirty="0"/>
              <a:t> -</a:t>
            </a:r>
          </a:p>
          <a:p>
            <a:r>
              <a:rPr lang="en-US" b="1" dirty="0"/>
              <a:t> </a:t>
            </a:r>
            <a:r>
              <a:rPr lang="en-US" dirty="0"/>
              <a:t>Low-Rank Adaptation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3FC3E4-DAB1-C1E0-BC3D-A455E5FFAB4C}"/>
              </a:ext>
            </a:extLst>
          </p:cNvPr>
          <p:cNvSpPr txBox="1"/>
          <p:nvPr/>
        </p:nvSpPr>
        <p:spPr>
          <a:xfrm>
            <a:off x="3839870" y="4245811"/>
            <a:ext cx="478582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a PEFT method that freezes the base model and learns small low-rank adapter weights instead of updating all parameters.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5478272-8394-9CE8-60A7-2B9BE66D8DBB}"/>
                  </a:ext>
                </a:extLst>
              </p14:cNvPr>
              <p14:cNvContentPartPr/>
              <p14:nvPr/>
            </p14:nvContentPartPr>
            <p14:xfrm>
              <a:off x="757745" y="3859544"/>
              <a:ext cx="376920" cy="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5478272-8394-9CE8-60A7-2B9BE66D8DB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3745" y="3751904"/>
                <a:ext cx="4845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5955322-7E39-F3F0-EB09-176C56872A22}"/>
                  </a:ext>
                </a:extLst>
              </p14:cNvPr>
              <p14:cNvContentPartPr/>
              <p14:nvPr/>
            </p14:nvContentPartPr>
            <p14:xfrm>
              <a:off x="1779785" y="4510052"/>
              <a:ext cx="453600" cy="28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5955322-7E39-F3F0-EB09-176C56872A2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725785" y="4402412"/>
                <a:ext cx="56124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17917C0F-EE40-082E-08DE-A6DB6F141101}"/>
                  </a:ext>
                </a:extLst>
              </p14:cNvPr>
              <p14:cNvContentPartPr/>
              <p14:nvPr/>
            </p14:nvContentPartPr>
            <p14:xfrm>
              <a:off x="4794785" y="3846944"/>
              <a:ext cx="2026440" cy="316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17917C0F-EE40-082E-08DE-A6DB6F14110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740785" y="3738944"/>
                <a:ext cx="213408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B8CA240B-A3F8-B004-BABB-9B6587D36DE2}"/>
                  </a:ext>
                </a:extLst>
              </p14:cNvPr>
              <p14:cNvContentPartPr/>
              <p14:nvPr/>
            </p14:nvContentPartPr>
            <p14:xfrm>
              <a:off x="3969665" y="4614452"/>
              <a:ext cx="2360880" cy="374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B8CA240B-A3F8-B004-BABB-9B6587D36DE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915665" y="4506812"/>
                <a:ext cx="2468520" cy="253080"/>
              </a:xfrm>
              <a:prstGeom prst="rect">
                <a:avLst/>
              </a:prstGeom>
            </p:spPr>
          </p:pic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6168ECD9-BC3C-0F39-B3B0-8BFAA2963C67}"/>
              </a:ext>
            </a:extLst>
          </p:cNvPr>
          <p:cNvSpPr txBox="1"/>
          <p:nvPr/>
        </p:nvSpPr>
        <p:spPr>
          <a:xfrm>
            <a:off x="654171" y="2501390"/>
            <a:ext cx="9041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└──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7FC065-5375-DF01-201C-2EBF017859F2}"/>
              </a:ext>
            </a:extLst>
          </p:cNvPr>
          <p:cNvSpPr txBox="1"/>
          <p:nvPr/>
        </p:nvSpPr>
        <p:spPr>
          <a:xfrm>
            <a:off x="1558335" y="2559665"/>
            <a:ext cx="2055339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GRPO - </a:t>
            </a:r>
            <a:r>
              <a:rPr lang="en-US" dirty="0"/>
              <a:t>Group Relative Policy Optimization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843F8C-F3D7-53D8-FF2F-6709A9029D2B}"/>
              </a:ext>
            </a:extLst>
          </p:cNvPr>
          <p:cNvSpPr txBox="1"/>
          <p:nvPr/>
        </p:nvSpPr>
        <p:spPr>
          <a:xfrm>
            <a:off x="3765799" y="2537876"/>
            <a:ext cx="4785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an RFT method that trains the model by rewarding better answers within a group of sampled outputs.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73C7206F-FC67-6021-E83B-13A14DFDC856}"/>
                  </a:ext>
                </a:extLst>
              </p14:cNvPr>
              <p14:cNvContentPartPr/>
              <p14:nvPr/>
            </p14:nvContentPartPr>
            <p14:xfrm>
              <a:off x="7042962" y="2698388"/>
              <a:ext cx="1274760" cy="4212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73C7206F-FC67-6021-E83B-13A14DFDC85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006962" y="2626388"/>
                <a:ext cx="134640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F7FDB037-7FDB-8E8F-5F43-34E52432BD74}"/>
                  </a:ext>
                </a:extLst>
              </p14:cNvPr>
              <p14:cNvContentPartPr/>
              <p14:nvPr/>
            </p14:nvContentPartPr>
            <p14:xfrm>
              <a:off x="3890802" y="2921228"/>
              <a:ext cx="609120" cy="61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F7FDB037-7FDB-8E8F-5F43-34E52432BD7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855162" y="2849228"/>
                <a:ext cx="680760" cy="14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A7886AE-95B8-1493-AEDD-887E0A6AF94C}"/>
                  </a:ext>
                </a:extLst>
              </p14:cNvPr>
              <p14:cNvContentPartPr/>
              <p14:nvPr/>
            </p14:nvContentPartPr>
            <p14:xfrm>
              <a:off x="1660962" y="2697668"/>
              <a:ext cx="50184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A7886AE-95B8-1493-AEDD-887E0A6AF94C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624962" y="2626028"/>
                <a:ext cx="573480" cy="15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33029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1457396E-39C3-051A-2632-8E7B23D5B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AFFC123F-3522-2AB9-37F8-5F48F52880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Motivation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0FDAF89A-EB5C-2E76-E00F-808DABE99A5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848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1F3620FD-F861-50A7-82BD-91BB7269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9">
            <a:extLst>
              <a:ext uri="{FF2B5EF4-FFF2-40B4-BE49-F238E27FC236}">
                <a16:creationId xmlns:a16="http://schemas.microsoft.com/office/drawing/2014/main" id="{11AB1B24-A4BB-255B-3041-E7811E2C2E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4398" y="1621808"/>
            <a:ext cx="4594436" cy="79396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7,000,000,000+</a:t>
            </a:r>
            <a:endParaRPr sz="1200" dirty="0">
              <a:latin typeface="Archivo"/>
              <a:cs typeface="Archivo"/>
              <a:sym typeface="Archivo"/>
            </a:endParaRPr>
          </a:p>
        </p:txBody>
      </p:sp>
      <p:sp>
        <p:nvSpPr>
          <p:cNvPr id="308" name="Google Shape;308;p39">
            <a:extLst>
              <a:ext uri="{FF2B5EF4-FFF2-40B4-BE49-F238E27FC236}">
                <a16:creationId xmlns:a16="http://schemas.microsoft.com/office/drawing/2014/main" id="{F7002C87-C0B1-751F-BB2F-B46FC2A6BB6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94398" y="2279533"/>
            <a:ext cx="6983362" cy="4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model</a:t>
            </a:r>
            <a:r>
              <a:rPr lang="en-US" dirty="0"/>
              <a:t> </a:t>
            </a:r>
            <a:r>
              <a:rPr lang="en-US" i="1" u="sng" dirty="0"/>
              <a:t>Qwen2.5-7B-Instruct</a:t>
            </a:r>
            <a:r>
              <a:rPr lang="en-US" dirty="0"/>
              <a:t> parameters</a:t>
            </a:r>
            <a:r>
              <a:rPr lang="zh-CN" altLang="en-US" dirty="0"/>
              <a:t> </a:t>
            </a:r>
            <a:r>
              <a:rPr lang="en-US" dirty="0"/>
              <a:t>update on </a:t>
            </a:r>
            <a:r>
              <a:rPr lang="en-US" i="1" u="sng" dirty="0"/>
              <a:t>GSM8K</a:t>
            </a:r>
            <a:r>
              <a:rPr lang="zh-CN" altLang="en-US" i="1" dirty="0"/>
              <a:t> </a:t>
            </a:r>
            <a:r>
              <a:rPr lang="en-US" dirty="0"/>
              <a:t>(</a:t>
            </a:r>
            <a:r>
              <a:rPr lang="en-US" i="1" dirty="0"/>
              <a:t>accuracy </a:t>
            </a:r>
            <a:r>
              <a:rPr lang="en-US" altLang="zh-CN" b="1" i="1" dirty="0"/>
              <a:t>76%-</a:t>
            </a:r>
            <a:r>
              <a:rPr lang="en-US" b="1" i="1" dirty="0"/>
              <a:t>9</a:t>
            </a:r>
            <a:r>
              <a:rPr lang="en-US" altLang="zh-CN" b="1" i="1" dirty="0"/>
              <a:t>7</a:t>
            </a:r>
            <a:r>
              <a:rPr lang="en-US" b="1" i="1" dirty="0"/>
              <a:t>%</a:t>
            </a:r>
            <a:r>
              <a:rPr lang="zh-CN" altLang="en-US" b="1" i="1" dirty="0"/>
              <a:t>**</a:t>
            </a:r>
            <a:r>
              <a:rPr lang="en-US" dirty="0"/>
              <a:t>)</a:t>
            </a:r>
            <a:endParaRPr i="1" dirty="0"/>
          </a:p>
        </p:txBody>
      </p:sp>
      <p:sp>
        <p:nvSpPr>
          <p:cNvPr id="2" name="Google Shape;219;p32">
            <a:extLst>
              <a:ext uri="{FF2B5EF4-FFF2-40B4-BE49-F238E27FC236}">
                <a16:creationId xmlns:a16="http://schemas.microsoft.com/office/drawing/2014/main" id="{9F0145A5-B623-DC8A-1D81-422B435E3E2F}"/>
              </a:ext>
            </a:extLst>
          </p:cNvPr>
          <p:cNvSpPr txBox="1">
            <a:spLocks/>
          </p:cNvSpPr>
          <p:nvPr/>
        </p:nvSpPr>
        <p:spPr>
          <a:xfrm>
            <a:off x="405516" y="297236"/>
            <a:ext cx="8951844" cy="96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109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-US" sz="4400" dirty="0"/>
              <a:t>Motivation – </a:t>
            </a:r>
          </a:p>
          <a:p>
            <a:r>
              <a:rPr lang="en-US" sz="2400" dirty="0">
                <a:latin typeface="Red Hat Mono"/>
                <a:ea typeface="Red Hat Mono"/>
                <a:cs typeface="Red Hat Mono"/>
                <a:sym typeface="Red Hat Mono"/>
              </a:rPr>
              <a:t>    Paper</a:t>
            </a:r>
            <a:r>
              <a:rPr lang="zh-CN" altLang="en-US" sz="2400" dirty="0">
                <a:latin typeface="Red Hat Mono"/>
                <a:ea typeface="Red Hat Mono"/>
                <a:cs typeface="Red Hat Mono"/>
                <a:sym typeface="Red Hat Mono"/>
              </a:rPr>
              <a:t> </a:t>
            </a:r>
            <a:r>
              <a:rPr lang="en-US" sz="2400" dirty="0">
                <a:latin typeface="Red Hat Mono"/>
                <a:ea typeface="Red Hat Mono"/>
                <a:cs typeface="Red Hat Mono"/>
                <a:sym typeface="Red Hat Mono"/>
                <a:hlinkClick r:id="rId3"/>
              </a:rPr>
              <a:t>Learning to Reason in 13 Parameters</a:t>
            </a:r>
            <a:r>
              <a:rPr lang="zh-CN" altLang="en-US" sz="2400" dirty="0">
                <a:latin typeface="Red Hat Mono"/>
                <a:ea typeface="Red Hat Mono"/>
                <a:cs typeface="Red Hat Mono"/>
                <a:sym typeface="Red Hat Mono"/>
              </a:rPr>
              <a:t>*</a:t>
            </a:r>
            <a:endParaRPr lang="en-US" sz="4000" dirty="0">
              <a:latin typeface="Red Hat Mono"/>
              <a:ea typeface="Red Hat Mono"/>
              <a:cs typeface="Red Hat Mono"/>
              <a:sym typeface="Red Hat Mon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BF330B6-00E3-796B-7438-9FFD2E6A5680}"/>
                  </a:ext>
                </a:extLst>
              </p14:cNvPr>
              <p14:cNvContentPartPr/>
              <p14:nvPr/>
            </p14:nvContentPartPr>
            <p14:xfrm>
              <a:off x="1262950" y="1236631"/>
              <a:ext cx="894960" cy="12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BF330B6-00E3-796B-7438-9FFD2E6A568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26950" y="1162449"/>
                <a:ext cx="966600" cy="160233"/>
              </a:xfrm>
              <a:prstGeom prst="rect">
                <a:avLst/>
              </a:prstGeom>
            </p:spPr>
          </p:pic>
        </mc:Fallback>
      </mc:AlternateContent>
      <p:sp>
        <p:nvSpPr>
          <p:cNvPr id="8" name="Google Shape;307;p39">
            <a:extLst>
              <a:ext uri="{FF2B5EF4-FFF2-40B4-BE49-F238E27FC236}">
                <a16:creationId xmlns:a16="http://schemas.microsoft.com/office/drawing/2014/main" id="{C1ECFE74-FAC1-40FF-9634-D63D5D6F6215}"/>
              </a:ext>
            </a:extLst>
          </p:cNvPr>
          <p:cNvSpPr txBox="1">
            <a:spLocks/>
          </p:cNvSpPr>
          <p:nvPr/>
        </p:nvSpPr>
        <p:spPr>
          <a:xfrm>
            <a:off x="494398" y="2664754"/>
            <a:ext cx="3799306" cy="79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109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" sz="4800" dirty="0"/>
              <a:t>1,000,000+</a:t>
            </a:r>
          </a:p>
        </p:txBody>
      </p:sp>
      <p:sp>
        <p:nvSpPr>
          <p:cNvPr id="9" name="Google Shape;308;p39">
            <a:extLst>
              <a:ext uri="{FF2B5EF4-FFF2-40B4-BE49-F238E27FC236}">
                <a16:creationId xmlns:a16="http://schemas.microsoft.com/office/drawing/2014/main" id="{F7A6E5BA-AED3-23E1-6045-25606B4DFF99}"/>
              </a:ext>
            </a:extLst>
          </p:cNvPr>
          <p:cNvSpPr txBox="1">
            <a:spLocks/>
          </p:cNvSpPr>
          <p:nvPr/>
        </p:nvSpPr>
        <p:spPr>
          <a:xfrm>
            <a:off x="494397" y="3322479"/>
            <a:ext cx="5768523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dirty="0"/>
              <a:t>Standard </a:t>
            </a:r>
            <a:r>
              <a:rPr lang="en-US" dirty="0" err="1"/>
              <a:t>LoRA</a:t>
            </a:r>
            <a:r>
              <a:rPr lang="en-US" dirty="0"/>
              <a:t> / SFT</a:t>
            </a:r>
            <a:r>
              <a:rPr lang="zh-CN" altLang="en-US" dirty="0"/>
              <a:t> </a:t>
            </a:r>
            <a:r>
              <a:rPr lang="en-US" altLang="zh-CN" dirty="0"/>
              <a:t>setup</a:t>
            </a:r>
            <a:r>
              <a:rPr lang="en-US" dirty="0"/>
              <a:t> update on </a:t>
            </a:r>
            <a:r>
              <a:rPr lang="en-US" i="1" dirty="0"/>
              <a:t>GSM8K</a:t>
            </a:r>
            <a:r>
              <a:rPr lang="zh-CN" altLang="en-US" i="1" dirty="0"/>
              <a:t> </a:t>
            </a:r>
            <a:r>
              <a:rPr lang="en-US" dirty="0"/>
              <a:t>(</a:t>
            </a:r>
            <a:r>
              <a:rPr lang="en-US" i="1" dirty="0"/>
              <a:t>accuracy </a:t>
            </a:r>
            <a:r>
              <a:rPr lang="en-US" altLang="zh-CN" b="1" i="1" dirty="0"/>
              <a:t>76%-</a:t>
            </a:r>
            <a:r>
              <a:rPr lang="en-US" b="1" i="1" dirty="0"/>
              <a:t>98%</a:t>
            </a:r>
            <a:r>
              <a:rPr lang="en-US" dirty="0"/>
              <a:t>)</a:t>
            </a:r>
          </a:p>
        </p:txBody>
      </p:sp>
      <p:sp>
        <p:nvSpPr>
          <p:cNvPr id="10" name="Google Shape;307;p39">
            <a:extLst>
              <a:ext uri="{FF2B5EF4-FFF2-40B4-BE49-F238E27FC236}">
                <a16:creationId xmlns:a16="http://schemas.microsoft.com/office/drawing/2014/main" id="{77C7D61B-50CE-354B-96BA-C8AD1BCAF136}"/>
              </a:ext>
            </a:extLst>
          </p:cNvPr>
          <p:cNvSpPr txBox="1">
            <a:spLocks/>
          </p:cNvSpPr>
          <p:nvPr/>
        </p:nvSpPr>
        <p:spPr>
          <a:xfrm>
            <a:off x="494398" y="3656480"/>
            <a:ext cx="3799306" cy="79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109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" sz="4800" dirty="0"/>
              <a:t>13</a:t>
            </a:r>
          </a:p>
        </p:txBody>
      </p:sp>
      <p:sp>
        <p:nvSpPr>
          <p:cNvPr id="11" name="Google Shape;308;p39">
            <a:extLst>
              <a:ext uri="{FF2B5EF4-FFF2-40B4-BE49-F238E27FC236}">
                <a16:creationId xmlns:a16="http://schemas.microsoft.com/office/drawing/2014/main" id="{B7B87081-12C0-4C9A-D03D-6E2C7CB8DC29}"/>
              </a:ext>
            </a:extLst>
          </p:cNvPr>
          <p:cNvSpPr txBox="1">
            <a:spLocks/>
          </p:cNvSpPr>
          <p:nvPr/>
        </p:nvSpPr>
        <p:spPr>
          <a:xfrm>
            <a:off x="494398" y="4301815"/>
            <a:ext cx="3799306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u="sng" dirty="0" err="1"/>
              <a:t>TinyLoRA</a:t>
            </a:r>
            <a:r>
              <a:rPr lang="en-US" dirty="0"/>
              <a:t> / GRPO on GSM8K (</a:t>
            </a:r>
            <a:r>
              <a:rPr lang="en-US" i="1" dirty="0"/>
              <a:t>accuracy </a:t>
            </a:r>
            <a:r>
              <a:rPr lang="en-US" altLang="zh-CN" b="1" i="1" dirty="0"/>
              <a:t>76%- </a:t>
            </a:r>
            <a:r>
              <a:rPr lang="en-US" b="1" i="1" dirty="0"/>
              <a:t>91%</a:t>
            </a:r>
            <a:r>
              <a:rPr lang="en-US" i="1" dirty="0"/>
              <a:t>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6AD3A2-F897-5CC0-9C45-64F7D1D86326}"/>
                  </a:ext>
                </a:extLst>
              </p14:cNvPr>
              <p14:cNvContentPartPr/>
              <p14:nvPr/>
            </p14:nvContentPartPr>
            <p14:xfrm>
              <a:off x="565310" y="4218511"/>
              <a:ext cx="77472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6AD3A2-F897-5CC0-9C45-64F7D1D8632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9310" y="4146511"/>
                <a:ext cx="8463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CD11983-5783-63A2-95EF-56578BDD174A}"/>
                  </a:ext>
                </a:extLst>
              </p14:cNvPr>
              <p14:cNvContentPartPr/>
              <p14:nvPr/>
            </p14:nvContentPartPr>
            <p14:xfrm>
              <a:off x="998640" y="3862471"/>
              <a:ext cx="5574240" cy="1056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CD11983-5783-63A2-95EF-56578BDD174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2640" y="3646471"/>
                <a:ext cx="5645880" cy="148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3BD6D777-1628-1941-6AF7-E5D54103C6EE}"/>
              </a:ext>
            </a:extLst>
          </p:cNvPr>
          <p:cNvGrpSpPr/>
          <p:nvPr/>
        </p:nvGrpSpPr>
        <p:grpSpPr>
          <a:xfrm>
            <a:off x="6262920" y="3901351"/>
            <a:ext cx="311040" cy="244440"/>
            <a:chOff x="6262920" y="3901351"/>
            <a:chExt cx="311040" cy="24444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19A8D7F-2A08-6F20-B345-B54E40BDB947}"/>
                    </a:ext>
                  </a:extLst>
                </p14:cNvPr>
                <p14:cNvContentPartPr/>
                <p14:nvPr/>
              </p14:nvContentPartPr>
              <p14:xfrm>
                <a:off x="6262920" y="3901351"/>
                <a:ext cx="301320" cy="100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19A8D7F-2A08-6F20-B345-B54E40BDB94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200280" y="3523351"/>
                  <a:ext cx="426960" cy="8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5A76198-2254-0087-1307-653EEE9B91AE}"/>
                    </a:ext>
                  </a:extLst>
                </p14:cNvPr>
                <p14:cNvContentPartPr/>
                <p14:nvPr/>
              </p14:nvContentPartPr>
              <p14:xfrm>
                <a:off x="6573600" y="3938071"/>
                <a:ext cx="360" cy="207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5A76198-2254-0087-1307-653EEE9B91A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10960" y="3560071"/>
                  <a:ext cx="126000" cy="963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D5B5CCF-5EBC-D135-058A-FEC3F6F77485}"/>
              </a:ext>
            </a:extLst>
          </p:cNvPr>
          <p:cNvSpPr txBox="1"/>
          <p:nvPr/>
        </p:nvSpPr>
        <p:spPr>
          <a:xfrm>
            <a:off x="6564240" y="3419362"/>
            <a:ext cx="2020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</a:t>
            </a:r>
          </a:p>
          <a:p>
            <a:r>
              <a:rPr lang="en-US" b="1" i="1" dirty="0"/>
              <a:t>   </a:t>
            </a:r>
            <a:r>
              <a:rPr lang="en-US" sz="2400" b="1" i="1" dirty="0" err="1"/>
              <a:t>TinyLoRA</a:t>
            </a:r>
            <a:r>
              <a:rPr lang="en-US" sz="2400" b="1" i="1" dirty="0"/>
              <a:t> </a:t>
            </a:r>
            <a:r>
              <a:rPr lang="en-US" dirty="0"/>
              <a:t>?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0B2D98-494A-A926-D92A-D774312D147B}"/>
              </a:ext>
            </a:extLst>
          </p:cNvPr>
          <p:cNvSpPr txBox="1"/>
          <p:nvPr/>
        </p:nvSpPr>
        <p:spPr>
          <a:xfrm>
            <a:off x="494397" y="4858415"/>
            <a:ext cx="15263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*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https://</a:t>
            </a:r>
            <a:r>
              <a:rPr lang="en-US" altLang="zh-CN" sz="600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arxiv.org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/pdf/2602.04118</a:t>
            </a:r>
          </a:p>
          <a:p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**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estimated</a:t>
            </a:r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from</a:t>
            </a:r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the</a:t>
            </a:r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chart</a:t>
            </a:r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</a:t>
            </a:r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the</a:t>
            </a:r>
            <a:r>
              <a:rPr lang="zh-CN" altLang="en-US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 sz="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paper</a:t>
            </a:r>
            <a:endParaRPr lang="en-US" sz="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179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0034E634-3C3C-6EF2-FE9D-F7E9C6B36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5E6805BC-1A56-F101-0B61-7812258CC5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</a:rPr>
              <a:t>Methodology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2431CC60-AB5B-84EB-1AA9-15A76FC5472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7129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47B332C-E414-0708-7365-C1A3BB725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7">
            <a:extLst>
              <a:ext uri="{FF2B5EF4-FFF2-40B4-BE49-F238E27FC236}">
                <a16:creationId xmlns:a16="http://schemas.microsoft.com/office/drawing/2014/main" id="{BEA6F41C-679F-40BD-D157-F87D2A5BDD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329146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Fine-Tuning Lineage</a:t>
            </a:r>
            <a:endParaRPr dirty="0"/>
          </a:p>
        </p:txBody>
      </p:sp>
      <p:sp>
        <p:nvSpPr>
          <p:cNvPr id="269" name="Google Shape;269;p37">
            <a:extLst>
              <a:ext uri="{FF2B5EF4-FFF2-40B4-BE49-F238E27FC236}">
                <a16:creationId xmlns:a16="http://schemas.microsoft.com/office/drawing/2014/main" id="{F151C952-F6EA-8C12-868F-CD637BEB8FA1}"/>
              </a:ext>
            </a:extLst>
          </p:cNvPr>
          <p:cNvSpPr txBox="1"/>
          <p:nvPr/>
        </p:nvSpPr>
        <p:spPr>
          <a:xfrm>
            <a:off x="4594401" y="1406907"/>
            <a:ext cx="4136562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Low-rank adapters make model adaptation cheap enough to compare multiple ranks locally.</a:t>
            </a:r>
          </a:p>
        </p:txBody>
      </p:sp>
      <p:cxnSp>
        <p:nvCxnSpPr>
          <p:cNvPr id="270" name="Google Shape;270;p37">
            <a:extLst>
              <a:ext uri="{FF2B5EF4-FFF2-40B4-BE49-F238E27FC236}">
                <a16:creationId xmlns:a16="http://schemas.microsoft.com/office/drawing/2014/main" id="{9542D9DA-9DFB-65AB-F7A4-AF11448BEB74}"/>
              </a:ext>
            </a:extLst>
          </p:cNvPr>
          <p:cNvCxnSpPr>
            <a:cxnSpLocks/>
            <a:stCxn id="271" idx="3"/>
          </p:cNvCxnSpPr>
          <p:nvPr/>
        </p:nvCxnSpPr>
        <p:spPr>
          <a:xfrm>
            <a:off x="1940168" y="1652755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37">
            <a:extLst>
              <a:ext uri="{FF2B5EF4-FFF2-40B4-BE49-F238E27FC236}">
                <a16:creationId xmlns:a16="http://schemas.microsoft.com/office/drawing/2014/main" id="{1D530791-6266-43C0-2637-FB5477FACFAA}"/>
              </a:ext>
            </a:extLst>
          </p:cNvPr>
          <p:cNvSpPr/>
          <p:nvPr/>
        </p:nvSpPr>
        <p:spPr>
          <a:xfrm>
            <a:off x="3376318" y="1439155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1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273" name="Google Shape;273;p37">
            <a:extLst>
              <a:ext uri="{FF2B5EF4-FFF2-40B4-BE49-F238E27FC236}">
                <a16:creationId xmlns:a16="http://schemas.microsoft.com/office/drawing/2014/main" id="{E72FF7BC-D5CE-5A3A-770E-979AE6BBA20D}"/>
              </a:ext>
            </a:extLst>
          </p:cNvPr>
          <p:cNvCxnSpPr>
            <a:cxnSpLocks/>
            <a:stCxn id="272" idx="6"/>
          </p:cNvCxnSpPr>
          <p:nvPr/>
        </p:nvCxnSpPr>
        <p:spPr>
          <a:xfrm>
            <a:off x="3803518" y="1652755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275" name="Google Shape;275;p37">
            <a:extLst>
              <a:ext uri="{FF2B5EF4-FFF2-40B4-BE49-F238E27FC236}">
                <a16:creationId xmlns:a16="http://schemas.microsoft.com/office/drawing/2014/main" id="{36846FF6-7FB2-3CB5-9FC9-FEEAC597E9D8}"/>
              </a:ext>
            </a:extLst>
          </p:cNvPr>
          <p:cNvSpPr txBox="1"/>
          <p:nvPr/>
        </p:nvSpPr>
        <p:spPr>
          <a:xfrm>
            <a:off x="4594401" y="2272134"/>
            <a:ext cx="4081891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DeepSeekMath</a:t>
            </a: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brought GRPO into reasoning RL and motivates group-relative optimization for math.</a:t>
            </a:r>
          </a:p>
        </p:txBody>
      </p:sp>
      <p:sp>
        <p:nvSpPr>
          <p:cNvPr id="271" name="Google Shape;271;p37">
            <a:extLst>
              <a:ext uri="{FF2B5EF4-FFF2-40B4-BE49-F238E27FC236}">
                <a16:creationId xmlns:a16="http://schemas.microsoft.com/office/drawing/2014/main" id="{27B1FD45-82A6-890A-E74C-4F1091ACEF5F}"/>
              </a:ext>
            </a:extLst>
          </p:cNvPr>
          <p:cNvSpPr txBox="1"/>
          <p:nvPr/>
        </p:nvSpPr>
        <p:spPr>
          <a:xfrm>
            <a:off x="1001864" y="1181605"/>
            <a:ext cx="938304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 err="1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LoRA</a:t>
            </a:r>
            <a:endParaRPr lang="en-US"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96EACB-51F4-D913-45E1-FAA8B17A2DAE}"/>
              </a:ext>
            </a:extLst>
          </p:cNvPr>
          <p:cNvSpPr txBox="1"/>
          <p:nvPr/>
        </p:nvSpPr>
        <p:spPr>
          <a:xfrm>
            <a:off x="2206290" y="1359808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2021</a:t>
            </a:r>
          </a:p>
        </p:txBody>
      </p:sp>
      <p:sp>
        <p:nvSpPr>
          <p:cNvPr id="21" name="Google Shape;271;p37">
            <a:extLst>
              <a:ext uri="{FF2B5EF4-FFF2-40B4-BE49-F238E27FC236}">
                <a16:creationId xmlns:a16="http://schemas.microsoft.com/office/drawing/2014/main" id="{26CC8767-DCEE-45DD-19BB-A9B57935462D}"/>
              </a:ext>
            </a:extLst>
          </p:cNvPr>
          <p:cNvSpPr txBox="1"/>
          <p:nvPr/>
        </p:nvSpPr>
        <p:spPr>
          <a:xfrm>
            <a:off x="1001863" y="1982870"/>
            <a:ext cx="938304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GRPO</a:t>
            </a:r>
          </a:p>
        </p:txBody>
      </p:sp>
      <p:cxnSp>
        <p:nvCxnSpPr>
          <p:cNvPr id="25" name="Google Shape;270;p37">
            <a:extLst>
              <a:ext uri="{FF2B5EF4-FFF2-40B4-BE49-F238E27FC236}">
                <a16:creationId xmlns:a16="http://schemas.microsoft.com/office/drawing/2014/main" id="{6A511D2E-1D63-050E-92B0-41A8DBF3C21E}"/>
              </a:ext>
            </a:extLst>
          </p:cNvPr>
          <p:cNvCxnSpPr>
            <a:cxnSpLocks/>
          </p:cNvCxnSpPr>
          <p:nvPr/>
        </p:nvCxnSpPr>
        <p:spPr>
          <a:xfrm>
            <a:off x="1940168" y="2487122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5FCC847-EC18-BF3A-E62B-93F2CF4DEECF}"/>
              </a:ext>
            </a:extLst>
          </p:cNvPr>
          <p:cNvSpPr txBox="1"/>
          <p:nvPr/>
        </p:nvSpPr>
        <p:spPr>
          <a:xfrm>
            <a:off x="2206290" y="219417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2024</a:t>
            </a:r>
          </a:p>
        </p:txBody>
      </p:sp>
      <p:sp>
        <p:nvSpPr>
          <p:cNvPr id="29" name="Google Shape;272;p37">
            <a:extLst>
              <a:ext uri="{FF2B5EF4-FFF2-40B4-BE49-F238E27FC236}">
                <a16:creationId xmlns:a16="http://schemas.microsoft.com/office/drawing/2014/main" id="{1A10DF5E-6733-D8A7-085D-9F302DCEB787}"/>
              </a:ext>
            </a:extLst>
          </p:cNvPr>
          <p:cNvSpPr/>
          <p:nvPr/>
        </p:nvSpPr>
        <p:spPr>
          <a:xfrm>
            <a:off x="3376318" y="2264588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2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30" name="Google Shape;273;p37">
            <a:extLst>
              <a:ext uri="{FF2B5EF4-FFF2-40B4-BE49-F238E27FC236}">
                <a16:creationId xmlns:a16="http://schemas.microsoft.com/office/drawing/2014/main" id="{9D5DDF50-BB21-186F-FBD6-774F8044F02B}"/>
              </a:ext>
            </a:extLst>
          </p:cNvPr>
          <p:cNvCxnSpPr>
            <a:stCxn id="29" idx="6"/>
          </p:cNvCxnSpPr>
          <p:nvPr/>
        </p:nvCxnSpPr>
        <p:spPr>
          <a:xfrm>
            <a:off x="3803518" y="2478188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31" name="Google Shape;275;p37">
            <a:extLst>
              <a:ext uri="{FF2B5EF4-FFF2-40B4-BE49-F238E27FC236}">
                <a16:creationId xmlns:a16="http://schemas.microsoft.com/office/drawing/2014/main" id="{D58547C8-B1C0-9E5F-825A-46D6C1625360}"/>
              </a:ext>
            </a:extLst>
          </p:cNvPr>
          <p:cNvSpPr txBox="1"/>
          <p:nvPr/>
        </p:nvSpPr>
        <p:spPr>
          <a:xfrm>
            <a:off x="4594401" y="3057140"/>
            <a:ext cx="4081891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Uses frozen SVD factors plus a tiny trainable core to cut parameters drastically.</a:t>
            </a:r>
          </a:p>
        </p:txBody>
      </p:sp>
      <p:sp>
        <p:nvSpPr>
          <p:cNvPr id="32" name="Google Shape;271;p37">
            <a:extLst>
              <a:ext uri="{FF2B5EF4-FFF2-40B4-BE49-F238E27FC236}">
                <a16:creationId xmlns:a16="http://schemas.microsoft.com/office/drawing/2014/main" id="{495D03EC-7736-0744-1A20-A3A9E52CDDF6}"/>
              </a:ext>
            </a:extLst>
          </p:cNvPr>
          <p:cNvSpPr txBox="1"/>
          <p:nvPr/>
        </p:nvSpPr>
        <p:spPr>
          <a:xfrm>
            <a:off x="411480" y="2767876"/>
            <a:ext cx="1528687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 err="1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LoRA</a:t>
            </a:r>
            <a:r>
              <a:rPr lang="en-US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-XS</a:t>
            </a:r>
          </a:p>
        </p:txBody>
      </p:sp>
      <p:cxnSp>
        <p:nvCxnSpPr>
          <p:cNvPr id="33" name="Google Shape;270;p37">
            <a:extLst>
              <a:ext uri="{FF2B5EF4-FFF2-40B4-BE49-F238E27FC236}">
                <a16:creationId xmlns:a16="http://schemas.microsoft.com/office/drawing/2014/main" id="{39B97584-28E0-DFF9-ED54-7E2CE1B2F3EF}"/>
              </a:ext>
            </a:extLst>
          </p:cNvPr>
          <p:cNvCxnSpPr>
            <a:cxnSpLocks/>
          </p:cNvCxnSpPr>
          <p:nvPr/>
        </p:nvCxnSpPr>
        <p:spPr>
          <a:xfrm>
            <a:off x="1940168" y="3272128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BC78350-45C0-2695-CED5-8DB1DE5433BB}"/>
              </a:ext>
            </a:extLst>
          </p:cNvPr>
          <p:cNvSpPr txBox="1"/>
          <p:nvPr/>
        </p:nvSpPr>
        <p:spPr>
          <a:xfrm>
            <a:off x="2206290" y="2979181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2024</a:t>
            </a:r>
          </a:p>
        </p:txBody>
      </p:sp>
      <p:sp>
        <p:nvSpPr>
          <p:cNvPr id="35" name="Google Shape;272;p37">
            <a:extLst>
              <a:ext uri="{FF2B5EF4-FFF2-40B4-BE49-F238E27FC236}">
                <a16:creationId xmlns:a16="http://schemas.microsoft.com/office/drawing/2014/main" id="{E8389A8E-5A56-70A8-5A68-A39D337E2702}"/>
              </a:ext>
            </a:extLst>
          </p:cNvPr>
          <p:cNvSpPr/>
          <p:nvPr/>
        </p:nvSpPr>
        <p:spPr>
          <a:xfrm>
            <a:off x="3376318" y="3049594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3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36" name="Google Shape;273;p37">
            <a:extLst>
              <a:ext uri="{FF2B5EF4-FFF2-40B4-BE49-F238E27FC236}">
                <a16:creationId xmlns:a16="http://schemas.microsoft.com/office/drawing/2014/main" id="{0F5445A5-63B8-5DD7-FF51-8BEA297E68DB}"/>
              </a:ext>
            </a:extLst>
          </p:cNvPr>
          <p:cNvCxnSpPr>
            <a:stCxn id="35" idx="6"/>
          </p:cNvCxnSpPr>
          <p:nvPr/>
        </p:nvCxnSpPr>
        <p:spPr>
          <a:xfrm>
            <a:off x="3803518" y="3263194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37" name="Google Shape;275;p37">
            <a:extLst>
              <a:ext uri="{FF2B5EF4-FFF2-40B4-BE49-F238E27FC236}">
                <a16:creationId xmlns:a16="http://schemas.microsoft.com/office/drawing/2014/main" id="{6E816BF2-6B68-5B28-1259-B583154D03F5}"/>
              </a:ext>
            </a:extLst>
          </p:cNvPr>
          <p:cNvSpPr txBox="1"/>
          <p:nvPr/>
        </p:nvSpPr>
        <p:spPr>
          <a:xfrm>
            <a:off x="4594401" y="3809819"/>
            <a:ext cx="4081891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13 Parameters pushes the update budget toward only a handful of trainable parameters.</a:t>
            </a:r>
          </a:p>
        </p:txBody>
      </p:sp>
      <p:sp>
        <p:nvSpPr>
          <p:cNvPr id="38" name="Google Shape;271;p37">
            <a:extLst>
              <a:ext uri="{FF2B5EF4-FFF2-40B4-BE49-F238E27FC236}">
                <a16:creationId xmlns:a16="http://schemas.microsoft.com/office/drawing/2014/main" id="{C928DAF2-730E-C9F7-D97C-72AD6B64CC90}"/>
              </a:ext>
            </a:extLst>
          </p:cNvPr>
          <p:cNvSpPr txBox="1"/>
          <p:nvPr/>
        </p:nvSpPr>
        <p:spPr>
          <a:xfrm>
            <a:off x="308112" y="3520555"/>
            <a:ext cx="1794810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 err="1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TinyLoRA</a:t>
            </a:r>
            <a:endParaRPr lang="en-US"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39" name="Google Shape;270;p37">
            <a:extLst>
              <a:ext uri="{FF2B5EF4-FFF2-40B4-BE49-F238E27FC236}">
                <a16:creationId xmlns:a16="http://schemas.microsoft.com/office/drawing/2014/main" id="{13CDB156-759D-10EC-EC6F-DDC35C3EF36D}"/>
              </a:ext>
            </a:extLst>
          </p:cNvPr>
          <p:cNvCxnSpPr>
            <a:cxnSpLocks/>
          </p:cNvCxnSpPr>
          <p:nvPr/>
        </p:nvCxnSpPr>
        <p:spPr>
          <a:xfrm>
            <a:off x="1940168" y="4024807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2D98CB6-6E30-FA9D-9D73-C4249A929EE7}"/>
              </a:ext>
            </a:extLst>
          </p:cNvPr>
          <p:cNvSpPr txBox="1"/>
          <p:nvPr/>
        </p:nvSpPr>
        <p:spPr>
          <a:xfrm>
            <a:off x="2206290" y="373186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</a:t>
            </a:r>
          </a:p>
        </p:txBody>
      </p:sp>
      <p:sp>
        <p:nvSpPr>
          <p:cNvPr id="41" name="Google Shape;272;p37">
            <a:extLst>
              <a:ext uri="{FF2B5EF4-FFF2-40B4-BE49-F238E27FC236}">
                <a16:creationId xmlns:a16="http://schemas.microsoft.com/office/drawing/2014/main" id="{F9C0578A-9407-A6C3-32D4-A18BA8E13F84}"/>
              </a:ext>
            </a:extLst>
          </p:cNvPr>
          <p:cNvSpPr/>
          <p:nvPr/>
        </p:nvSpPr>
        <p:spPr>
          <a:xfrm>
            <a:off x="3376318" y="3802273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4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42" name="Google Shape;273;p37">
            <a:extLst>
              <a:ext uri="{FF2B5EF4-FFF2-40B4-BE49-F238E27FC236}">
                <a16:creationId xmlns:a16="http://schemas.microsoft.com/office/drawing/2014/main" id="{C7AC2CFD-BF73-F68E-770A-E71A5106A7CA}"/>
              </a:ext>
            </a:extLst>
          </p:cNvPr>
          <p:cNvCxnSpPr>
            <a:stCxn id="41" idx="6"/>
          </p:cNvCxnSpPr>
          <p:nvPr/>
        </p:nvCxnSpPr>
        <p:spPr>
          <a:xfrm>
            <a:off x="3803518" y="4015873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34D3A43-0863-7A55-7C27-1ADB6089631F}"/>
                  </a:ext>
                </a:extLst>
              </p14:cNvPr>
              <p14:cNvContentPartPr/>
              <p14:nvPr/>
            </p14:nvContentPartPr>
            <p14:xfrm>
              <a:off x="999720" y="1799311"/>
              <a:ext cx="792720" cy="3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34D3A43-0863-7A55-7C27-1ADB6089631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4080" y="1727311"/>
                <a:ext cx="86436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F743458-8830-77AA-7AA9-367851128B90}"/>
                  </a:ext>
                </a:extLst>
              </p14:cNvPr>
              <p14:cNvContentPartPr/>
              <p14:nvPr/>
            </p14:nvContentPartPr>
            <p14:xfrm>
              <a:off x="437040" y="3372871"/>
              <a:ext cx="1386360" cy="345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F743458-8830-77AA-7AA9-367851128B9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01400" y="3301231"/>
                <a:ext cx="145800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0910F96-B53D-EE59-9B72-819846AC48C5}"/>
                  </a:ext>
                </a:extLst>
              </p14:cNvPr>
              <p14:cNvContentPartPr/>
              <p14:nvPr/>
            </p14:nvContentPartPr>
            <p14:xfrm>
              <a:off x="356040" y="4099351"/>
              <a:ext cx="1529280" cy="496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0910F96-B53D-EE59-9B72-819846AC48C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0400" y="4027351"/>
                <a:ext cx="160092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7736036-5276-D1D4-5881-EDAB97A93949}"/>
                  </a:ext>
                </a:extLst>
              </p14:cNvPr>
              <p14:cNvContentPartPr/>
              <p14:nvPr/>
            </p14:nvContentPartPr>
            <p14:xfrm>
              <a:off x="1068120" y="2658991"/>
              <a:ext cx="811080" cy="21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7736036-5276-D1D4-5881-EDAB97A9394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32480" y="2587351"/>
                <a:ext cx="882720" cy="145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88338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473BC29-8F78-1F7A-2AFB-71094F0F3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4">
            <a:extLst>
              <a:ext uri="{FF2B5EF4-FFF2-40B4-BE49-F238E27FC236}">
                <a16:creationId xmlns:a16="http://schemas.microsoft.com/office/drawing/2014/main" id="{D3869F19-660B-17D1-F63D-64FDE9D9603A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6210219" y="358971"/>
            <a:ext cx="272928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Concepts</a:t>
            </a:r>
            <a:endParaRPr dirty="0"/>
          </a:p>
        </p:txBody>
      </p:sp>
      <p:sp>
        <p:nvSpPr>
          <p:cNvPr id="236" name="Google Shape;236;p34">
            <a:extLst>
              <a:ext uri="{FF2B5EF4-FFF2-40B4-BE49-F238E27FC236}">
                <a16:creationId xmlns:a16="http://schemas.microsoft.com/office/drawing/2014/main" id="{57F34D90-DE72-B817-F197-8108A8DF1A3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664045" y="342540"/>
            <a:ext cx="3260036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100" dirty="0"/>
              <a:t>Keeps the base model frozen and learns </a:t>
            </a:r>
            <a:r>
              <a:rPr lang="en-US" sz="1100" b="1" dirty="0"/>
              <a:t>a low-rank update</a:t>
            </a:r>
            <a:r>
              <a:rPr lang="en-US" sz="1100" dirty="0"/>
              <a:t> through small adapter weights.</a:t>
            </a:r>
            <a:endParaRPr sz="1100" dirty="0"/>
          </a:p>
        </p:txBody>
      </p:sp>
      <p:sp>
        <p:nvSpPr>
          <p:cNvPr id="239" name="Google Shape;239;p34">
            <a:extLst>
              <a:ext uri="{FF2B5EF4-FFF2-40B4-BE49-F238E27FC236}">
                <a16:creationId xmlns:a16="http://schemas.microsoft.com/office/drawing/2014/main" id="{F5A6B80F-BB7E-D69E-DA65-1B5DBD880A8A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1708258" y="474491"/>
            <a:ext cx="1544183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 err="1"/>
              <a:t>LoRA</a:t>
            </a:r>
            <a:endParaRPr sz="4000" dirty="0"/>
          </a:p>
        </p:txBody>
      </p:sp>
      <p:sp>
        <p:nvSpPr>
          <p:cNvPr id="10" name="Google Shape;236;p34">
            <a:extLst>
              <a:ext uri="{FF2B5EF4-FFF2-40B4-BE49-F238E27FC236}">
                <a16:creationId xmlns:a16="http://schemas.microsoft.com/office/drawing/2014/main" id="{1CC5F6CD-FB7E-A6F8-EFE8-737B7679BED3}"/>
              </a:ext>
            </a:extLst>
          </p:cNvPr>
          <p:cNvSpPr txBox="1">
            <a:spLocks/>
          </p:cNvSpPr>
          <p:nvPr/>
        </p:nvSpPr>
        <p:spPr>
          <a:xfrm>
            <a:off x="2664043" y="940991"/>
            <a:ext cx="3432757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sz="1100" dirty="0"/>
              <a:t>Builds on </a:t>
            </a:r>
            <a:r>
              <a:rPr lang="en-US" sz="1100" dirty="0" err="1"/>
              <a:t>LoRA</a:t>
            </a:r>
            <a:r>
              <a:rPr lang="en-US" sz="1100" dirty="0"/>
              <a:t> by using </a:t>
            </a:r>
            <a:r>
              <a:rPr lang="en-US" sz="1100" b="1" dirty="0"/>
              <a:t>fixed SVD directions</a:t>
            </a:r>
            <a:r>
              <a:rPr lang="en-US" sz="1100" dirty="0"/>
              <a:t> from the base weights and training only a much smaller core.</a:t>
            </a:r>
          </a:p>
        </p:txBody>
      </p:sp>
      <p:sp>
        <p:nvSpPr>
          <p:cNvPr id="11" name="Google Shape;239;p34">
            <a:extLst>
              <a:ext uri="{FF2B5EF4-FFF2-40B4-BE49-F238E27FC236}">
                <a16:creationId xmlns:a16="http://schemas.microsoft.com/office/drawing/2014/main" id="{83431F94-2920-DD62-FE85-47DE01E05831}"/>
              </a:ext>
            </a:extLst>
          </p:cNvPr>
          <p:cNvSpPr txBox="1">
            <a:spLocks/>
          </p:cNvSpPr>
          <p:nvPr/>
        </p:nvSpPr>
        <p:spPr>
          <a:xfrm>
            <a:off x="1119861" y="1100395"/>
            <a:ext cx="2132580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d Hat Mono"/>
              <a:buNone/>
              <a:defRPr sz="4900" b="0" i="0" u="none" strike="noStrike" cap="none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-US" sz="4000" dirty="0" err="1"/>
              <a:t>LoRA</a:t>
            </a:r>
            <a:r>
              <a:rPr lang="en-US" sz="4000" dirty="0"/>
              <a:t>-XS</a:t>
            </a:r>
            <a:endParaRPr lang="en-US" sz="3600" dirty="0"/>
          </a:p>
        </p:txBody>
      </p:sp>
      <p:sp>
        <p:nvSpPr>
          <p:cNvPr id="12" name="Google Shape;236;p34">
            <a:extLst>
              <a:ext uri="{FF2B5EF4-FFF2-40B4-BE49-F238E27FC236}">
                <a16:creationId xmlns:a16="http://schemas.microsoft.com/office/drawing/2014/main" id="{31D53663-66CA-6689-5705-2BCC275E163D}"/>
              </a:ext>
            </a:extLst>
          </p:cNvPr>
          <p:cNvSpPr txBox="1">
            <a:spLocks/>
          </p:cNvSpPr>
          <p:nvPr/>
        </p:nvSpPr>
        <p:spPr>
          <a:xfrm>
            <a:off x="2664045" y="1587822"/>
            <a:ext cx="357499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sz="1100" dirty="0"/>
              <a:t>Pushes parameter reduction even further by replacing the trainable core with a </a:t>
            </a:r>
            <a:r>
              <a:rPr lang="en-US" sz="1100" b="1" dirty="0"/>
              <a:t>tiny projected trainable vector</a:t>
            </a:r>
            <a:r>
              <a:rPr lang="en-US" sz="1100" dirty="0"/>
              <a:t>.</a:t>
            </a:r>
          </a:p>
        </p:txBody>
      </p:sp>
      <p:sp>
        <p:nvSpPr>
          <p:cNvPr id="13" name="Google Shape;239;p34">
            <a:extLst>
              <a:ext uri="{FF2B5EF4-FFF2-40B4-BE49-F238E27FC236}">
                <a16:creationId xmlns:a16="http://schemas.microsoft.com/office/drawing/2014/main" id="{74F58D1C-6A57-A7E9-9660-1425B1F08BF3}"/>
              </a:ext>
            </a:extLst>
          </p:cNvPr>
          <p:cNvSpPr txBox="1">
            <a:spLocks/>
          </p:cNvSpPr>
          <p:nvPr/>
        </p:nvSpPr>
        <p:spPr>
          <a:xfrm>
            <a:off x="904818" y="1750711"/>
            <a:ext cx="2283655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d Hat Mono"/>
              <a:buNone/>
              <a:defRPr sz="4900" b="0" i="0" u="none" strike="noStrike" cap="none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-US" sz="4000" dirty="0" err="1"/>
              <a:t>TinyLoRA</a:t>
            </a:r>
            <a:endParaRPr lang="en-US" sz="4000" dirty="0"/>
          </a:p>
        </p:txBody>
      </p:sp>
      <p:graphicFrame>
        <p:nvGraphicFramePr>
          <p:cNvPr id="18" name="Google Shape;294;p38">
            <a:extLst>
              <a:ext uri="{FF2B5EF4-FFF2-40B4-BE49-F238E27FC236}">
                <a16:creationId xmlns:a16="http://schemas.microsoft.com/office/drawing/2014/main" id="{3243B17C-2E40-5CB1-CC4F-DC8A5D5A36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1362125"/>
              </p:ext>
            </p:extLst>
          </p:nvPr>
        </p:nvGraphicFramePr>
        <p:xfrm>
          <a:off x="904818" y="2347738"/>
          <a:ext cx="7529664" cy="2368117"/>
        </p:xfrm>
        <a:graphic>
          <a:graphicData uri="http://schemas.openxmlformats.org/drawingml/2006/table">
            <a:tbl>
              <a:tblPr>
                <a:noFill/>
                <a:tableStyleId>{7B959B7B-5EBC-4252-BE56-7F1E977C57D6}</a:tableStyleId>
              </a:tblPr>
              <a:tblGrid>
                <a:gridCol w="98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24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46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5000">
                  <a:extLst>
                    <a:ext uri="{9D8B030D-6E8A-4147-A177-3AD203B41FA5}">
                      <a16:colId xmlns:a16="http://schemas.microsoft.com/office/drawing/2014/main" val="2845801008"/>
                    </a:ext>
                  </a:extLst>
                </a:gridCol>
              </a:tblGrid>
              <a:tr h="450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Method</a:t>
                      </a:r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Main idea</a:t>
                      </a:r>
                    </a:p>
                  </a:txBody>
                  <a:tcPr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Pros</a:t>
                      </a:r>
                    </a:p>
                  </a:txBody>
                  <a:tcPr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Cons</a:t>
                      </a:r>
                    </a:p>
                  </a:txBody>
                  <a:tcPr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58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i="0" u="none" strike="noStrike" cap="none" dirty="0" err="1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LoRA</a:t>
                      </a:r>
                      <a:endParaRPr lang="en-US" sz="1100" b="1" i="0" u="none" strike="noStrike" cap="none" dirty="0">
                        <a:solidFill>
                          <a:schemeClr val="dk1"/>
                        </a:solidFill>
                        <a:latin typeface="Archivo"/>
                        <a:cs typeface="Archivo"/>
                        <a:sym typeface="Arial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Low-rank adapters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Simple, effective, widely used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Still needs more parameters than newer variants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9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i="0" u="none" strike="noStrike" cap="none" dirty="0" err="1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LoRA</a:t>
                      </a:r>
                      <a:r>
                        <a:rPr lang="en-US" sz="1100" b="1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-XS</a:t>
                      </a:r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Fixed SVD structure + small core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Smaller and more parameter-efficient than </a:t>
                      </a:r>
                      <a:r>
                        <a:rPr lang="en-US" sz="1100" b="0" i="0" u="none" strike="noStrike" cap="none" dirty="0" err="1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LoRA</a:t>
                      </a:r>
                      <a:endParaRPr lang="en-US" sz="1100" b="0" i="0" u="none" strike="noStrike" cap="none" dirty="0">
                        <a:solidFill>
                          <a:schemeClr val="dk1"/>
                        </a:solidFill>
                        <a:latin typeface="Archivo"/>
                        <a:cs typeface="Archivo"/>
                        <a:sym typeface="Archivo"/>
                      </a:endParaRP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More specialized, less standard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9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i="0" u="none" strike="noStrike" cap="none" dirty="0" err="1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ial"/>
                        </a:rPr>
                        <a:t>TinyLoRA</a:t>
                      </a:r>
                      <a:endParaRPr lang="en-US" sz="1100" b="1" i="0" u="none" strike="noStrike" cap="none" dirty="0">
                        <a:solidFill>
                          <a:schemeClr val="dk1"/>
                        </a:solidFill>
                        <a:latin typeface="Archivo"/>
                        <a:cs typeface="Archivo"/>
                        <a:sym typeface="Arial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Tiny projected trainable vector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Extreme parameter efficiency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chemeClr val="dk1"/>
                          </a:solidFill>
                          <a:latin typeface="Archivo"/>
                          <a:cs typeface="Archivo"/>
                          <a:sym typeface="Archivo"/>
                        </a:rPr>
                        <a:t>More experimental, harder to validate broadly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CA5D6E6A-A07D-CB23-8A86-C38629EBBB90}"/>
              </a:ext>
            </a:extLst>
          </p:cNvPr>
          <p:cNvSpPr/>
          <p:nvPr/>
        </p:nvSpPr>
        <p:spPr>
          <a:xfrm>
            <a:off x="904818" y="342540"/>
            <a:ext cx="5334223" cy="1889102"/>
          </a:xfrm>
          <a:prstGeom prst="rect">
            <a:avLst/>
          </a:prstGeom>
          <a:noFill/>
          <a:ln w="28575" cmpd="thickThin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6D653E0-4795-D8DF-14EF-FB78219237BC}"/>
                  </a:ext>
                </a:extLst>
              </p14:cNvPr>
              <p14:cNvContentPartPr/>
              <p14:nvPr/>
            </p14:nvContentPartPr>
            <p14:xfrm>
              <a:off x="7256360" y="683480"/>
              <a:ext cx="1593720" cy="57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6D653E0-4795-D8DF-14EF-FB78219237B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20720" y="611840"/>
                <a:ext cx="1665360" cy="14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5071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A9E78E91-E51F-C72F-F53E-D9463FD4C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54315AB6-3DC8-B8C8-F0F5-959409EF9E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</a:rPr>
              <a:t>Project Workflow</a:t>
            </a: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2637E128-68B5-B3AC-54A1-A3060D8B212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73156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0DDC124-2519-45D7-1F4A-D8100C3FE9F1}"/>
              </a:ext>
            </a:extLst>
          </p:cNvPr>
          <p:cNvGrpSpPr/>
          <p:nvPr/>
        </p:nvGrpSpPr>
        <p:grpSpPr>
          <a:xfrm>
            <a:off x="5414173" y="369236"/>
            <a:ext cx="3661479" cy="1273191"/>
            <a:chOff x="5897918" y="3170712"/>
            <a:chExt cx="3661479" cy="1273191"/>
          </a:xfrm>
        </p:grpSpPr>
        <p:grpSp>
          <p:nvGrpSpPr>
            <p:cNvPr id="2" name="Google Shape;935;p46">
              <a:extLst>
                <a:ext uri="{FF2B5EF4-FFF2-40B4-BE49-F238E27FC236}">
                  <a16:creationId xmlns:a16="http://schemas.microsoft.com/office/drawing/2014/main" id="{4B7BF108-A58B-ED08-732B-559789C25E7C}"/>
                </a:ext>
              </a:extLst>
            </p:cNvPr>
            <p:cNvGrpSpPr/>
            <p:nvPr/>
          </p:nvGrpSpPr>
          <p:grpSpPr>
            <a:xfrm>
              <a:off x="5897918" y="3182688"/>
              <a:ext cx="215207" cy="306930"/>
              <a:chOff x="8304647" y="3738687"/>
              <a:chExt cx="225065" cy="320956"/>
            </a:xfrm>
          </p:grpSpPr>
          <p:sp>
            <p:nvSpPr>
              <p:cNvPr id="3" name="Google Shape;936;p46">
                <a:extLst>
                  <a:ext uri="{FF2B5EF4-FFF2-40B4-BE49-F238E27FC236}">
                    <a16:creationId xmlns:a16="http://schemas.microsoft.com/office/drawing/2014/main" id="{148BAF0F-A6D7-BE39-CB45-5A116373CD8C}"/>
                  </a:ext>
                </a:extLst>
              </p:cNvPr>
              <p:cNvSpPr/>
              <p:nvPr/>
            </p:nvSpPr>
            <p:spPr>
              <a:xfrm>
                <a:off x="8335725" y="3738687"/>
                <a:ext cx="12248" cy="309245"/>
              </a:xfrm>
              <a:custGeom>
                <a:avLst/>
                <a:gdLst/>
                <a:ahLst/>
                <a:cxnLst/>
                <a:rect l="l" t="t" r="r" b="b"/>
                <a:pathLst>
                  <a:path w="1347" h="34011" extrusionOk="0">
                    <a:moveTo>
                      <a:pt x="0" y="0"/>
                    </a:moveTo>
                    <a:lnTo>
                      <a:pt x="0" y="34010"/>
                    </a:lnTo>
                    <a:lnTo>
                      <a:pt x="1347" y="34010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937;p46">
                <a:extLst>
                  <a:ext uri="{FF2B5EF4-FFF2-40B4-BE49-F238E27FC236}">
                    <a16:creationId xmlns:a16="http://schemas.microsoft.com/office/drawing/2014/main" id="{A3A037CE-2739-2BE4-3210-84F5B63EAA08}"/>
                  </a:ext>
                </a:extLst>
              </p:cNvPr>
              <p:cNvSpPr/>
              <p:nvPr/>
            </p:nvSpPr>
            <p:spPr>
              <a:xfrm>
                <a:off x="8337932" y="3738688"/>
                <a:ext cx="191780" cy="86151"/>
              </a:xfrm>
              <a:custGeom>
                <a:avLst/>
                <a:gdLst/>
                <a:ahLst/>
                <a:cxnLst/>
                <a:rect l="l" t="t" r="r" b="b"/>
                <a:pathLst>
                  <a:path w="21092" h="9475" extrusionOk="0">
                    <a:moveTo>
                      <a:pt x="1" y="0"/>
                    </a:moveTo>
                    <a:lnTo>
                      <a:pt x="432" y="9475"/>
                    </a:lnTo>
                    <a:lnTo>
                      <a:pt x="21092" y="9475"/>
                    </a:lnTo>
                    <a:lnTo>
                      <a:pt x="17648" y="4524"/>
                    </a:lnTo>
                    <a:lnTo>
                      <a:pt x="2109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" name="Google Shape;938;p46">
                <a:extLst>
                  <a:ext uri="{FF2B5EF4-FFF2-40B4-BE49-F238E27FC236}">
                    <a16:creationId xmlns:a16="http://schemas.microsoft.com/office/drawing/2014/main" id="{497F8380-4A16-E20E-57B4-7CFF34CA16E8}"/>
                  </a:ext>
                </a:extLst>
              </p:cNvPr>
              <p:cNvSpPr/>
              <p:nvPr/>
            </p:nvSpPr>
            <p:spPr>
              <a:xfrm>
                <a:off x="8304647" y="4044004"/>
                <a:ext cx="76341" cy="15639"/>
              </a:xfrm>
              <a:custGeom>
                <a:avLst/>
                <a:gdLst/>
                <a:ahLst/>
                <a:cxnLst/>
                <a:rect l="l" t="t" r="r" b="b"/>
                <a:pathLst>
                  <a:path w="8396" h="1720" extrusionOk="0">
                    <a:moveTo>
                      <a:pt x="4200" y="0"/>
                    </a:moveTo>
                    <a:cubicBezTo>
                      <a:pt x="1881" y="0"/>
                      <a:pt x="1" y="382"/>
                      <a:pt x="1" y="862"/>
                    </a:cubicBezTo>
                    <a:cubicBezTo>
                      <a:pt x="1" y="1338"/>
                      <a:pt x="1881" y="1720"/>
                      <a:pt x="4200" y="1720"/>
                    </a:cubicBezTo>
                    <a:cubicBezTo>
                      <a:pt x="6516" y="1720"/>
                      <a:pt x="8395" y="1338"/>
                      <a:pt x="8395" y="862"/>
                    </a:cubicBezTo>
                    <a:cubicBezTo>
                      <a:pt x="8395" y="382"/>
                      <a:pt x="6516" y="0"/>
                      <a:pt x="4200" y="0"/>
                    </a:cubicBez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" name="Google Shape;939;p46">
              <a:extLst>
                <a:ext uri="{FF2B5EF4-FFF2-40B4-BE49-F238E27FC236}">
                  <a16:creationId xmlns:a16="http://schemas.microsoft.com/office/drawing/2014/main" id="{DCF047BF-C6BF-0DE2-D338-78FA9C7A1D93}"/>
                </a:ext>
              </a:extLst>
            </p:cNvPr>
            <p:cNvGrpSpPr/>
            <p:nvPr/>
          </p:nvGrpSpPr>
          <p:grpSpPr>
            <a:xfrm>
              <a:off x="7925536" y="3882149"/>
              <a:ext cx="198502" cy="306930"/>
              <a:chOff x="8615101" y="3738687"/>
              <a:chExt cx="207573" cy="320956"/>
            </a:xfrm>
          </p:grpSpPr>
          <p:sp>
            <p:nvSpPr>
              <p:cNvPr id="7" name="Google Shape;940;p46">
                <a:extLst>
                  <a:ext uri="{FF2B5EF4-FFF2-40B4-BE49-F238E27FC236}">
                    <a16:creationId xmlns:a16="http://schemas.microsoft.com/office/drawing/2014/main" id="{7D6CB918-F9F0-8FF9-843E-4E1D866AFB32}"/>
                  </a:ext>
                </a:extLst>
              </p:cNvPr>
              <p:cNvSpPr/>
              <p:nvPr/>
            </p:nvSpPr>
            <p:spPr>
              <a:xfrm>
                <a:off x="8646134" y="3738687"/>
                <a:ext cx="12248" cy="309245"/>
              </a:xfrm>
              <a:custGeom>
                <a:avLst/>
                <a:gdLst/>
                <a:ahLst/>
                <a:cxnLst/>
                <a:rect l="l" t="t" r="r" b="b"/>
                <a:pathLst>
                  <a:path w="1347" h="34011" extrusionOk="0">
                    <a:moveTo>
                      <a:pt x="0" y="0"/>
                    </a:moveTo>
                    <a:lnTo>
                      <a:pt x="0" y="34010"/>
                    </a:lnTo>
                    <a:lnTo>
                      <a:pt x="1347" y="34010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941;p46">
                <a:extLst>
                  <a:ext uri="{FF2B5EF4-FFF2-40B4-BE49-F238E27FC236}">
                    <a16:creationId xmlns:a16="http://schemas.microsoft.com/office/drawing/2014/main" id="{3C6767E6-6E77-5568-CF40-646630B5B9E1}"/>
                  </a:ext>
                </a:extLst>
              </p:cNvPr>
              <p:cNvSpPr/>
              <p:nvPr/>
            </p:nvSpPr>
            <p:spPr>
              <a:xfrm>
                <a:off x="8615101" y="4044004"/>
                <a:ext cx="76332" cy="15639"/>
              </a:xfrm>
              <a:custGeom>
                <a:avLst/>
                <a:gdLst/>
                <a:ahLst/>
                <a:cxnLst/>
                <a:rect l="l" t="t" r="r" b="b"/>
                <a:pathLst>
                  <a:path w="8395" h="1720" extrusionOk="0">
                    <a:moveTo>
                      <a:pt x="4195" y="0"/>
                    </a:moveTo>
                    <a:cubicBezTo>
                      <a:pt x="1875" y="0"/>
                      <a:pt x="0" y="382"/>
                      <a:pt x="0" y="862"/>
                    </a:cubicBezTo>
                    <a:cubicBezTo>
                      <a:pt x="0" y="1338"/>
                      <a:pt x="1875" y="1720"/>
                      <a:pt x="4195" y="1720"/>
                    </a:cubicBezTo>
                    <a:cubicBezTo>
                      <a:pt x="6515" y="1720"/>
                      <a:pt x="8395" y="1338"/>
                      <a:pt x="8395" y="862"/>
                    </a:cubicBezTo>
                    <a:cubicBezTo>
                      <a:pt x="8395" y="382"/>
                      <a:pt x="6515" y="0"/>
                      <a:pt x="4195" y="0"/>
                    </a:cubicBezTo>
                    <a:close/>
                  </a:path>
                </a:pathLst>
              </a:cu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942;p46">
                <a:extLst>
                  <a:ext uri="{FF2B5EF4-FFF2-40B4-BE49-F238E27FC236}">
                    <a16:creationId xmlns:a16="http://schemas.microsoft.com/office/drawing/2014/main" id="{0CD0F5F3-E7F8-F847-07A0-DC262EA7CC2A}"/>
                  </a:ext>
                </a:extLst>
              </p:cNvPr>
              <p:cNvSpPr/>
              <p:nvPr/>
            </p:nvSpPr>
            <p:spPr>
              <a:xfrm>
                <a:off x="8651953" y="3738687"/>
                <a:ext cx="170721" cy="99808"/>
              </a:xfrm>
              <a:custGeom>
                <a:avLst/>
                <a:gdLst/>
                <a:ahLst/>
                <a:cxnLst/>
                <a:rect l="l" t="t" r="r" b="b"/>
                <a:pathLst>
                  <a:path w="18776" h="10977" extrusionOk="0">
                    <a:moveTo>
                      <a:pt x="707" y="0"/>
                    </a:moveTo>
                    <a:lnTo>
                      <a:pt x="0" y="10977"/>
                    </a:lnTo>
                    <a:lnTo>
                      <a:pt x="18776" y="4360"/>
                    </a:lnTo>
                    <a:lnTo>
                      <a:pt x="707" y="0"/>
                    </a:lnTo>
                    <a:close/>
                  </a:path>
                </a:pathLst>
              </a:cu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6C2F22-EF7A-8F8C-AD4E-7DD36FCDCB79}"/>
                </a:ext>
              </a:extLst>
            </p:cNvPr>
            <p:cNvSpPr txBox="1"/>
            <p:nvPr/>
          </p:nvSpPr>
          <p:spPr>
            <a:xfrm>
              <a:off x="6005522" y="3170712"/>
              <a:ext cx="8018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dk1"/>
                  </a:solidFill>
                  <a:latin typeface="VT323"/>
                  <a:sym typeface="VT323"/>
                </a:rPr>
                <a:t>GSM8K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1941454-1C9B-998D-971D-7EA8E8E788EB}"/>
                </a:ext>
              </a:extLst>
            </p:cNvPr>
            <p:cNvSpPr txBox="1"/>
            <p:nvPr/>
          </p:nvSpPr>
          <p:spPr>
            <a:xfrm>
              <a:off x="8028209" y="3843739"/>
              <a:ext cx="1531188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dk1"/>
                  </a:solidFill>
                  <a:latin typeface="VT323"/>
                  <a:sym typeface="VT323"/>
                </a:rPr>
                <a:t>AIMO</a:t>
              </a:r>
            </a:p>
            <a:p>
              <a:r>
                <a:rPr lang="en-US" sz="900" i="1" dirty="0"/>
                <a:t>AI Mathematical Olympiad</a:t>
              </a:r>
              <a:endParaRPr lang="en-US" sz="900" i="1" dirty="0">
                <a:solidFill>
                  <a:schemeClr val="dk1"/>
                </a:solidFill>
                <a:latin typeface="VT323"/>
                <a:sym typeface="VT323"/>
              </a:endParaRPr>
            </a:p>
          </p:txBody>
        </p:sp>
        <p:cxnSp>
          <p:nvCxnSpPr>
            <p:cNvPr id="12" name="Google Shape;1215;p47">
              <a:extLst>
                <a:ext uri="{FF2B5EF4-FFF2-40B4-BE49-F238E27FC236}">
                  <a16:creationId xmlns:a16="http://schemas.microsoft.com/office/drawing/2014/main" id="{BAA8AEB7-3D12-A27D-816E-AD011515E3EB}"/>
                </a:ext>
              </a:extLst>
            </p:cNvPr>
            <p:cNvCxnSpPr>
              <a:cxnSpLocks/>
            </p:cNvCxnSpPr>
            <p:nvPr/>
          </p:nvCxnSpPr>
          <p:spPr>
            <a:xfrm>
              <a:off x="6964457" y="3461738"/>
              <a:ext cx="803967" cy="520919"/>
            </a:xfrm>
            <a:prstGeom prst="curvedConnector3">
              <a:avLst>
                <a:gd name="adj1" fmla="val 50000"/>
              </a:avLst>
            </a:prstGeom>
            <a:ln>
              <a:solidFill>
                <a:srgbClr val="002060"/>
              </a:solidFill>
              <a:headEnd type="none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Text 8">
            <a:extLst>
              <a:ext uri="{FF2B5EF4-FFF2-40B4-BE49-F238E27FC236}">
                <a16:creationId xmlns:a16="http://schemas.microsoft.com/office/drawing/2014/main" id="{64F6E81B-7A11-1CFF-BC55-8060E9A67E18}"/>
              </a:ext>
            </a:extLst>
          </p:cNvPr>
          <p:cNvSpPr/>
          <p:nvPr/>
        </p:nvSpPr>
        <p:spPr>
          <a:xfrm>
            <a:off x="3555890" y="2495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B2B4943-5007-F1D5-8B8D-CF526E9F15EA}"/>
              </a:ext>
            </a:extLst>
          </p:cNvPr>
          <p:cNvGrpSpPr/>
          <p:nvPr/>
        </p:nvGrpSpPr>
        <p:grpSpPr>
          <a:xfrm>
            <a:off x="502209" y="1101990"/>
            <a:ext cx="8401089" cy="1786905"/>
            <a:chOff x="471729" y="1700521"/>
            <a:chExt cx="8401089" cy="1786905"/>
          </a:xfrm>
        </p:grpSpPr>
        <p:sp>
          <p:nvSpPr>
            <p:cNvPr id="17" name="Shape 9">
              <a:extLst>
                <a:ext uri="{FF2B5EF4-FFF2-40B4-BE49-F238E27FC236}">
                  <a16:creationId xmlns:a16="http://schemas.microsoft.com/office/drawing/2014/main" id="{F7804131-4A74-767F-002E-700B3708B612}"/>
                </a:ext>
              </a:extLst>
            </p:cNvPr>
            <p:cNvSpPr/>
            <p:nvPr/>
          </p:nvSpPr>
          <p:spPr>
            <a:xfrm flipV="1">
              <a:off x="2367170" y="2464158"/>
              <a:ext cx="339317" cy="301988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0">
              <a:extLst>
                <a:ext uri="{FF2B5EF4-FFF2-40B4-BE49-F238E27FC236}">
                  <a16:creationId xmlns:a16="http://schemas.microsoft.com/office/drawing/2014/main" id="{7C1AFFDE-FA25-DF25-C090-2C1C188657EE}"/>
                </a:ext>
              </a:extLst>
            </p:cNvPr>
            <p:cNvSpPr/>
            <p:nvPr/>
          </p:nvSpPr>
          <p:spPr>
            <a:xfrm>
              <a:off x="4729408" y="2766146"/>
              <a:ext cx="472402" cy="0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12">
              <a:extLst>
                <a:ext uri="{FF2B5EF4-FFF2-40B4-BE49-F238E27FC236}">
                  <a16:creationId xmlns:a16="http://schemas.microsoft.com/office/drawing/2014/main" id="{E0324121-6BB8-0FA2-E15D-DDB8885F1AD4}"/>
                </a:ext>
              </a:extLst>
            </p:cNvPr>
            <p:cNvSpPr/>
            <p:nvPr/>
          </p:nvSpPr>
          <p:spPr>
            <a:xfrm>
              <a:off x="471729" y="2487975"/>
              <a:ext cx="1780855" cy="520455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Qwen2.5-Math-1.5B</a:t>
              </a:r>
              <a:endParaRPr lang="en-US" sz="1150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8A4280-83D0-869F-B730-E56F228E2821}"/>
                </a:ext>
              </a:extLst>
            </p:cNvPr>
            <p:cNvSpPr txBox="1"/>
            <p:nvPr/>
          </p:nvSpPr>
          <p:spPr>
            <a:xfrm>
              <a:off x="471729" y="2133571"/>
              <a:ext cx="100219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Base model</a:t>
              </a:r>
              <a:endParaRPr lang="en-US" sz="1200" i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Text 12">
              <a:extLst>
                <a:ext uri="{FF2B5EF4-FFF2-40B4-BE49-F238E27FC236}">
                  <a16:creationId xmlns:a16="http://schemas.microsoft.com/office/drawing/2014/main" id="{F9CDD983-096E-ECC2-0564-92404AA17E95}"/>
                </a:ext>
              </a:extLst>
            </p:cNvPr>
            <p:cNvSpPr/>
            <p:nvPr/>
          </p:nvSpPr>
          <p:spPr>
            <a:xfrm>
              <a:off x="2791145" y="2048672"/>
              <a:ext cx="1780855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SFT + </a:t>
              </a: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LoRA</a:t>
              </a: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 r8 / r4 / r2</a:t>
              </a:r>
            </a:p>
          </p:txBody>
        </p:sp>
        <p:sp>
          <p:nvSpPr>
            <p:cNvPr id="33" name="Text 12">
              <a:extLst>
                <a:ext uri="{FF2B5EF4-FFF2-40B4-BE49-F238E27FC236}">
                  <a16:creationId xmlns:a16="http://schemas.microsoft.com/office/drawing/2014/main" id="{BAF54328-6CE0-98FF-764A-EAE852050EBD}"/>
                </a:ext>
              </a:extLst>
            </p:cNvPr>
            <p:cNvSpPr/>
            <p:nvPr/>
          </p:nvSpPr>
          <p:spPr>
            <a:xfrm>
              <a:off x="2791145" y="2877387"/>
              <a:ext cx="1780855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GRPO + </a:t>
              </a: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LoRA</a:t>
              </a: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 r2</a:t>
              </a:r>
            </a:p>
          </p:txBody>
        </p:sp>
        <p:sp>
          <p:nvSpPr>
            <p:cNvPr id="34" name="Text 12">
              <a:extLst>
                <a:ext uri="{FF2B5EF4-FFF2-40B4-BE49-F238E27FC236}">
                  <a16:creationId xmlns:a16="http://schemas.microsoft.com/office/drawing/2014/main" id="{6849E445-E3BC-7CE2-62CF-E7FDA47BC656}"/>
                </a:ext>
              </a:extLst>
            </p:cNvPr>
            <p:cNvSpPr/>
            <p:nvPr/>
          </p:nvSpPr>
          <p:spPr>
            <a:xfrm>
              <a:off x="5443876" y="2464158"/>
              <a:ext cx="1363469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LoRA</a:t>
              </a: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-XS</a:t>
              </a:r>
            </a:p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feasibility run</a:t>
              </a:r>
            </a:p>
          </p:txBody>
        </p:sp>
        <p:sp>
          <p:nvSpPr>
            <p:cNvPr id="35" name="Text 12">
              <a:extLst>
                <a:ext uri="{FF2B5EF4-FFF2-40B4-BE49-F238E27FC236}">
                  <a16:creationId xmlns:a16="http://schemas.microsoft.com/office/drawing/2014/main" id="{088B98B6-78AE-DA1C-9CA1-4CC7906024C0}"/>
                </a:ext>
              </a:extLst>
            </p:cNvPr>
            <p:cNvSpPr/>
            <p:nvPr/>
          </p:nvSpPr>
          <p:spPr>
            <a:xfrm>
              <a:off x="7509349" y="2464158"/>
              <a:ext cx="1363469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TinyLoRA</a:t>
              </a:r>
              <a:endParaRPr lang="en-US" sz="1150" b="1" dirty="0">
                <a:solidFill>
                  <a:sysClr val="windowText" lastClr="0000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endParaRPr>
            </a:p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related work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E2EB35-9F84-7B39-2D0C-612696617C13}"/>
                </a:ext>
              </a:extLst>
            </p:cNvPr>
            <p:cNvSpPr txBox="1"/>
            <p:nvPr/>
          </p:nvSpPr>
          <p:spPr>
            <a:xfrm>
              <a:off x="2706487" y="1700521"/>
              <a:ext cx="122180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>
                <a:defRPr i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defRPr>
              </a:lvl1pPr>
            </a:lstStyle>
            <a:p>
              <a:r>
                <a:rPr lang="en-US" sz="1200" dirty="0"/>
                <a:t>Learning signal</a:t>
              </a:r>
            </a:p>
          </p:txBody>
        </p:sp>
        <p:sp>
          <p:nvSpPr>
            <p:cNvPr id="38" name="Shape 9">
              <a:extLst>
                <a:ext uri="{FF2B5EF4-FFF2-40B4-BE49-F238E27FC236}">
                  <a16:creationId xmlns:a16="http://schemas.microsoft.com/office/drawing/2014/main" id="{FA3CDCA9-FA67-23A7-39B1-07585954508D}"/>
                </a:ext>
              </a:extLst>
            </p:cNvPr>
            <p:cNvSpPr/>
            <p:nvPr/>
          </p:nvSpPr>
          <p:spPr>
            <a:xfrm>
              <a:off x="2376454" y="2834399"/>
              <a:ext cx="330034" cy="261983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10">
              <a:extLst>
                <a:ext uri="{FF2B5EF4-FFF2-40B4-BE49-F238E27FC236}">
                  <a16:creationId xmlns:a16="http://schemas.microsoft.com/office/drawing/2014/main" id="{0CA2B0BA-0FBB-3040-3316-43EC1273823A}"/>
                </a:ext>
              </a:extLst>
            </p:cNvPr>
            <p:cNvSpPr/>
            <p:nvPr/>
          </p:nvSpPr>
          <p:spPr>
            <a:xfrm>
              <a:off x="6947069" y="2766146"/>
              <a:ext cx="378291" cy="0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ED2E03-975F-4F32-85A9-C82D0B47A8A7}"/>
                </a:ext>
              </a:extLst>
            </p:cNvPr>
            <p:cNvSpPr txBox="1"/>
            <p:nvPr/>
          </p:nvSpPr>
          <p:spPr>
            <a:xfrm>
              <a:off x="5383693" y="2171870"/>
              <a:ext cx="21256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>
                <a:defRPr i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defRPr>
              </a:lvl1pPr>
            </a:lstStyle>
            <a:p>
              <a:r>
                <a:rPr lang="en-US" sz="1200" dirty="0"/>
                <a:t>Adapter family Exploration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C133510-A7C1-CC7D-445C-21AE5C9FA4EC}"/>
              </a:ext>
            </a:extLst>
          </p:cNvPr>
          <p:cNvSpPr txBox="1"/>
          <p:nvPr/>
        </p:nvSpPr>
        <p:spPr>
          <a:xfrm>
            <a:off x="355189" y="321848"/>
            <a:ext cx="34676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dk1"/>
                </a:solidFill>
                <a:latin typeface="VT323"/>
                <a:sym typeface="VT323"/>
              </a:rPr>
              <a:t>Project Workflow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CD57A754-94FF-9496-8505-EEF01E2FB420}"/>
              </a:ext>
            </a:extLst>
          </p:cNvPr>
          <p:cNvSpPr/>
          <p:nvPr/>
        </p:nvSpPr>
        <p:spPr>
          <a:xfrm>
            <a:off x="403025" y="3195196"/>
            <a:ext cx="8337950" cy="174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Inspired by </a:t>
            </a:r>
            <a:r>
              <a:rPr lang="en-US" sz="1200" i="1" dirty="0"/>
              <a:t>Learning to Reason in 13 Parameters</a:t>
            </a:r>
            <a:r>
              <a:rPr lang="en-US" sz="1200" dirty="0"/>
              <a:t>, which investigates how far ultra-small RL updates can improve reasoning.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Started with </a:t>
            </a:r>
            <a:r>
              <a:rPr lang="en-US" sz="1200" b="1" dirty="0"/>
              <a:t>SFT + </a:t>
            </a:r>
            <a:r>
              <a:rPr lang="en-US" sz="1200" b="1" dirty="0" err="1"/>
              <a:t>LoRA</a:t>
            </a:r>
            <a:r>
              <a:rPr lang="en-US" sz="1200" dirty="0"/>
              <a:t> on </a:t>
            </a:r>
            <a:r>
              <a:rPr lang="en-US" sz="1200" b="1" dirty="0"/>
              <a:t>Qwen2.5-Math-1.5B</a:t>
            </a:r>
            <a:r>
              <a:rPr lang="en-US" sz="1200" dirty="0"/>
              <a:t> with ranks </a:t>
            </a:r>
            <a:r>
              <a:rPr lang="en-US" sz="1200" b="1" dirty="0"/>
              <a:t>8 / 4 / 2</a:t>
            </a:r>
            <a:r>
              <a:rPr lang="en-US" sz="1200" dirty="0"/>
              <a:t> in a local notebook workflow.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Now pivoting to </a:t>
            </a:r>
            <a:r>
              <a:rPr lang="en-US" sz="1200" b="1" dirty="0"/>
              <a:t>GRPO + </a:t>
            </a:r>
            <a:r>
              <a:rPr lang="en-US" sz="1200" b="1" dirty="0" err="1"/>
              <a:t>LoRA</a:t>
            </a:r>
            <a:r>
              <a:rPr lang="en-US" sz="1200" b="1" dirty="0"/>
              <a:t> (rank 2)</a:t>
            </a:r>
            <a:r>
              <a:rPr lang="en-US" sz="1200" dirty="0"/>
              <a:t>, moving from supervised targets to reward-based optimization.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Evaluate on </a:t>
            </a:r>
            <a:r>
              <a:rPr lang="en-US" sz="1200" b="1" dirty="0"/>
              <a:t>GSM8K</a:t>
            </a:r>
            <a:r>
              <a:rPr lang="en-US" sz="1200" dirty="0"/>
              <a:t> and </a:t>
            </a:r>
            <a:r>
              <a:rPr lang="en-US" sz="1200" b="1" dirty="0"/>
              <a:t>Olympiad-style math</a:t>
            </a:r>
            <a:r>
              <a:rPr lang="en-US" sz="1200" dirty="0"/>
              <a:t> to test whether reasoning improvements transfer to harder problems.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Include </a:t>
            </a:r>
            <a:r>
              <a:rPr lang="en-US" sz="1200" b="1" dirty="0" err="1"/>
              <a:t>LoRA</a:t>
            </a:r>
            <a:r>
              <a:rPr lang="en-US" sz="1200" b="1" dirty="0"/>
              <a:t>-XS</a:t>
            </a:r>
            <a:r>
              <a:rPr lang="en-US" sz="1200" dirty="0"/>
              <a:t> as a feasibility check; keep </a:t>
            </a:r>
            <a:r>
              <a:rPr lang="en-US" sz="1200" b="1" dirty="0" err="1"/>
              <a:t>TinyLoRA</a:t>
            </a:r>
            <a:r>
              <a:rPr lang="en-US" sz="1200" dirty="0"/>
              <a:t> as related work and future work.</a:t>
            </a:r>
          </a:p>
        </p:txBody>
      </p:sp>
    </p:spTree>
    <p:extLst>
      <p:ext uri="{BB962C8B-B14F-4D97-AF65-F5344CB8AC3E}">
        <p14:creationId xmlns:p14="http://schemas.microsoft.com/office/powerpoint/2010/main" val="1037455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AE423BCD-BBFA-70A2-BD23-2DF7A72EF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FFC83419-C89F-5A00-DA46-F1E1DC0C55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</a:rPr>
              <a:t>Results Review</a:t>
            </a: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57887321-022B-2E4D-DB6B-F7733DA84B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75564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B626C95F-FE13-68A4-5FF8-E332614FEFD8}"/>
              </a:ext>
            </a:extLst>
          </p:cNvPr>
          <p:cNvSpPr/>
          <p:nvPr/>
        </p:nvSpPr>
        <p:spPr>
          <a:xfrm flipV="1">
            <a:off x="129786" y="734091"/>
            <a:ext cx="8733477" cy="9144"/>
          </a:xfrm>
          <a:prstGeom prst="rect">
            <a:avLst/>
          </a:prstGeom>
          <a:solidFill>
            <a:srgbClr val="E2E4E8"/>
          </a:solidFill>
          <a:ln>
            <a:solidFill>
              <a:srgbClr val="E2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A5166AA-AEFC-3AB4-A633-2240BFD9BD9C}"/>
              </a:ext>
            </a:extLst>
          </p:cNvPr>
          <p:cNvGrpSpPr/>
          <p:nvPr/>
        </p:nvGrpSpPr>
        <p:grpSpPr>
          <a:xfrm>
            <a:off x="572582" y="4623493"/>
            <a:ext cx="8141764" cy="253916"/>
            <a:chOff x="384048" y="6382512"/>
            <a:chExt cx="8464978" cy="253916"/>
          </a:xfrm>
        </p:grpSpPr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3D565973-8117-1CC8-F23D-CDA68A4EAD1A}"/>
                </a:ext>
              </a:extLst>
            </p:cNvPr>
            <p:cNvSpPr/>
            <p:nvPr/>
          </p:nvSpPr>
          <p:spPr>
            <a:xfrm>
              <a:off x="384048" y="6388494"/>
              <a:ext cx="8464978" cy="240905"/>
            </a:xfrm>
            <a:prstGeom prst="roundRect">
              <a:avLst/>
            </a:prstGeom>
            <a:solidFill>
              <a:srgbClr val="F5F6F8"/>
            </a:solidFill>
            <a:ln>
              <a:solidFill>
                <a:srgbClr val="E2E4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DCBD4DA-A260-F2EA-0DC6-E8E1A2C20A5C}"/>
                </a:ext>
              </a:extLst>
            </p:cNvPr>
            <p:cNvSpPr txBox="1"/>
            <p:nvPr/>
          </p:nvSpPr>
          <p:spPr>
            <a:xfrm>
              <a:off x="502920" y="6382512"/>
              <a:ext cx="584190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50" dirty="0">
                  <a:solidFill>
                    <a:srgbClr val="8E9299"/>
                  </a:solidFill>
                  <a:latin typeface="Arial"/>
                </a:rPr>
                <a:t>SFT + </a:t>
              </a:r>
              <a:r>
                <a:rPr sz="1050" dirty="0" err="1">
                  <a:solidFill>
                    <a:srgbClr val="8E9299"/>
                  </a:solidFill>
                  <a:latin typeface="Arial"/>
                </a:rPr>
                <a:t>LoRA</a:t>
              </a:r>
              <a:r>
                <a:rPr lang="zh-CN" altLang="en-US" sz="1050" dirty="0">
                  <a:solidFill>
                    <a:srgbClr val="8E9299"/>
                  </a:solidFill>
                  <a:latin typeface="Arial"/>
                </a:rPr>
                <a:t> </a:t>
              </a:r>
              <a:r>
                <a:rPr lang="en-US" altLang="zh-CN" sz="1050" dirty="0">
                  <a:solidFill>
                    <a:srgbClr val="8E9299"/>
                  </a:solidFill>
                  <a:latin typeface="Arial"/>
                </a:rPr>
                <a:t>has</a:t>
              </a:r>
              <a:r>
                <a:rPr lang="zh-CN" altLang="en-US" sz="1050" dirty="0">
                  <a:solidFill>
                    <a:srgbClr val="8E9299"/>
                  </a:solidFill>
                  <a:latin typeface="Arial"/>
                </a:rPr>
                <a:t> </a:t>
              </a:r>
              <a:r>
                <a:rPr lang="en-US" altLang="zh-CN" sz="1050" dirty="0">
                  <a:solidFill>
                    <a:srgbClr val="8E9299"/>
                  </a:solidFill>
                  <a:latin typeface="Arial"/>
                </a:rPr>
                <a:t>better</a:t>
              </a:r>
              <a:r>
                <a:rPr lang="zh-CN" altLang="en-US" sz="1050" dirty="0">
                  <a:solidFill>
                    <a:srgbClr val="8E9299"/>
                  </a:solidFill>
                  <a:latin typeface="Arial"/>
                </a:rPr>
                <a:t> </a:t>
              </a:r>
              <a:r>
                <a:rPr lang="en-US" altLang="zh-CN" sz="1050" dirty="0">
                  <a:solidFill>
                    <a:srgbClr val="8E9299"/>
                  </a:solidFill>
                  <a:latin typeface="Arial"/>
                </a:rPr>
                <a:t>accuracy</a:t>
              </a:r>
              <a:r>
                <a:rPr sz="1050" dirty="0">
                  <a:solidFill>
                    <a:srgbClr val="8E9299"/>
                  </a:solidFill>
                  <a:latin typeface="Arial"/>
                </a:rPr>
                <a:t>, while GRPO remained the most compact trainable setup.</a:t>
              </a:r>
            </a:p>
          </p:txBody>
        </p:sp>
      </p:grpSp>
      <p:sp>
        <p:nvSpPr>
          <p:cNvPr id="62" name="Google Shape;268;p37">
            <a:extLst>
              <a:ext uri="{FF2B5EF4-FFF2-40B4-BE49-F238E27FC236}">
                <a16:creationId xmlns:a16="http://schemas.microsoft.com/office/drawing/2014/main" id="{C7850438-AF2B-7CA0-E0B8-DBC6413524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273120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/>
              <a:t>Results at a Glance</a:t>
            </a:r>
            <a:br>
              <a:rPr lang="en-US" sz="2600" dirty="0"/>
            </a:br>
            <a:endParaRPr lang="en-US" sz="2600" dirty="0"/>
          </a:p>
        </p:txBody>
      </p:sp>
      <p:sp>
        <p:nvSpPr>
          <p:cNvPr id="63" name="Text 1">
            <a:extLst>
              <a:ext uri="{FF2B5EF4-FFF2-40B4-BE49-F238E27FC236}">
                <a16:creationId xmlns:a16="http://schemas.microsoft.com/office/drawing/2014/main" id="{0E478F88-E156-F686-8FC3-B957A83394EB}"/>
              </a:ext>
            </a:extLst>
          </p:cNvPr>
          <p:cNvSpPr/>
          <p:nvPr/>
        </p:nvSpPr>
        <p:spPr>
          <a:xfrm>
            <a:off x="384048" y="832104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050" i="1" dirty="0">
                <a:solidFill>
                  <a:srgbClr val="5B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r>
              <a:rPr lang="en-US" sz="1050" i="1" dirty="0">
                <a:solidFill>
                  <a:srgbClr val="5B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otebook run on </a:t>
            </a:r>
            <a:r>
              <a:rPr 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Reasoning</a:t>
            </a:r>
            <a:r>
              <a:rPr lang="zh-CN" alt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zh-CN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(</a:t>
            </a:r>
            <a:r>
              <a:rPr 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GSM8K</a:t>
            </a:r>
            <a:r>
              <a:rPr lang="en-US" altLang="zh-CN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)</a:t>
            </a:r>
            <a:r>
              <a:rPr lang="zh-CN" alt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-100</a:t>
            </a:r>
            <a:r>
              <a:rPr lang="zh-CN" alt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zh-CN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problems</a:t>
            </a:r>
            <a:r>
              <a:rPr 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, Olympiad-100</a:t>
            </a:r>
            <a:r>
              <a:rPr lang="zh-CN" altLang="en-US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zh-CN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problems</a:t>
            </a:r>
            <a:r>
              <a:rPr lang="en-US" sz="1050" i="1" dirty="0">
                <a:solidFill>
                  <a:srgbClr val="5B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AIMO-150</a:t>
            </a:r>
            <a:r>
              <a:rPr lang="zh-CN" altLang="en-US" sz="1050" i="1" dirty="0">
                <a:solidFill>
                  <a:srgbClr val="5B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050" i="1" dirty="0">
                <a:solidFill>
                  <a:srgbClr val="5B5B5B"/>
                </a:solidFill>
                <a:latin typeface="Arial" pitchFamily="34" charset="0"/>
                <a:cs typeface="Arial" pitchFamily="34" charset="-120"/>
              </a:rPr>
              <a:t>problems</a:t>
            </a:r>
            <a:endParaRPr lang="en-US" sz="1050" dirty="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17A311C-CDB0-13EA-CB2F-9ED64FD260F0}"/>
              </a:ext>
            </a:extLst>
          </p:cNvPr>
          <p:cNvGrpSpPr/>
          <p:nvPr/>
        </p:nvGrpSpPr>
        <p:grpSpPr>
          <a:xfrm>
            <a:off x="572582" y="1196715"/>
            <a:ext cx="8330905" cy="1468655"/>
            <a:chOff x="584495" y="1495765"/>
            <a:chExt cx="8330905" cy="1468655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0F76708-D4B6-5802-0478-B6446C525639}"/>
                </a:ext>
              </a:extLst>
            </p:cNvPr>
            <p:cNvGrpSpPr/>
            <p:nvPr/>
          </p:nvGrpSpPr>
          <p:grpSpPr>
            <a:xfrm>
              <a:off x="584495" y="1495765"/>
              <a:ext cx="3082249" cy="1459511"/>
              <a:chOff x="384048" y="1562581"/>
              <a:chExt cx="3082249" cy="1459511"/>
            </a:xfrm>
          </p:grpSpPr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563707FA-3C9C-78CE-2A26-6FA74E2A0915}"/>
                  </a:ext>
                </a:extLst>
              </p:cNvPr>
              <p:cNvSpPr/>
              <p:nvPr/>
            </p:nvSpPr>
            <p:spPr>
              <a:xfrm>
                <a:off x="384048" y="1562581"/>
                <a:ext cx="2415299" cy="1459511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E2E4E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75A318A-B8C7-BB6F-255F-ECDC5C11DB4F}"/>
                  </a:ext>
                </a:extLst>
              </p:cNvPr>
              <p:cNvSpPr txBox="1"/>
              <p:nvPr/>
            </p:nvSpPr>
            <p:spPr>
              <a:xfrm>
                <a:off x="467065" y="1627632"/>
                <a:ext cx="2999232" cy="2560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300" b="1" dirty="0">
                    <a:solidFill>
                      <a:srgbClr val="3F79E5"/>
                    </a:solidFill>
                    <a:latin typeface="Arial"/>
                  </a:rPr>
                  <a:t>Reasoning-100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F01B1AB-79F5-C03D-F1B2-E22393BDB8D7}"/>
                  </a:ext>
                </a:extLst>
              </p:cNvPr>
              <p:cNvSpPr txBox="1"/>
              <p:nvPr/>
            </p:nvSpPr>
            <p:spPr>
              <a:xfrm>
                <a:off x="467065" y="1883438"/>
                <a:ext cx="23322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</a:pPr>
                <a:r>
                  <a:rPr sz="1600" b="1" dirty="0">
                    <a:solidFill>
                      <a:srgbClr val="1F242C"/>
                    </a:solidFill>
                    <a:latin typeface="Arial"/>
                  </a:rPr>
                  <a:t>SFT </a:t>
                </a:r>
                <a:r>
                  <a:rPr sz="1600" b="1" dirty="0" err="1">
                    <a:solidFill>
                      <a:srgbClr val="1F242C"/>
                    </a:solidFill>
                    <a:latin typeface="Arial"/>
                  </a:rPr>
                  <a:t>LoRA</a:t>
                </a:r>
                <a:r>
                  <a:rPr sz="1600" b="1" dirty="0">
                    <a:solidFill>
                      <a:srgbClr val="1F242C"/>
                    </a:solidFill>
                    <a:latin typeface="Arial"/>
                  </a:rPr>
                  <a:t> r=2</a:t>
                </a:r>
              </a:p>
              <a:p>
                <a:pPr>
                  <a:spcAft>
                    <a:spcPts val="0"/>
                  </a:spcAft>
                </a:pPr>
                <a:r>
                  <a:rPr lang="en-US" altLang="zh-CN" sz="1600" b="1" dirty="0">
                    <a:solidFill>
                      <a:srgbClr val="1F242C"/>
                    </a:solidFill>
                    <a:latin typeface="Arial"/>
                  </a:rPr>
                  <a:t>ACC</a:t>
                </a:r>
                <a:r>
                  <a:rPr lang="zh-CN" altLang="en-US" sz="1600" b="1" dirty="0">
                    <a:solidFill>
                      <a:srgbClr val="1F242C"/>
                    </a:solidFill>
                    <a:latin typeface="Arial"/>
                  </a:rPr>
                  <a:t> </a:t>
                </a:r>
                <a:r>
                  <a:rPr lang="en-US" altLang="zh-CN" sz="1600" b="1" dirty="0">
                    <a:solidFill>
                      <a:srgbClr val="1F242C"/>
                    </a:solidFill>
                    <a:latin typeface="Arial"/>
                  </a:rPr>
                  <a:t>=</a:t>
                </a:r>
                <a:r>
                  <a:rPr lang="zh-CN" altLang="en-US" sz="1600" b="1" dirty="0">
                    <a:solidFill>
                      <a:srgbClr val="1F242C"/>
                    </a:solidFill>
                    <a:latin typeface="Arial"/>
                  </a:rPr>
                  <a:t> </a:t>
                </a:r>
                <a:r>
                  <a:rPr sz="1600" b="1" dirty="0">
                    <a:solidFill>
                      <a:srgbClr val="1F242C"/>
                    </a:solidFill>
                    <a:latin typeface="Arial"/>
                  </a:rPr>
                  <a:t>0.88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642BA5-9CCF-F853-E5BD-D2600F7D0429}"/>
                  </a:ext>
                </a:extLst>
              </p:cNvPr>
              <p:cNvSpPr txBox="1"/>
              <p:nvPr/>
            </p:nvSpPr>
            <p:spPr>
              <a:xfrm>
                <a:off x="467065" y="2603232"/>
                <a:ext cx="2999232" cy="384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</a:pPr>
                <a:r>
                  <a:rPr sz="900" dirty="0">
                    <a:solidFill>
                      <a:srgbClr val="8E9299"/>
                    </a:solidFill>
                    <a:latin typeface="Arial"/>
                  </a:rPr>
                  <a:t>Highest score on Reasoning-100; about</a:t>
                </a:r>
              </a:p>
              <a:p>
                <a:pPr>
                  <a:spcAft>
                    <a:spcPts val="0"/>
                  </a:spcAft>
                </a:pPr>
                <a:r>
                  <a:rPr sz="900" dirty="0">
                    <a:solidFill>
                      <a:srgbClr val="8E9299"/>
                    </a:solidFill>
                    <a:latin typeface="Arial"/>
                  </a:rPr>
                  <a:t>+0.02 over the base model.</a:t>
                </a:r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408398BF-56A6-5EDE-3B64-DEFB6BEB12DB}"/>
                </a:ext>
              </a:extLst>
            </p:cNvPr>
            <p:cNvGrpSpPr/>
            <p:nvPr/>
          </p:nvGrpSpPr>
          <p:grpSpPr>
            <a:xfrm>
              <a:off x="3437344" y="1504909"/>
              <a:ext cx="3082249" cy="1459511"/>
              <a:chOff x="384048" y="1562581"/>
              <a:chExt cx="3082249" cy="1459511"/>
            </a:xfrm>
          </p:grpSpPr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1B149047-9C69-4743-3A5C-C5707A08F107}"/>
                  </a:ext>
                </a:extLst>
              </p:cNvPr>
              <p:cNvSpPr/>
              <p:nvPr/>
            </p:nvSpPr>
            <p:spPr>
              <a:xfrm>
                <a:off x="384048" y="1562581"/>
                <a:ext cx="2415299" cy="1459511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E2E4E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77F217F-CE7F-3C26-30C1-C9E81ACDBFB4}"/>
                  </a:ext>
                </a:extLst>
              </p:cNvPr>
              <p:cNvSpPr txBox="1"/>
              <p:nvPr/>
            </p:nvSpPr>
            <p:spPr>
              <a:xfrm>
                <a:off x="467065" y="1627632"/>
                <a:ext cx="1281120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300" b="1" dirty="0">
                    <a:solidFill>
                      <a:srgbClr val="3F79E5"/>
                    </a:solidFill>
                    <a:latin typeface="Arial"/>
                  </a:rPr>
                  <a:t>Olympiad-100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8BF078B-352A-535C-E8E7-423F7A897040}"/>
                  </a:ext>
                </a:extLst>
              </p:cNvPr>
              <p:cNvSpPr txBox="1"/>
              <p:nvPr/>
            </p:nvSpPr>
            <p:spPr>
              <a:xfrm>
                <a:off x="467065" y="1883438"/>
                <a:ext cx="23322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rgbClr val="1F242C"/>
                    </a:solidFill>
                  </a:rPr>
                  <a:t>SFT </a:t>
                </a:r>
                <a:r>
                  <a:rPr lang="en-US" sz="1600" b="1" dirty="0" err="1">
                    <a:solidFill>
                      <a:srgbClr val="1F242C"/>
                    </a:solidFill>
                  </a:rPr>
                  <a:t>LoRA</a:t>
                </a:r>
                <a:endParaRPr lang="en-US" sz="1600" b="1" dirty="0">
                  <a:solidFill>
                    <a:srgbClr val="1F242C"/>
                  </a:solidFill>
                </a:endParaRPr>
              </a:p>
              <a:p>
                <a:r>
                  <a:rPr lang="en-US" sz="1600" b="1" dirty="0">
                    <a:solidFill>
                      <a:srgbClr val="1F242C"/>
                    </a:solidFill>
                  </a:rPr>
                  <a:t>r=2 / r=4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60008E5-C00B-1D0C-C2BF-9ECB764F8D5D}"/>
                  </a:ext>
                </a:extLst>
              </p:cNvPr>
              <p:cNvSpPr txBox="1"/>
              <p:nvPr/>
            </p:nvSpPr>
            <p:spPr>
              <a:xfrm>
                <a:off x="467065" y="2603232"/>
                <a:ext cx="2999232" cy="384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900" dirty="0">
                    <a:solidFill>
                      <a:srgbClr val="8E9299"/>
                    </a:solidFill>
                  </a:rPr>
                  <a:t>Top Olympiad result; both r=2 and r=4</a:t>
                </a:r>
              </a:p>
              <a:p>
                <a:r>
                  <a:rPr lang="en-US" sz="900" dirty="0">
                    <a:solidFill>
                      <a:srgbClr val="8E9299"/>
                    </a:solidFill>
                  </a:rPr>
                  <a:t>reached 0.59.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D074551-534B-BE72-12F4-4DB60140F883}"/>
                </a:ext>
              </a:extLst>
            </p:cNvPr>
            <p:cNvGrpSpPr/>
            <p:nvPr/>
          </p:nvGrpSpPr>
          <p:grpSpPr>
            <a:xfrm>
              <a:off x="6290192" y="1495765"/>
              <a:ext cx="2625208" cy="1459511"/>
              <a:chOff x="384048" y="1562581"/>
              <a:chExt cx="2625208" cy="1459511"/>
            </a:xfrm>
          </p:grpSpPr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A3D810D2-64DD-EDF0-E803-56E455603EDE}"/>
                  </a:ext>
                </a:extLst>
              </p:cNvPr>
              <p:cNvSpPr/>
              <p:nvPr/>
            </p:nvSpPr>
            <p:spPr>
              <a:xfrm>
                <a:off x="384048" y="1562581"/>
                <a:ext cx="2415299" cy="1459511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E2E4E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79A7A8B-207B-1981-DB25-0891AC178E0F}"/>
                  </a:ext>
                </a:extLst>
              </p:cNvPr>
              <p:cNvSpPr txBox="1"/>
              <p:nvPr/>
            </p:nvSpPr>
            <p:spPr>
              <a:xfrm>
                <a:off x="467065" y="1627632"/>
                <a:ext cx="955711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300" b="1" dirty="0">
                    <a:solidFill>
                      <a:srgbClr val="3F79E5"/>
                    </a:solidFill>
                  </a:rPr>
                  <a:t>AIMO-150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22E3445-057E-2821-6CA8-65885DD6BCD2}"/>
                  </a:ext>
                </a:extLst>
              </p:cNvPr>
              <p:cNvSpPr txBox="1"/>
              <p:nvPr/>
            </p:nvSpPr>
            <p:spPr>
              <a:xfrm>
                <a:off x="467065" y="1883438"/>
                <a:ext cx="23322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rgbClr val="1F242C"/>
                    </a:solidFill>
                  </a:rPr>
                  <a:t>SFT </a:t>
                </a:r>
                <a:r>
                  <a:rPr lang="en-US" sz="1600" b="1" dirty="0" err="1">
                    <a:solidFill>
                      <a:srgbClr val="1F242C"/>
                    </a:solidFill>
                  </a:rPr>
                  <a:t>LoRA</a:t>
                </a:r>
                <a:r>
                  <a:rPr lang="en-US" sz="1600" b="1" dirty="0">
                    <a:solidFill>
                      <a:srgbClr val="1F242C"/>
                    </a:solidFill>
                  </a:rPr>
                  <a:t> r=4</a:t>
                </a:r>
              </a:p>
              <a:p>
                <a:r>
                  <a:rPr lang="en-US" sz="1600" b="1" dirty="0">
                    <a:solidFill>
                      <a:srgbClr val="1F242C"/>
                    </a:solidFill>
                  </a:rPr>
                  <a:t>0.733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B421273-6021-4299-944F-F6767B0A4DDA}"/>
                  </a:ext>
                </a:extLst>
              </p:cNvPr>
              <p:cNvSpPr txBox="1"/>
              <p:nvPr/>
            </p:nvSpPr>
            <p:spPr>
              <a:xfrm>
                <a:off x="467065" y="2473466"/>
                <a:ext cx="2542191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900" dirty="0">
                    <a:solidFill>
                      <a:srgbClr val="8E9299"/>
                    </a:solidFill>
                  </a:rPr>
                  <a:t>Best AIMO score in the final run; the</a:t>
                </a:r>
              </a:p>
              <a:p>
                <a:r>
                  <a:rPr lang="en-US" sz="900" dirty="0">
                    <a:solidFill>
                      <a:srgbClr val="8E9299"/>
                    </a:solidFill>
                  </a:rPr>
                  <a:t>harder set favored a slightly larger</a:t>
                </a:r>
              </a:p>
              <a:p>
                <a:r>
                  <a:rPr lang="en-US" sz="900" dirty="0">
                    <a:solidFill>
                      <a:srgbClr val="8E9299"/>
                    </a:solidFill>
                  </a:rPr>
                  <a:t>adapter.</a:t>
                </a:r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3E4465A8-9FDC-4E12-8C43-CA1BFC26F25F}"/>
              </a:ext>
            </a:extLst>
          </p:cNvPr>
          <p:cNvGrpSpPr/>
          <p:nvPr/>
        </p:nvGrpSpPr>
        <p:grpSpPr>
          <a:xfrm>
            <a:off x="572582" y="2921754"/>
            <a:ext cx="8120996" cy="1468655"/>
            <a:chOff x="736895" y="1648165"/>
            <a:chExt cx="8120996" cy="1468655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8DC1A5E-6E81-8282-01FF-4AB4033B3FD2}"/>
                </a:ext>
              </a:extLst>
            </p:cNvPr>
            <p:cNvGrpSpPr/>
            <p:nvPr/>
          </p:nvGrpSpPr>
          <p:grpSpPr>
            <a:xfrm>
              <a:off x="736895" y="1648165"/>
              <a:ext cx="2510229" cy="1459511"/>
              <a:chOff x="384048" y="1562581"/>
              <a:chExt cx="2510229" cy="1459511"/>
            </a:xfrm>
          </p:grpSpPr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29F4A94D-829C-D8C8-0568-9C524B83E6B5}"/>
                  </a:ext>
                </a:extLst>
              </p:cNvPr>
              <p:cNvSpPr/>
              <p:nvPr/>
            </p:nvSpPr>
            <p:spPr>
              <a:xfrm>
                <a:off x="384048" y="1562581"/>
                <a:ext cx="2415299" cy="1459511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E2E4E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3F7EA50-A0A7-FD5F-984A-75C7A165CE11}"/>
                  </a:ext>
                </a:extLst>
              </p:cNvPr>
              <p:cNvSpPr txBox="1"/>
              <p:nvPr/>
            </p:nvSpPr>
            <p:spPr>
              <a:xfrm>
                <a:off x="467065" y="1627632"/>
                <a:ext cx="2154757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300" b="1" dirty="0">
                    <a:solidFill>
                      <a:srgbClr val="3F79E5"/>
                    </a:solidFill>
                  </a:rPr>
                  <a:t>GRPO </a:t>
                </a:r>
                <a:r>
                  <a:rPr lang="en-US" altLang="zh-CN" sz="1300" b="1" dirty="0" err="1">
                    <a:solidFill>
                      <a:srgbClr val="3F79E5"/>
                    </a:solidFill>
                  </a:rPr>
                  <a:t>LoRA</a:t>
                </a:r>
                <a:r>
                  <a:rPr lang="zh-CN" altLang="en-US" sz="1300" b="1" dirty="0">
                    <a:solidFill>
                      <a:srgbClr val="3F79E5"/>
                    </a:solidFill>
                  </a:rPr>
                  <a:t> </a:t>
                </a:r>
                <a:r>
                  <a:rPr lang="en-US" sz="1300" b="1" dirty="0">
                    <a:solidFill>
                      <a:srgbClr val="3F79E5"/>
                    </a:solidFill>
                  </a:rPr>
                  <a:t>r=2 params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0393671-DBC7-CB22-D8E9-1AF11F45A0D0}"/>
                  </a:ext>
                </a:extLst>
              </p:cNvPr>
              <p:cNvSpPr txBox="1"/>
              <p:nvPr/>
            </p:nvSpPr>
            <p:spPr>
              <a:xfrm>
                <a:off x="467065" y="1883438"/>
                <a:ext cx="233228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</a:pPr>
                <a:r>
                  <a:rPr lang="en-US" sz="1600" b="1" dirty="0">
                    <a:solidFill>
                      <a:srgbClr val="1F242C"/>
                    </a:solidFill>
                    <a:latin typeface="Arial"/>
                  </a:rPr>
                  <a:t>272</a:t>
                </a:r>
                <a:r>
                  <a:rPr lang="en-US" altLang="zh-CN" sz="1600" b="1" dirty="0">
                    <a:solidFill>
                      <a:srgbClr val="1F242C"/>
                    </a:solidFill>
                  </a:rPr>
                  <a:t>K</a:t>
                </a:r>
                <a:endParaRPr lang="en-US" sz="1600" b="1" dirty="0">
                  <a:solidFill>
                    <a:srgbClr val="1F242C"/>
                  </a:solidFill>
                  <a:latin typeface="Arial"/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94709762-15DD-C8EB-26C1-CD067A6E4CCB}"/>
                  </a:ext>
                </a:extLst>
              </p:cNvPr>
              <p:cNvSpPr txBox="1"/>
              <p:nvPr/>
            </p:nvSpPr>
            <p:spPr>
              <a:xfrm>
                <a:off x="478978" y="2506185"/>
                <a:ext cx="2415299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900" dirty="0">
                    <a:solidFill>
                      <a:srgbClr val="8E9299"/>
                    </a:solidFill>
                  </a:rPr>
                  <a:t>Smallest trainable budget among the</a:t>
                </a:r>
              </a:p>
              <a:p>
                <a:r>
                  <a:rPr lang="en-US" sz="900" dirty="0">
                    <a:solidFill>
                      <a:srgbClr val="8E9299"/>
                    </a:solidFill>
                  </a:rPr>
                  <a:t>compared methods, about 8.5× smaller than</a:t>
                </a:r>
                <a:r>
                  <a:rPr lang="zh-CN" altLang="en-US" sz="900" dirty="0">
                    <a:solidFill>
                      <a:srgbClr val="8E9299"/>
                    </a:solidFill>
                  </a:rPr>
                  <a:t> </a:t>
                </a:r>
                <a:r>
                  <a:rPr lang="en-US" sz="900" dirty="0">
                    <a:solidFill>
                      <a:srgbClr val="8E9299"/>
                    </a:solidFill>
                  </a:rPr>
                  <a:t>SFT</a:t>
                </a:r>
                <a:r>
                  <a:rPr lang="zh-CN" altLang="en-US" sz="900" dirty="0">
                    <a:solidFill>
                      <a:srgbClr val="8E9299"/>
                    </a:solidFill>
                  </a:rPr>
                  <a:t> </a:t>
                </a:r>
                <a:r>
                  <a:rPr lang="en-US" altLang="zh-CN" sz="900" dirty="0" err="1">
                    <a:solidFill>
                      <a:srgbClr val="8E9299"/>
                    </a:solidFill>
                  </a:rPr>
                  <a:t>LoRA</a:t>
                </a:r>
                <a:r>
                  <a:rPr lang="en-US" sz="900" dirty="0">
                    <a:solidFill>
                      <a:srgbClr val="8E9299"/>
                    </a:solidFill>
                  </a:rPr>
                  <a:t> r=2.</a:t>
                </a:r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9D67F8BD-0B27-0A0B-6F31-09FADAA98F88}"/>
                </a:ext>
              </a:extLst>
            </p:cNvPr>
            <p:cNvGrpSpPr/>
            <p:nvPr/>
          </p:nvGrpSpPr>
          <p:grpSpPr>
            <a:xfrm>
              <a:off x="3589744" y="1657309"/>
              <a:ext cx="2415299" cy="1459511"/>
              <a:chOff x="384048" y="1562581"/>
              <a:chExt cx="2415299" cy="1459511"/>
            </a:xfrm>
          </p:grpSpPr>
          <p:sp>
            <p:nvSpPr>
              <p:cNvPr id="82" name="Rounded Rectangle 81">
                <a:extLst>
                  <a:ext uri="{FF2B5EF4-FFF2-40B4-BE49-F238E27FC236}">
                    <a16:creationId xmlns:a16="http://schemas.microsoft.com/office/drawing/2014/main" id="{00F90159-E374-9FFE-0C2C-0B35EB996F2D}"/>
                  </a:ext>
                </a:extLst>
              </p:cNvPr>
              <p:cNvSpPr/>
              <p:nvPr/>
            </p:nvSpPr>
            <p:spPr>
              <a:xfrm>
                <a:off x="384048" y="1562581"/>
                <a:ext cx="2415299" cy="1459511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E2E4E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46792F-6FDD-F798-E4F9-E3DF57D894F6}"/>
                  </a:ext>
                </a:extLst>
              </p:cNvPr>
              <p:cNvSpPr txBox="1"/>
              <p:nvPr/>
            </p:nvSpPr>
            <p:spPr>
              <a:xfrm>
                <a:off x="467065" y="1627632"/>
                <a:ext cx="1933543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300" b="1" dirty="0">
                    <a:solidFill>
                      <a:srgbClr val="3F79E5"/>
                    </a:solidFill>
                  </a:rPr>
                  <a:t>SFT </a:t>
                </a:r>
                <a:r>
                  <a:rPr lang="en-US" altLang="zh-CN" sz="1300" b="1" dirty="0" err="1">
                    <a:solidFill>
                      <a:srgbClr val="3F79E5"/>
                    </a:solidFill>
                  </a:rPr>
                  <a:t>LoRA</a:t>
                </a:r>
                <a:r>
                  <a:rPr lang="zh-CN" altLang="en-US" sz="1300" b="1" dirty="0">
                    <a:solidFill>
                      <a:srgbClr val="3F79E5"/>
                    </a:solidFill>
                  </a:rPr>
                  <a:t> </a:t>
                </a:r>
                <a:r>
                  <a:rPr lang="en-US" sz="1300" b="1" dirty="0">
                    <a:solidFill>
                      <a:srgbClr val="3F79E5"/>
                    </a:solidFill>
                  </a:rPr>
                  <a:t>r=2 params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6295148-7107-2D6C-DC99-04B49E23C4D8}"/>
                  </a:ext>
                </a:extLst>
              </p:cNvPr>
              <p:cNvSpPr txBox="1"/>
              <p:nvPr/>
            </p:nvSpPr>
            <p:spPr>
              <a:xfrm>
                <a:off x="467065" y="1883438"/>
                <a:ext cx="233228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rgbClr val="1F242C"/>
                    </a:solidFill>
                  </a:rPr>
                  <a:t>2</a:t>
                </a:r>
                <a:r>
                  <a:rPr lang="en-US" altLang="zh-CN" sz="1600" b="1" dirty="0">
                    <a:solidFill>
                      <a:srgbClr val="1F242C"/>
                    </a:solidFill>
                  </a:rPr>
                  <a:t>.</a:t>
                </a:r>
                <a:r>
                  <a:rPr lang="en-US" sz="1600" b="1" dirty="0">
                    <a:solidFill>
                      <a:srgbClr val="1F242C"/>
                    </a:solidFill>
                  </a:rPr>
                  <a:t>3</a:t>
                </a:r>
                <a:r>
                  <a:rPr lang="en-US" altLang="zh-CN" sz="1600" b="1" dirty="0">
                    <a:solidFill>
                      <a:srgbClr val="1F242C"/>
                    </a:solidFill>
                  </a:rPr>
                  <a:t>M</a:t>
                </a:r>
                <a:endParaRPr lang="en-US" sz="1600" b="1" dirty="0">
                  <a:solidFill>
                    <a:srgbClr val="1F242C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0F2DE56-09A3-0998-4BE7-1E82B098D7C5}"/>
                  </a:ext>
                </a:extLst>
              </p:cNvPr>
              <p:cNvSpPr txBox="1"/>
              <p:nvPr/>
            </p:nvSpPr>
            <p:spPr>
              <a:xfrm>
                <a:off x="467065" y="2497041"/>
                <a:ext cx="2332282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900" dirty="0">
                    <a:solidFill>
                      <a:srgbClr val="8E9299"/>
                    </a:solidFill>
                  </a:rPr>
                  <a:t>Still modest relative to full fine-tuning,</a:t>
                </a:r>
              </a:p>
              <a:p>
                <a:r>
                  <a:rPr lang="en-US" sz="900" dirty="0">
                    <a:solidFill>
                      <a:srgbClr val="8E9299"/>
                    </a:solidFill>
                  </a:rPr>
                  <a:t>but much stronger in raw accuracy across</a:t>
                </a:r>
              </a:p>
              <a:p>
                <a:r>
                  <a:rPr lang="en-US" sz="900" dirty="0">
                    <a:solidFill>
                      <a:srgbClr val="8E9299"/>
                    </a:solidFill>
                  </a:rPr>
                  <a:t>the three sets.</a:t>
                </a:r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1ABA46E-A530-D5FB-0D08-0423D2735208}"/>
                </a:ext>
              </a:extLst>
            </p:cNvPr>
            <p:cNvGrpSpPr/>
            <p:nvPr/>
          </p:nvGrpSpPr>
          <p:grpSpPr>
            <a:xfrm>
              <a:off x="6442592" y="1648165"/>
              <a:ext cx="2415299" cy="1459511"/>
              <a:chOff x="384048" y="1562581"/>
              <a:chExt cx="2415299" cy="1459511"/>
            </a:xfrm>
          </p:grpSpPr>
          <p:sp>
            <p:nvSpPr>
              <p:cNvPr id="87" name="Rounded Rectangle 86">
                <a:extLst>
                  <a:ext uri="{FF2B5EF4-FFF2-40B4-BE49-F238E27FC236}">
                    <a16:creationId xmlns:a16="http://schemas.microsoft.com/office/drawing/2014/main" id="{5EDC006E-B5EE-94CC-231F-FF1831F723AA}"/>
                  </a:ext>
                </a:extLst>
              </p:cNvPr>
              <p:cNvSpPr/>
              <p:nvPr/>
            </p:nvSpPr>
            <p:spPr>
              <a:xfrm>
                <a:off x="384048" y="1562581"/>
                <a:ext cx="2415299" cy="1459511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E2E4E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D01FD8F-0AC0-43A4-41D2-26AFF94C124F}"/>
                  </a:ext>
                </a:extLst>
              </p:cNvPr>
              <p:cNvSpPr txBox="1"/>
              <p:nvPr/>
            </p:nvSpPr>
            <p:spPr>
              <a:xfrm>
                <a:off x="467065" y="1627632"/>
                <a:ext cx="1334020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300" b="1" dirty="0">
                    <a:solidFill>
                      <a:srgbClr val="3F79E5"/>
                    </a:solidFill>
                  </a:rPr>
                  <a:t>GRPO runtime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BB6942B8-0A56-29AB-08F3-D0B7138075BD}"/>
                  </a:ext>
                </a:extLst>
              </p:cNvPr>
              <p:cNvSpPr txBox="1"/>
              <p:nvPr/>
            </p:nvSpPr>
            <p:spPr>
              <a:xfrm>
                <a:off x="467065" y="1883438"/>
                <a:ext cx="233228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rgbClr val="1F242C"/>
                    </a:solidFill>
                  </a:rPr>
                  <a:t>30,838.75s</a:t>
                </a: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4408C7A-312E-671C-A763-2312824B5F55}"/>
                  </a:ext>
                </a:extLst>
              </p:cNvPr>
              <p:cNvSpPr txBox="1"/>
              <p:nvPr/>
            </p:nvSpPr>
            <p:spPr>
              <a:xfrm>
                <a:off x="467065" y="2513236"/>
                <a:ext cx="2332282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900" dirty="0">
                    <a:solidFill>
                      <a:srgbClr val="8E9299"/>
                    </a:solidFill>
                  </a:rPr>
                  <a:t>Much slower than the SFT runs in this CPU</a:t>
                </a:r>
                <a:r>
                  <a:rPr lang="zh-CN" altLang="en-US" sz="900" dirty="0">
                    <a:solidFill>
                      <a:srgbClr val="8E9299"/>
                    </a:solidFill>
                  </a:rPr>
                  <a:t> </a:t>
                </a:r>
                <a:r>
                  <a:rPr lang="en-US" sz="900" dirty="0">
                    <a:solidFill>
                      <a:srgbClr val="8E9299"/>
                    </a:solidFill>
                  </a:rPr>
                  <a:t>setup, even though its adapter was</a:t>
                </a:r>
              </a:p>
              <a:p>
                <a:r>
                  <a:rPr lang="en-US" sz="900" dirty="0">
                    <a:solidFill>
                      <a:srgbClr val="8E9299"/>
                    </a:solidFill>
                  </a:rPr>
                  <a:t>smaller.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89565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C531FC69-45F7-843E-4E6A-02FE1901D59F}"/>
              </a:ext>
            </a:extLst>
          </p:cNvPr>
          <p:cNvSpPr/>
          <p:nvPr/>
        </p:nvSpPr>
        <p:spPr>
          <a:xfrm>
            <a:off x="594360" y="384048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rPr>
              <a:t>Benchmark Performance</a:t>
            </a: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23313EE4-1730-0F55-CD95-012A93F34A5A}"/>
              </a:ext>
            </a:extLst>
          </p:cNvPr>
          <p:cNvSpPr/>
          <p:nvPr/>
        </p:nvSpPr>
        <p:spPr>
          <a:xfrm>
            <a:off x="621792" y="841248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across all evaluated conditions</a:t>
            </a:r>
            <a:endParaRPr lang="en-US" sz="1050" dirty="0"/>
          </a:p>
        </p:txBody>
      </p:sp>
      <p:pic>
        <p:nvPicPr>
          <p:cNvPr id="16" name="Image 1" descr="/mnt/data/charts/accuracy_grouped.png">
            <a:extLst>
              <a:ext uri="{FF2B5EF4-FFF2-40B4-BE49-F238E27FC236}">
                <a16:creationId xmlns:a16="http://schemas.microsoft.com/office/drawing/2014/main" id="{07EBDCF1-D775-7475-5015-CF833C47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" y="1459937"/>
            <a:ext cx="5527040" cy="2517703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98F9A6A5-032D-220F-E263-996E22A9E4DA}"/>
              </a:ext>
            </a:extLst>
          </p:cNvPr>
          <p:cNvSpPr/>
          <p:nvPr/>
        </p:nvSpPr>
        <p:spPr>
          <a:xfrm>
            <a:off x="6223000" y="841248"/>
            <a:ext cx="1261872" cy="256032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Reasoning-100</a:t>
            </a:r>
            <a:endParaRPr lang="en-US" sz="105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CAC8FF6A-BB06-05DD-BECE-A0C0073F33AA}"/>
              </a:ext>
            </a:extLst>
          </p:cNvPr>
          <p:cNvSpPr/>
          <p:nvPr/>
        </p:nvSpPr>
        <p:spPr>
          <a:xfrm>
            <a:off x="6223000" y="1051560"/>
            <a:ext cx="2727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was already strong at 0.86, but SFT LoRA r=2 still improved it to 0.88. GRPO matched the base and did not add extra gain in this run.</a:t>
            </a:r>
            <a:endParaRPr lang="en-US" sz="12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7E3ABE7A-2884-691F-BB77-3F3EC15AE11D}"/>
              </a:ext>
            </a:extLst>
          </p:cNvPr>
          <p:cNvSpPr/>
          <p:nvPr/>
        </p:nvSpPr>
        <p:spPr>
          <a:xfrm>
            <a:off x="6223000" y="2024888"/>
            <a:ext cx="1261872" cy="256032"/>
          </a:xfrm>
          <a:prstGeom prst="rect">
            <a:avLst/>
          </a:prstGeom>
          <a:solidFill>
            <a:srgbClr val="F0E9FF"/>
          </a:solidFill>
          <a:ln>
            <a:solidFill>
              <a:srgbClr val="F0E9FF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Olympiad-100</a:t>
            </a:r>
            <a:endParaRPr lang="en-US" sz="105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33B69364-3496-4046-7300-3DD8D7938844}"/>
              </a:ext>
            </a:extLst>
          </p:cNvPr>
          <p:cNvSpPr/>
          <p:nvPr/>
        </p:nvSpPr>
        <p:spPr>
          <a:xfrm>
            <a:off x="6223000" y="2221484"/>
            <a:ext cx="2727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dirty="0">
                <a:solidFill>
                  <a:srgbClr val="1F1F1F"/>
                </a:solidFill>
                <a:latin typeface="Arial" pitchFamily="34" charset="0"/>
                <a:cs typeface="Arial" pitchFamily="34" charset="-120"/>
              </a:rPr>
              <a:t>This was the closest benchmark: SFT LoRA r=2 and r=4 both reached 0.59, while GRPO reached 0.58. The gains were modest but consistent.</a:t>
            </a: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53A28E5-8959-46E2-CF1C-8EEC3BB82310}"/>
              </a:ext>
            </a:extLst>
          </p:cNvPr>
          <p:cNvSpPr/>
          <p:nvPr/>
        </p:nvSpPr>
        <p:spPr>
          <a:xfrm>
            <a:off x="6223000" y="3135884"/>
            <a:ext cx="1078992" cy="256032"/>
          </a:xfrm>
          <a:prstGeom prst="rect">
            <a:avLst/>
          </a:prstGeom>
          <a:solidFill>
            <a:srgbClr val="FFF0E6"/>
          </a:solidFill>
          <a:ln>
            <a:solidFill>
              <a:srgbClr val="FFF0E6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AIMO-150</a:t>
            </a:r>
            <a:endParaRPr lang="en-US" sz="10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432D6FC0-8095-AF84-E39B-5AC59816635E}"/>
              </a:ext>
            </a:extLst>
          </p:cNvPr>
          <p:cNvSpPr/>
          <p:nvPr/>
        </p:nvSpPr>
        <p:spPr>
          <a:xfrm>
            <a:off x="6223000" y="3433572"/>
            <a:ext cx="2656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Arial" pitchFamily="34" charset="0"/>
                <a:cs typeface="Arial" pitchFamily="34" charset="-120"/>
              </a:rPr>
              <a:t>AIMO favored a slightly larger adapter: SFT LoRA r=4 achieved the best score at 0.733, outperforming both r=2/r=8 and GRPO.</a:t>
            </a:r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A0363F51-538A-CF6F-A5F1-70F4EBD36953}"/>
              </a:ext>
            </a:extLst>
          </p:cNvPr>
          <p:cNvSpPr/>
          <p:nvPr/>
        </p:nvSpPr>
        <p:spPr>
          <a:xfrm>
            <a:off x="335280" y="4552077"/>
            <a:ext cx="8795512" cy="34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</a:t>
            </a:r>
            <a:r>
              <a:rPr lang="en-US" sz="15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altLang="zh-CN" sz="15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15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maller LoRA ranks were enough to help, but the best rank depended on benchmark difficulty and distribution.</a:t>
            </a:r>
            <a:endParaRPr lang="en-US" sz="1550" dirty="0"/>
          </a:p>
        </p:txBody>
      </p:sp>
    </p:spTree>
    <p:extLst>
      <p:ext uri="{BB962C8B-B14F-4D97-AF65-F5344CB8AC3E}">
        <p14:creationId xmlns:p14="http://schemas.microsoft.com/office/powerpoint/2010/main" val="3475238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57016F7-1641-7DCC-92D9-CB9683D6064E}"/>
              </a:ext>
            </a:extLst>
          </p:cNvPr>
          <p:cNvSpPr/>
          <p:nvPr/>
        </p:nvSpPr>
        <p:spPr>
          <a:xfrm>
            <a:off x="201930" y="3620910"/>
            <a:ext cx="8740140" cy="1332992"/>
          </a:xfrm>
          <a:prstGeom prst="roundRect">
            <a:avLst/>
          </a:prstGeom>
          <a:solidFill>
            <a:srgbClr val="FAFAFB"/>
          </a:solidFill>
          <a:ln>
            <a:solidFill>
              <a:srgbClr val="E2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281068E5-217D-4498-8759-D555E399864F}"/>
              </a:ext>
            </a:extLst>
          </p:cNvPr>
          <p:cNvSpPr/>
          <p:nvPr/>
        </p:nvSpPr>
        <p:spPr>
          <a:xfrm>
            <a:off x="594360" y="176078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Efficiency Trade-offs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FF52EC13-272F-5E14-99E2-16CDB5F25895}"/>
              </a:ext>
            </a:extLst>
          </p:cNvPr>
          <p:cNvSpPr/>
          <p:nvPr/>
        </p:nvSpPr>
        <p:spPr>
          <a:xfrm>
            <a:off x="594360" y="668528"/>
            <a:ext cx="1420368" cy="1332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budget, training time, and where GRPO was strongest</a:t>
            </a:r>
            <a:endParaRPr lang="en-US" sz="1050" dirty="0"/>
          </a:p>
        </p:txBody>
      </p:sp>
      <p:pic>
        <p:nvPicPr>
          <p:cNvPr id="11" name="Image 1" descr="/mnt/data/charts/efficiency_scatter.png">
            <a:extLst>
              <a:ext uri="{FF2B5EF4-FFF2-40B4-BE49-F238E27FC236}">
                <a16:creationId xmlns:a16="http://schemas.microsoft.com/office/drawing/2014/main" id="{E45B6BF5-97E7-4B52-BC51-55DE9BF4D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321" y="772724"/>
            <a:ext cx="6334760" cy="2616468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033508BE-B1A3-B400-DB41-3440DD58275C}"/>
              </a:ext>
            </a:extLst>
          </p:cNvPr>
          <p:cNvSpPr/>
          <p:nvPr/>
        </p:nvSpPr>
        <p:spPr>
          <a:xfrm>
            <a:off x="321310" y="3590430"/>
            <a:ext cx="8620760" cy="15691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GRPO LoRA r=2 had the smallest trainable budget: 272k parameters (0.0176% of the model), versus 2.31M / 4.62M / 9.23M for SFT r=2 / r=4 / r=8.</a:t>
            </a:r>
          </a:p>
          <a:p>
            <a:pPr marL="285750" indent="-285750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parameter efficiency did not translate into </a:t>
            </a:r>
            <a:r>
              <a:rPr lang="en-US" altLang="zh-CN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r>
              <a:rPr lang="en-US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efficiency here: GRPO took about 30,839 seconds to train, while the SFT runs finished in about 439–555 seconds.</a:t>
            </a:r>
            <a:endParaRPr lang="en-US" sz="11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SFT </a:t>
            </a:r>
            <a:r>
              <a:rPr lang="en-US" sz="11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</a:t>
            </a:r>
            <a:r>
              <a:rPr lang="en-US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r=8 was the fastest trained model, yet it was not the most accurate; in practice, r=2 or r=4 gave a better accuracy-cost balance.</a:t>
            </a:r>
            <a:endParaRPr lang="en-US" sz="11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1300"/>
              </a:lnSpc>
              <a:buNone/>
            </a:pPr>
            <a:endParaRPr lang="en-US" sz="11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00BAD762-B902-0950-6DE8-757022E3B48E}"/>
              </a:ext>
            </a:extLst>
          </p:cNvPr>
          <p:cNvSpPr/>
          <p:nvPr/>
        </p:nvSpPr>
        <p:spPr>
          <a:xfrm>
            <a:off x="8046720" y="322783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480" dirty="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C8D773DF-BCD3-419C-83EB-CE36EFD413A0}"/>
              </a:ext>
            </a:extLst>
          </p:cNvPr>
          <p:cNvSpPr/>
          <p:nvPr/>
        </p:nvSpPr>
        <p:spPr>
          <a:xfrm>
            <a:off x="8046720" y="39044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480" dirty="0"/>
          </a:p>
        </p:txBody>
      </p:sp>
    </p:spTree>
    <p:extLst>
      <p:ext uri="{BB962C8B-B14F-4D97-AF65-F5344CB8AC3E}">
        <p14:creationId xmlns:p14="http://schemas.microsoft.com/office/powerpoint/2010/main" val="1054880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DAC28BE-B8CF-B65D-A94C-2C32D3E4C4C7}"/>
              </a:ext>
            </a:extLst>
          </p:cNvPr>
          <p:cNvSpPr/>
          <p:nvPr/>
        </p:nvSpPr>
        <p:spPr>
          <a:xfrm>
            <a:off x="365760" y="4046951"/>
            <a:ext cx="8356854" cy="907936"/>
          </a:xfrm>
          <a:prstGeom prst="roundRect">
            <a:avLst/>
          </a:prstGeom>
          <a:solidFill>
            <a:srgbClr val="FAFAFB"/>
          </a:solidFill>
          <a:ln>
            <a:solidFill>
              <a:srgbClr val="E2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EC20AF-6069-328A-16A2-190544BD5166}"/>
              </a:ext>
            </a:extLst>
          </p:cNvPr>
          <p:cNvSpPr txBox="1"/>
          <p:nvPr/>
        </p:nvSpPr>
        <p:spPr>
          <a:xfrm>
            <a:off x="365760" y="201168"/>
            <a:ext cx="579517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SFT</a:t>
            </a:r>
            <a:r>
              <a:rPr lang="zh-CN" altLang="en-US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 </a:t>
            </a:r>
            <a:r>
              <a:rPr lang="en-US" altLang="zh-CN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VS</a:t>
            </a:r>
            <a:r>
              <a:rPr lang="zh-CN" altLang="en-US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 </a:t>
            </a:r>
            <a:r>
              <a:rPr lang="en-US" altLang="zh-CN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GRPO</a:t>
            </a:r>
            <a:r>
              <a:rPr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 </a:t>
            </a:r>
            <a:r>
              <a:rPr lang="en-US" altLang="zh-CN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with</a:t>
            </a:r>
            <a:r>
              <a:rPr lang="zh-CN" altLang="en-US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 </a:t>
            </a:r>
            <a:r>
              <a:rPr lang="en-US" altLang="zh-CN" sz="2600" dirty="0" err="1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LoRA</a:t>
            </a:r>
            <a:r>
              <a:rPr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 Rank</a:t>
            </a:r>
            <a:r>
              <a:rPr lang="en-US" altLang="zh-CN"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=</a:t>
            </a:r>
            <a:r>
              <a:rPr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ED6E2E-A34D-034A-937A-45EA6F7F82ED}"/>
              </a:ext>
            </a:extLst>
          </p:cNvPr>
          <p:cNvSpPr txBox="1"/>
          <p:nvPr/>
        </p:nvSpPr>
        <p:spPr>
          <a:xfrm>
            <a:off x="365760" y="713232"/>
            <a:ext cx="2908168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i="1" dirty="0">
                <a:solidFill>
                  <a:srgbClr val="8E9299"/>
                </a:solidFill>
                <a:latin typeface="Arial"/>
              </a:rPr>
              <a:t>Same low-rank budget, different training 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C75F69-AD23-BD52-1EE5-C46D9F25B9F0}"/>
              </a:ext>
            </a:extLst>
          </p:cNvPr>
          <p:cNvSpPr/>
          <p:nvPr/>
        </p:nvSpPr>
        <p:spPr>
          <a:xfrm>
            <a:off x="365760" y="960120"/>
            <a:ext cx="8138160" cy="13716"/>
          </a:xfrm>
          <a:prstGeom prst="rect">
            <a:avLst/>
          </a:prstGeom>
          <a:solidFill>
            <a:srgbClr val="E2E4E8"/>
          </a:solidFill>
          <a:ln>
            <a:solidFill>
              <a:srgbClr val="E2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ell35_out0.png">
            <a:extLst>
              <a:ext uri="{FF2B5EF4-FFF2-40B4-BE49-F238E27FC236}">
                <a16:creationId xmlns:a16="http://schemas.microsoft.com/office/drawing/2014/main" id="{AD526C5B-041E-EA79-59C8-00B129CC6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40" y="1228428"/>
            <a:ext cx="4038600" cy="2490470"/>
          </a:xfrm>
          <a:prstGeom prst="rect">
            <a:avLst/>
          </a:prstGeom>
        </p:spPr>
      </p:pic>
      <p:pic>
        <p:nvPicPr>
          <p:cNvPr id="8" name="Picture 7" descr="cell35_out1.png">
            <a:extLst>
              <a:ext uri="{FF2B5EF4-FFF2-40B4-BE49-F238E27FC236}">
                <a16:creationId xmlns:a16="http://schemas.microsoft.com/office/drawing/2014/main" id="{0EA422D7-A8AB-8245-CB1A-3941C73DB7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669" y="1228428"/>
            <a:ext cx="4004945" cy="24904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538B169-183C-3665-3F70-9F6B554DE643}"/>
              </a:ext>
            </a:extLst>
          </p:cNvPr>
          <p:cNvSpPr txBox="1"/>
          <p:nvPr/>
        </p:nvSpPr>
        <p:spPr>
          <a:xfrm>
            <a:off x="1367873" y="3707298"/>
            <a:ext cx="230704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Accuracy: Base vs SFT r=2 vs GRPO r=2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7E92AE-7865-3BDC-D318-558654924BD2}"/>
              </a:ext>
            </a:extLst>
          </p:cNvPr>
          <p:cNvSpPr txBox="1"/>
          <p:nvPr/>
        </p:nvSpPr>
        <p:spPr>
          <a:xfrm>
            <a:off x="5252431" y="3704560"/>
            <a:ext cx="293541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Efficiency: accuracy gain per 1M trainable parameters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16286-35FA-10BE-9EA8-20628CAFD92E}"/>
              </a:ext>
            </a:extLst>
          </p:cNvPr>
          <p:cNvSpPr txBox="1"/>
          <p:nvPr/>
        </p:nvSpPr>
        <p:spPr>
          <a:xfrm>
            <a:off x="365760" y="4107911"/>
            <a:ext cx="8179816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200"/>
              </a:spcAft>
              <a:buFont typeface="Arial" panose="020B0604020202020204" pitchFamily="34" charset="0"/>
              <a:buChar char="•"/>
              <a:defRPr sz="1050">
                <a:solidFill>
                  <a:srgbClr val="1F242C"/>
                </a:solidFill>
                <a:latin typeface="Arial"/>
              </a:defRPr>
            </a:pPr>
            <a:r>
              <a:rPr dirty="0">
                <a:solidFill>
                  <a:schemeClr val="tx2">
                    <a:lumMod val="75000"/>
                    <a:lumOff val="25000"/>
                  </a:schemeClr>
                </a:solidFill>
              </a:rPr>
              <a:t>SFT r=2 beat GRPO r=2 on all three benchmarks in raw accuracy: 0.88 vs 0.86 on Reasoning-100, 0.59 vs 0.58 on Olympiad-100, and 0.727 vs 0.707 on AIMO-150.</a:t>
            </a:r>
          </a:p>
          <a:p>
            <a:pPr marL="171450" indent="-171450">
              <a:spcAft>
                <a:spcPts val="200"/>
              </a:spcAft>
              <a:buFont typeface="Arial" panose="020B0604020202020204" pitchFamily="34" charset="0"/>
              <a:buChar char="•"/>
              <a:defRPr sz="1050">
                <a:solidFill>
                  <a:srgbClr val="1F242C"/>
                </a:solidFill>
                <a:latin typeface="Arial"/>
              </a:defRPr>
            </a:pPr>
            <a:r>
              <a:rPr dirty="0">
                <a:solidFill>
                  <a:schemeClr val="tx2">
                    <a:lumMod val="75000"/>
                    <a:lumOff val="25000"/>
                  </a:schemeClr>
                </a:solidFill>
              </a:rPr>
              <a:t>GRPO r=2 was much more parameter-efficient on Olympiad-100: 0.0367 accuracy gain per 1M trainable parameters vs 0.0087 for SFT r=2.</a:t>
            </a:r>
          </a:p>
        </p:txBody>
      </p:sp>
    </p:spTree>
    <p:extLst>
      <p:ext uri="{BB962C8B-B14F-4D97-AF65-F5344CB8AC3E}">
        <p14:creationId xmlns:p14="http://schemas.microsoft.com/office/powerpoint/2010/main" val="1090486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ED85D8-72BC-A075-2A49-27849DB00FD8}"/>
              </a:ext>
            </a:extLst>
          </p:cNvPr>
          <p:cNvSpPr txBox="1"/>
          <p:nvPr/>
        </p:nvSpPr>
        <p:spPr>
          <a:xfrm>
            <a:off x="365760" y="201168"/>
            <a:ext cx="298992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SFT Rank Sweep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D605A8-591D-7972-55B1-6485F23A18BC}"/>
              </a:ext>
            </a:extLst>
          </p:cNvPr>
          <p:cNvSpPr txBox="1"/>
          <p:nvPr/>
        </p:nvSpPr>
        <p:spPr>
          <a:xfrm>
            <a:off x="365760" y="713232"/>
            <a:ext cx="4766048" cy="23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i="1" dirty="0">
                <a:solidFill>
                  <a:srgbClr val="8E9299"/>
                </a:solidFill>
                <a:latin typeface="Arial"/>
              </a:rPr>
              <a:t>Smaller adapters remained strong, but the best rank still depended on the benchmark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9746C9-41F2-A077-5F59-0C2D57EBA4B0}"/>
              </a:ext>
            </a:extLst>
          </p:cNvPr>
          <p:cNvSpPr/>
          <p:nvPr/>
        </p:nvSpPr>
        <p:spPr>
          <a:xfrm>
            <a:off x="375920" y="960120"/>
            <a:ext cx="8138160" cy="13716"/>
          </a:xfrm>
          <a:prstGeom prst="rect">
            <a:avLst/>
          </a:prstGeom>
          <a:solidFill>
            <a:srgbClr val="E2E4E8"/>
          </a:solidFill>
          <a:ln>
            <a:solidFill>
              <a:srgbClr val="E2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ell35_out2.png">
            <a:extLst>
              <a:ext uri="{FF2B5EF4-FFF2-40B4-BE49-F238E27FC236}">
                <a16:creationId xmlns:a16="http://schemas.microsoft.com/office/drawing/2014/main" id="{AA72AD14-6677-AFF5-FD88-C60EC850C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48" y="1105091"/>
            <a:ext cx="4122548" cy="2452205"/>
          </a:xfrm>
          <a:prstGeom prst="rect">
            <a:avLst/>
          </a:prstGeom>
        </p:spPr>
      </p:pic>
      <p:pic>
        <p:nvPicPr>
          <p:cNvPr id="8" name="Picture 7" descr="cell35_out3.png">
            <a:extLst>
              <a:ext uri="{FF2B5EF4-FFF2-40B4-BE49-F238E27FC236}">
                <a16:creationId xmlns:a16="http://schemas.microsoft.com/office/drawing/2014/main" id="{E9F1F15B-F664-444E-9719-B27438A54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1619"/>
            <a:ext cx="4122548" cy="24522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9E4FE8-6428-7EA7-5DCF-46836947072D}"/>
              </a:ext>
            </a:extLst>
          </p:cNvPr>
          <p:cNvSpPr txBox="1"/>
          <p:nvPr/>
        </p:nvSpPr>
        <p:spPr>
          <a:xfrm>
            <a:off x="-308038" y="3560535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8E9299"/>
                </a:solidFill>
                <a:latin typeface="Arial"/>
              </a:rPr>
              <a:t>Final answer accuracy vs </a:t>
            </a:r>
            <a:r>
              <a:rPr sz="900" dirty="0" err="1">
                <a:solidFill>
                  <a:srgbClr val="8E9299"/>
                </a:solidFill>
                <a:latin typeface="Arial"/>
              </a:rPr>
              <a:t>LoRA</a:t>
            </a:r>
            <a:r>
              <a:rPr sz="900" dirty="0">
                <a:solidFill>
                  <a:srgbClr val="8E9299"/>
                </a:solidFill>
                <a:latin typeface="Arial"/>
              </a:rPr>
              <a:t> rank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39164-2110-926E-E33A-0BD5342481E9}"/>
              </a:ext>
            </a:extLst>
          </p:cNvPr>
          <p:cNvSpPr txBox="1"/>
          <p:nvPr/>
        </p:nvSpPr>
        <p:spPr>
          <a:xfrm>
            <a:off x="3981514" y="3553591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E9299"/>
                </a:solidFill>
                <a:latin typeface="Arial"/>
              </a:rPr>
              <a:t>Accuracy gain per 1M parameters vs LoRA rank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20BC4E0-1841-A587-D581-C2555D7F2B8E}"/>
              </a:ext>
            </a:extLst>
          </p:cNvPr>
          <p:cNvSpPr/>
          <p:nvPr/>
        </p:nvSpPr>
        <p:spPr>
          <a:xfrm>
            <a:off x="338964" y="3965304"/>
            <a:ext cx="8303313" cy="769256"/>
          </a:xfrm>
          <a:prstGeom prst="roundRect">
            <a:avLst/>
          </a:prstGeom>
          <a:solidFill>
            <a:srgbClr val="FAFAFB"/>
          </a:solidFill>
          <a:ln>
            <a:solidFill>
              <a:srgbClr val="E2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D0A9BB-7ACC-711C-F143-E79F15A83FE1}"/>
              </a:ext>
            </a:extLst>
          </p:cNvPr>
          <p:cNvSpPr txBox="1"/>
          <p:nvPr/>
        </p:nvSpPr>
        <p:spPr>
          <a:xfrm>
            <a:off x="416560" y="3984488"/>
            <a:ext cx="8067040" cy="628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200"/>
              </a:spcAft>
              <a:buFont typeface="Arial" panose="020B0604020202020204" pitchFamily="34" charset="0"/>
              <a:buChar char="•"/>
              <a:defRPr sz="1050">
                <a:solidFill>
                  <a:srgbClr val="1F242C"/>
                </a:solidFill>
                <a:latin typeface="Arial"/>
              </a:defRPr>
            </a:pPr>
            <a:r>
              <a:rPr dirty="0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Rank 2 was best on Reasoning-100 (0.88), showing that a very small adapter was enough to improve the strongest starting benchmark.</a:t>
            </a:r>
          </a:p>
          <a:p>
            <a:pPr marL="171450" indent="-171450">
              <a:spcAft>
                <a:spcPts val="200"/>
              </a:spcAft>
              <a:buFont typeface="Arial" panose="020B0604020202020204" pitchFamily="34" charset="0"/>
              <a:buChar char="•"/>
              <a:defRPr sz="1050">
                <a:solidFill>
                  <a:srgbClr val="1F242C"/>
                </a:solidFill>
                <a:latin typeface="Arial"/>
              </a:defRPr>
            </a:pPr>
            <a:r>
              <a:rPr dirty="0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Rank 4 was best on AIMO-150 (0.733), while Olympiad-100 tied at 0.59 for r=2 and r=4.</a:t>
            </a:r>
          </a:p>
          <a:p>
            <a:pPr marL="171450" indent="-171450">
              <a:spcAft>
                <a:spcPts val="200"/>
              </a:spcAft>
              <a:buFont typeface="Arial" panose="020B0604020202020204" pitchFamily="34" charset="0"/>
              <a:buChar char="•"/>
              <a:defRPr sz="1050">
                <a:solidFill>
                  <a:srgbClr val="1F242C"/>
                </a:solidFill>
                <a:latin typeface="Arial"/>
              </a:defRPr>
            </a:pPr>
            <a:r>
              <a:rPr dirty="0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Parameter efficiency </a:t>
            </a:r>
            <a:r>
              <a:rPr lang="en-US" altLang="zh-CN" dirty="0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dropped</a:t>
            </a:r>
            <a:r>
              <a:rPr dirty="0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 as rank increased, larger adapters added cost faster than they added accuracy.</a:t>
            </a:r>
          </a:p>
        </p:txBody>
      </p:sp>
    </p:spTree>
    <p:extLst>
      <p:ext uri="{BB962C8B-B14F-4D97-AF65-F5344CB8AC3E}">
        <p14:creationId xmlns:p14="http://schemas.microsoft.com/office/powerpoint/2010/main" val="11587354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D76E07F5-C804-2221-9AC6-F2D60FB12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3CC8F3AB-87B7-C6C9-1664-3E5CA838A3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chemeClr val="dk1"/>
                </a:solidFill>
              </a:rPr>
              <a:t>Key</a:t>
            </a:r>
            <a:r>
              <a:rPr lang="zh-CN" altLang="en-US" dirty="0">
                <a:solidFill>
                  <a:schemeClr val="dk1"/>
                </a:solidFill>
              </a:rPr>
              <a:t> </a:t>
            </a:r>
            <a:r>
              <a:rPr lang="en-US" altLang="zh-CN" dirty="0">
                <a:solidFill>
                  <a:schemeClr val="dk1"/>
                </a:solidFill>
              </a:rPr>
              <a:t>Learnings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CE23CE31-E026-1EB9-3264-DA5E42ED755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en-US" altLang="zh-CN" dirty="0"/>
              <a:t>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811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205F712E-4D5C-1047-A7B1-C259E0E2C1CD}"/>
              </a:ext>
            </a:extLst>
          </p:cNvPr>
          <p:cNvSpPr/>
          <p:nvPr/>
        </p:nvSpPr>
        <p:spPr>
          <a:xfrm>
            <a:off x="203200" y="308844"/>
            <a:ext cx="8735060" cy="2068068"/>
          </a:xfrm>
          <a:prstGeom prst="rect">
            <a:avLst/>
          </a:prstGeom>
          <a:noFill/>
          <a:ln>
            <a:solidFill>
              <a:srgbClr val="C7C3F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0CAC36DF-A942-A797-D4B9-4580AD8196A8}"/>
              </a:ext>
            </a:extLst>
          </p:cNvPr>
          <p:cNvSpPr/>
          <p:nvPr/>
        </p:nvSpPr>
        <p:spPr>
          <a:xfrm>
            <a:off x="364998" y="319891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Key Learnings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B927EAA-8D91-EB8B-2C04-85D12DD84A88}"/>
              </a:ext>
            </a:extLst>
          </p:cNvPr>
          <p:cNvSpPr/>
          <p:nvPr/>
        </p:nvSpPr>
        <p:spPr>
          <a:xfrm>
            <a:off x="364998" y="682307"/>
            <a:ext cx="8387842" cy="16334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ea typeface="Arial" pitchFamily="34" charset="-122"/>
                <a:cs typeface="Arial" pitchFamily="34" charset="-120"/>
              </a:rPr>
              <a:t>Small LoRA adapters were enough to move reasoning quality. Even rank 2 improved the base model on Reasoning-100 and tied for best on Olympiad-100.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ea typeface="Arial" pitchFamily="34" charset="-122"/>
                <a:cs typeface="Arial" pitchFamily="34" charset="-120"/>
              </a:rPr>
              <a:t>The best </a:t>
            </a:r>
            <a:r>
              <a:rPr lang="en-US" sz="1200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ea typeface="Arial" pitchFamily="34" charset="-122"/>
                <a:cs typeface="Arial" pitchFamily="34" charset="-120"/>
              </a:rPr>
              <a:t>LoRA</a:t>
            </a: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ea typeface="Arial" pitchFamily="34" charset="-122"/>
                <a:cs typeface="Arial" pitchFamily="34" charset="-120"/>
              </a:rPr>
              <a:t> rank was benchmark-dependent: rank 2 fit the shorter reasoning tasks best, while rank 4 was strongest on the harder AIMO-150 set.</a:t>
            </a:r>
            <a:endParaRPr lang="en-US" sz="1200" dirty="0">
              <a:solidFill>
                <a:schemeClr val="tx2">
                  <a:lumMod val="90000"/>
                  <a:lumOff val="10000"/>
                </a:schemeClr>
              </a:solidFill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Aptos" panose="020B0004020202020204" pitchFamily="34" charset="0"/>
                <a:ea typeface="Arial" pitchFamily="34" charset="-122"/>
                <a:cs typeface="Arial" pitchFamily="34" charset="-120"/>
              </a:rPr>
              <a:t>In this local notebook workflow, GRPO looked more promising as a parameter-efficiency experiment than as a raw-performance winner. It showed the smallest update budget, but not the best scores</a:t>
            </a: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C198470E-E603-B963-2B6B-450E6EA30FEA}"/>
              </a:ext>
            </a:extLst>
          </p:cNvPr>
          <p:cNvSpPr/>
          <p:nvPr/>
        </p:nvSpPr>
        <p:spPr>
          <a:xfrm>
            <a:off x="1234440" y="234086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6756D3B1-333E-B549-3426-CB5CA6466A81}"/>
              </a:ext>
            </a:extLst>
          </p:cNvPr>
          <p:cNvSpPr/>
          <p:nvPr/>
        </p:nvSpPr>
        <p:spPr>
          <a:xfrm>
            <a:off x="1447800" y="324459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61231C8B-3033-CE1B-00DC-9FC371084A55}"/>
              </a:ext>
            </a:extLst>
          </p:cNvPr>
          <p:cNvSpPr/>
          <p:nvPr/>
        </p:nvSpPr>
        <p:spPr>
          <a:xfrm>
            <a:off x="1234440" y="442569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29C57213-7BF0-1C6D-7DA3-53BF55681136}"/>
              </a:ext>
            </a:extLst>
          </p:cNvPr>
          <p:cNvSpPr/>
          <p:nvPr/>
        </p:nvSpPr>
        <p:spPr>
          <a:xfrm>
            <a:off x="1234440" y="551383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C358C166-2B4A-876D-DFA9-6128F205D3E9}"/>
              </a:ext>
            </a:extLst>
          </p:cNvPr>
          <p:cNvSpPr/>
          <p:nvPr/>
        </p:nvSpPr>
        <p:spPr>
          <a:xfrm>
            <a:off x="6858000" y="2724912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7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57327295-7EFB-A5C0-671B-3BB176D7E111}"/>
              </a:ext>
            </a:extLst>
          </p:cNvPr>
          <p:cNvSpPr/>
          <p:nvPr/>
        </p:nvSpPr>
        <p:spPr>
          <a:xfrm>
            <a:off x="6858000" y="3419856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7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29A71-C82C-3E31-296A-1F34E1983651}"/>
              </a:ext>
            </a:extLst>
          </p:cNvPr>
          <p:cNvSpPr txBox="1"/>
          <p:nvPr/>
        </p:nvSpPr>
        <p:spPr>
          <a:xfrm>
            <a:off x="293878" y="2591518"/>
            <a:ext cx="8735060" cy="2272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L</a:t>
            </a:r>
            <a:r>
              <a:rPr sz="20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imitations</a:t>
            </a:r>
            <a:endParaRPr lang="en-US" sz="2000" dirty="0">
              <a:solidFill>
                <a:schemeClr val="dk1"/>
              </a:solidFill>
              <a:latin typeface="Red Hat Mono"/>
              <a:ea typeface="Red Hat Mono"/>
              <a:cs typeface="Red Hat Mono"/>
            </a:endParaRPr>
          </a:p>
          <a:p>
            <a:endParaRPr sz="900" dirty="0">
              <a:solidFill>
                <a:schemeClr val="dk1"/>
              </a:solidFill>
              <a:latin typeface="Red Hat Mono"/>
              <a:ea typeface="Red Hat Mono"/>
              <a:cs typeface="Red Hat Mono"/>
            </a:endParaRPr>
          </a:p>
          <a:p>
            <a:pPr marL="171450" indent="-171450">
              <a:spcAft>
                <a:spcPts val="4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  <a:latin typeface="Aptos"/>
              </a:defRPr>
            </a:pPr>
            <a:r>
              <a:rPr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This project is a compact local-environment experiment, not a definitive benchmark of post-training methods.</a:t>
            </a:r>
          </a:p>
          <a:p>
            <a:pPr marL="171450" indent="-171450">
              <a:spcAft>
                <a:spcPts val="4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  <a:latin typeface="Aptos"/>
              </a:defRPr>
            </a:pPr>
            <a:r>
              <a:rPr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The comparison is informative but narrow: SFT + </a:t>
            </a:r>
            <a:r>
              <a:rPr sz="12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LoRA</a:t>
            </a:r>
            <a:r>
              <a:rPr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was tested at ranks 8 / 4 / 2, while GRPO + </a:t>
            </a:r>
            <a:r>
              <a:rPr sz="12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LoRA</a:t>
            </a:r>
            <a:r>
              <a:rPr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was tested only at rank 2.</a:t>
            </a:r>
          </a:p>
          <a:p>
            <a:pPr marL="171450" indent="-171450">
              <a:spcAft>
                <a:spcPts val="4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  <a:latin typeface="Aptos"/>
              </a:defRPr>
            </a:pPr>
            <a:r>
              <a:rPr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Held-out evaluation covered Reasoning-100, Olympiad-100, and AIMO-150; larger benchmark slices would make the conclusions more robust.</a:t>
            </a:r>
          </a:p>
          <a:p>
            <a:pPr marL="171450" lvl="1" indent="-171450">
              <a:spcAft>
                <a:spcPts val="4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  <a:latin typeface="Aptos"/>
              </a:defRPr>
            </a:pPr>
            <a:r>
              <a:rPr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The shared deterministic evaluation protocol improved fairness, but training </a:t>
            </a:r>
            <a:r>
              <a:rPr lang="en-US" altLang="zh-CN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conditions</a:t>
            </a:r>
            <a:r>
              <a:rPr lang="zh-CN" altLang="en-US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were not perfectly matched.</a:t>
            </a:r>
            <a:endParaRPr lang="en-US" sz="12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  <a:p>
            <a:pPr marL="342900" lvl="7" indent="-171450" defTabSz="822960">
              <a:spcAft>
                <a:spcPts val="400"/>
              </a:spcAft>
              <a:buFont typeface="Courier New" panose="02070309020205020404" pitchFamily="49" charset="0"/>
              <a:buChar char="o"/>
              <a:tabLst>
                <a:tab pos="365760" algn="l"/>
              </a:tabLst>
              <a:defRPr sz="1300">
                <a:solidFill>
                  <a:srgbClr val="282828"/>
                </a:solidFill>
                <a:latin typeface="Aptos"/>
              </a:defRPr>
            </a:pP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SFT + </a:t>
            </a:r>
            <a:r>
              <a:rPr lang="en-US" sz="12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LoRA</a:t>
            </a: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: local MLX workflow with a more efficient training path</a:t>
            </a:r>
          </a:p>
          <a:p>
            <a:pPr marL="342900" lvl="7" indent="-171450" defTabSz="822960">
              <a:spcAft>
                <a:spcPts val="400"/>
              </a:spcAft>
              <a:buFont typeface="Courier New" panose="02070309020205020404" pitchFamily="49" charset="0"/>
              <a:buChar char="o"/>
              <a:tabLst>
                <a:tab pos="365760" algn="l"/>
              </a:tabLst>
              <a:defRPr sz="1300">
                <a:solidFill>
                  <a:srgbClr val="282828"/>
                </a:solidFill>
                <a:latin typeface="Aptos"/>
              </a:defRPr>
            </a:pP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GRPO + </a:t>
            </a:r>
            <a:r>
              <a:rPr lang="en-US" sz="12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LoRA</a:t>
            </a:r>
            <a:r>
              <a:rPr lang="en-US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: local CPU workflow using Transformers + TRL + PEFT</a:t>
            </a:r>
            <a:endParaRPr sz="12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7FDA34-A41A-54A8-F7CA-F4C801C432A0}"/>
              </a:ext>
            </a:extLst>
          </p:cNvPr>
          <p:cNvSpPr/>
          <p:nvPr/>
        </p:nvSpPr>
        <p:spPr>
          <a:xfrm>
            <a:off x="203200" y="2560702"/>
            <a:ext cx="8735060" cy="2468498"/>
          </a:xfrm>
          <a:prstGeom prst="rect">
            <a:avLst/>
          </a:prstGeom>
          <a:noFill/>
          <a:ln>
            <a:solidFill>
              <a:srgbClr val="91C6F8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E62B91B0-0FA3-8A77-7B96-77C199810EEE}"/>
                  </a:ext>
                </a:extLst>
              </p14:cNvPr>
              <p14:cNvContentPartPr/>
              <p14:nvPr/>
            </p14:nvContentPartPr>
            <p14:xfrm>
              <a:off x="404040" y="2845280"/>
              <a:ext cx="1814040" cy="108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E62B91B0-0FA3-8A77-7B96-77C199810E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8400" y="2773280"/>
                <a:ext cx="188568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C60FB99-03FE-4896-ABBD-F8F7997B8C92}"/>
                  </a:ext>
                </a:extLst>
              </p14:cNvPr>
              <p14:cNvContentPartPr/>
              <p14:nvPr/>
            </p14:nvContentPartPr>
            <p14:xfrm>
              <a:off x="342120" y="596360"/>
              <a:ext cx="2111760" cy="72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C60FB99-03FE-4896-ABBD-F8F7997B8C9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4120" y="560360"/>
                <a:ext cx="2147400" cy="7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65681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15;p40">
            <a:extLst>
              <a:ext uri="{FF2B5EF4-FFF2-40B4-BE49-F238E27FC236}">
                <a16:creationId xmlns:a16="http://schemas.microsoft.com/office/drawing/2014/main" id="{18977A09-EDC3-8895-F041-B46D2EC1D941}"/>
              </a:ext>
            </a:extLst>
          </p:cNvPr>
          <p:cNvSpPr txBox="1">
            <a:spLocks/>
          </p:cNvSpPr>
          <p:nvPr/>
        </p:nvSpPr>
        <p:spPr>
          <a:xfrm>
            <a:off x="5024650" y="2003760"/>
            <a:ext cx="3578100" cy="67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4000" dirty="0">
                <a:solidFill>
                  <a:schemeClr val="dk1"/>
                </a:solidFill>
                <a:latin typeface="Red Hat Mono"/>
                <a:ea typeface="Red Hat Mono"/>
                <a:cs typeface="Red Hat Mono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98816045"/>
      </p:ext>
    </p:extLst>
  </p:cSld>
  <p:clrMapOvr>
    <a:masterClrMapping/>
  </p:clrMapOvr>
</p:sld>
</file>

<file path=ppt/theme/theme1.xml><?xml version="1.0" encoding="utf-8"?>
<a:theme xmlns:a="http://schemas.openxmlformats.org/drawingml/2006/main" name="Tech Trends 2026 by Slidesgo">
  <a:themeElements>
    <a:clrScheme name="Simple Light">
      <a:dk1>
        <a:srgbClr val="222222"/>
      </a:dk1>
      <a:lt1>
        <a:srgbClr val="F8F8F8"/>
      </a:lt1>
      <a:dk2>
        <a:srgbClr val="222222"/>
      </a:dk2>
      <a:lt2>
        <a:srgbClr val="22222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2222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6591</TotalTime>
  <Words>1397</Words>
  <Application>Microsoft Macintosh PowerPoint</Application>
  <PresentationFormat>On-screen Show (16:9)</PresentationFormat>
  <Paragraphs>195</Paragraphs>
  <Slides>21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Courier New</vt:lpstr>
      <vt:lpstr>Arial</vt:lpstr>
      <vt:lpstr>Darker Grotesque SemiBold</vt:lpstr>
      <vt:lpstr>Red Hat Mono</vt:lpstr>
      <vt:lpstr>Aptos</vt:lpstr>
      <vt:lpstr>Raleway</vt:lpstr>
      <vt:lpstr>Wingdings</vt:lpstr>
      <vt:lpstr>VT323</vt:lpstr>
      <vt:lpstr>Archivo</vt:lpstr>
      <vt:lpstr>Tech Trends 2026 by Slidesgo</vt:lpstr>
      <vt:lpstr>Exploring LoRA for Math Reasoning</vt:lpstr>
      <vt:lpstr>TABLE OF CONTENTS</vt:lpstr>
      <vt:lpstr>Intro and Definition</vt:lpstr>
      <vt:lpstr>Intro</vt:lpstr>
      <vt:lpstr>Post-training</vt:lpstr>
      <vt:lpstr>Motivation</vt:lpstr>
      <vt:lpstr>7,000,000,000+</vt:lpstr>
      <vt:lpstr>Methodology</vt:lpstr>
      <vt:lpstr>Fine-Tuning Lineage</vt:lpstr>
      <vt:lpstr>Concepts</vt:lpstr>
      <vt:lpstr>Project Workflow</vt:lpstr>
      <vt:lpstr>PowerPoint Presentation</vt:lpstr>
      <vt:lpstr>Results Review</vt:lpstr>
      <vt:lpstr>Results at a Glance </vt:lpstr>
      <vt:lpstr>PowerPoint Presentation</vt:lpstr>
      <vt:lpstr>PowerPoint Presentation</vt:lpstr>
      <vt:lpstr>PowerPoint Presentation</vt:lpstr>
      <vt:lpstr>PowerPoint Presentation</vt:lpstr>
      <vt:lpstr>Key Learnings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Lusha Zhang</cp:lastModifiedBy>
  <cp:revision>17</cp:revision>
  <dcterms:modified xsi:type="dcterms:W3CDTF">2026-03-22T21:05:38Z</dcterms:modified>
</cp:coreProperties>
</file>