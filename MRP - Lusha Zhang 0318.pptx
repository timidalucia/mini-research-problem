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58" r:id="rId3"/>
    <p:sldId id="260" r:id="rId4"/>
    <p:sldId id="261" r:id="rId5"/>
    <p:sldId id="291" r:id="rId6"/>
    <p:sldId id="294" r:id="rId7"/>
    <p:sldId id="293" r:id="rId8"/>
    <p:sldId id="301" r:id="rId9"/>
    <p:sldId id="296" r:id="rId10"/>
    <p:sldId id="304" r:id="rId11"/>
    <p:sldId id="302" r:id="rId12"/>
    <p:sldId id="295" r:id="rId13"/>
    <p:sldId id="303" r:id="rId14"/>
  </p:sldIdLst>
  <p:sldSz cx="9144000" cy="5143500" type="screen16x9"/>
  <p:notesSz cx="6858000" cy="9144000"/>
  <p:embeddedFontLst>
    <p:embeddedFont>
      <p:font typeface="Archivo" pitchFamily="2" charset="77"/>
      <p:regular r:id="rId16"/>
      <p:bold r:id="rId17"/>
      <p:italic r:id="rId18"/>
      <p:boldItalic r:id="rId19"/>
    </p:embeddedFont>
    <p:embeddedFont>
      <p:font typeface="Cambria Math" panose="02040503050406030204" pitchFamily="18" charset="0"/>
      <p:regular r:id="rId20"/>
    </p:embeddedFont>
    <p:embeddedFont>
      <p:font typeface="Raleway" pitchFamily="2" charset="77"/>
      <p:regular r:id="rId21"/>
      <p:bold r:id="rId22"/>
      <p:italic r:id="rId23"/>
      <p:boldItalic r:id="rId24"/>
    </p:embeddedFont>
    <p:embeddedFont>
      <p:font typeface="Red Hat Mono" panose="02010509040201060303" pitchFamily="49" charset="0"/>
      <p:regular r:id="rId25"/>
      <p:bold r:id="rId26"/>
      <p:italic r:id="rId27"/>
      <p:boldItalic r:id="rId28"/>
    </p:embeddedFont>
    <p:embeddedFont>
      <p:font typeface="VT323" pitchFamily="49" charset="77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959B7B-5EBC-4252-BE56-7F1E977C57D6}">
  <a:tblStyle styleId="{7B959B7B-5EBC-4252-BE56-7F1E977C57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58"/>
  </p:normalViewPr>
  <p:slideViewPr>
    <p:cSldViewPr snapToGrid="0">
      <p:cViewPr varScale="1">
        <p:scale>
          <a:sx n="160" d="100"/>
          <a:sy n="160" d="100"/>
        </p:scale>
        <p:origin x="368" y="17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07:47:00.261"/>
    </inkml:context>
    <inkml:brush xml:id="br0">
      <inkml:brushProperty name="width" value="0.3" units="cm"/>
      <inkml:brushProperty name="height" value="0.6" units="cm"/>
      <inkml:brushProperty name="color" value="#D9AEFF"/>
      <inkml:brushProperty name="tip" value="rectangle"/>
      <inkml:brushProperty name="rasterOp" value="maskPen"/>
    </inkml:brush>
  </inkml:definitions>
  <inkml:trace contextRef="#ctx0" brushRef="#br0">0 31,'54'0,"-7"0,-30 0,8 0,12 0,-9 0,28 0,-34 0,17 0,-18 0,-1 0,-3-5,3 3,-3-3,0 2,3 2,-6-2,2 1,6 1,-7-2,6 3,-5 0,-1 0,1 0,1 0,-2 0,4 0,-4 0,3 0,-5-3,4 3,-3-3,2 3,0 0,0 0,1 3,-3-3,3 5,-2-4,0 4,2-2,-6 5,3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07:48:02.261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42,'55'0,"-3"0,-12 0,12 0,-3 0,15 0,-4 0,6 0,6 0,-5 0,11 0,-11 0,12 0,-6 0,14 0,-11 0,16 0,-10 0,14 0,-8 0,6 0,-5-5,-18 4,-17-4,-3 0,-5 3,44-3,-40 5,16 0,12 0,-24 0,15 0,-27 0,30 0,-15 0,21 0,-34 0,18 0,-6 0,0 0,7 0,-10 0,1 0,5 0,-1 0,-4 0,5 0,-7 0,1 0,-1 0,1 0,-6 0,9 0,-8-4,4 3,-1-3,-8 4,53-2,7 0,-28 1,25-2,-11 1,-64 2,10 0,-12 0,6 0,-8 0,-4 0,0 0,1 0,-4 3,6-2,-4 4,0-4,5 1,-7-2,5 0,-3 0,-2 0,8 0,-12 0,14 0,-11 0,6 0,-4 0,0 0,3 0,-4 0,0 15,-9 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07:48:04.599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41,'66'0,"6"0,-17 0,10 0,7 0,9 0,1 0,5 0,-1 0,-4 0,-17 0,3 0,-12 0,0 0,8 0,-22 0,4 0,-10 0,-6 0,-5 0,-8 0,0 0,1 0,-5 0,5 0,-2-5,-4 2,10-3,-9 1,19 4,-16-5,10 6,-13-3,-1 0,5 3,-4-6,7 6,-6-3,1 3,3 0,-5 0,6 0,-5 0,0 0,0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08:01:57.002"/>
    </inkml:context>
    <inkml:brush xml:id="br0">
      <inkml:brushProperty name="width" value="0.3" units="cm"/>
      <inkml:brushProperty name="height" value="0.6" units="cm"/>
      <inkml:brushProperty name="color" value="#D9AEFF"/>
      <inkml:brushProperty name="tip" value="rectangle"/>
      <inkml:brushProperty name="rasterOp" value="maskPen"/>
    </inkml:brush>
  </inkml:definitions>
  <inkml:trace contextRef="#ctx0" brushRef="#br0">0 67,'54'0,"-8"0,-4 0,-7 0,15 0,-11 0,11 0,-10 0,10 0,-16 0,15 0,-15 0,10-4,0 3,-5-3,5-1,-11 4,-1-3,-6 4,0-4,-4 3,-2-3,-4 4,0-3,3 2,-6-3,5 1,0-2,0 1,0-3,-3 6,1-6,0 7,2-4,-4 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08:08:54.835"/>
    </inkml:context>
    <inkml:brush xml:id="br0">
      <inkml:brushProperty name="width" value="0.3" units="cm"/>
      <inkml:brushProperty name="height" value="0.6" units="cm"/>
      <inkml:brushProperty name="color" value="#D9AEFF"/>
      <inkml:brushProperty name="tip" value="rectangle"/>
      <inkml:brushProperty name="rasterOp" value="maskPen"/>
    </inkml:brush>
  </inkml:definitions>
  <inkml:trace contextRef="#ctx0" brushRef="#br0">0 1,'59'0,"-2"0,-34 0,15 0,-3 0,7 0,-9 0,11 0,-4 0,4 0,6 0,-8 0,14 0,-16 0,4 0,-6 0,-5 0,3 0,-13 0,8 0,-14 0,8 0,-8 0,3 0,-4 0,0 0,0 0,0 0,0 0,-1 0,0 0,3 0,-4 0,3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08:08:56.644"/>
    </inkml:context>
    <inkml:brush xml:id="br0">
      <inkml:brushProperty name="width" value="0.3" units="cm"/>
      <inkml:brushProperty name="height" value="0.6" units="cm"/>
      <inkml:brushProperty name="color" value="#D9AEFF"/>
      <inkml:brushProperty name="tip" value="rectangle"/>
      <inkml:brushProperty name="rasterOp" value="maskPen"/>
    </inkml:brush>
  </inkml:definitions>
  <inkml:trace contextRef="#ctx0" brushRef="#br0">0 8,'84'0,"7"0,-30 0,20 0,-30 0,18 0,-27 0,16 0,-13 0,5 0,-10 0,4 0,-11 0,-2 0,-5 0,1 0,-1 0,-5 0,0 0,-5 0,3 0,-6 0,5 0,-4 0,6 0,-5 0,7 0,-9 0,2 0,7 0,-4 0,6 0,-3 0,-5 0,0 0,0 0,3-3,-6 2,4-2,-6 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08:09:15.510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87,'55'0,"10"0,-39 0,13 0,4 0,-14 0,13 0,11 0,-10 0,21 0,-24 0,24 0,-9 0,19 0,-8 0,1 0,-8 0,0 0,-1 0,-5 0,19 0,-23 0,29 0,-35 0,43 0,-41 0,49 0,-49 0,34 0,-25 0,12 0,0 0,-6 0,-2 0,-12 0,-2 0,0 0,-5 0,0 0,-2 0,-4 0,5 0,0 0,0 0,0 0,0 0,0 0,0 0,-5 0,3 0,-3 0,5 0,0 0,0 0,-5 0,4 0,-4 0,5 0,0 0,0 0,0 0,6 0,-5 0,11 0,-10 0,4 0,0 0,-10 0,9 0,-10 0,5 0,-6 0,0 0,-1 0,-3 0,9 0,-10 0,10 0,2 0,0 0,5 0,-6-4,6 3,-4-3,4-1,-6 4,0-3,0 4,0-4,6-2,-4 1,4-4,-6 8,0-8,-6 8,5-3,-9 4,3 0,-5 0,-4 0,3 0,-4 0,11 0,-5 0,10 0,-4 0,5 0,0-4,0 3,0-8,0 8,0-8,-5 8,4-3,-10 4,5 0,-6 0,-5 0,4 0,-3 0,0 0,3 0,-8 0,3 0,-4 0,0 0,5 0,-4 0,8 0,-4 0,5 0,1 0,-1 0,0 0,5 0,-8 0,8 0,-10 0,1 0,-2 0,-4 0,0 0,3 0,-6 0,5 0,-4 0,1 3,2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08:09:47.018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9,'44'0,"-1"0,-22 0,6 0,-1 0,0 0,0 0,6 0,-5 0,5 0,-6 0,0 0,0 0,0 0,-4 0,-2 0,1 0,-4 0,3 0,-4 0,0 0,0 0,4 0,-2 0,2 0,-4 0,0 0,4 0,-6 0,5 0,-7 0,4-4,0 3,0-2,0 3,0 0,0 0,4 0,-3 0,4 0,-1 0,2 0,-1 0,4 0,-3 0,0 0,3 0,-4 0,1 0,3 0,-8 0,27 0,-23 0,19 0,-25 0,1 0,0 0,0 0,0 0,3 0,-6 0,5 0,-3 0,-2 0,9 0,-6 0,0 0,5 0,-12 0,12 0,-5 0,-1 0,6 0,-9 0,7 0,-5 0,5 0,-3 0,2 0,-4 0,5 0,-4 0,4 0,-4 0,1 0,0 0,0 0,0 0,4 0,-3 0,8 0,-3 0,4 0,0 0,1 0,-1 0,0 0,-5 0,5 0,-5 0,1 0,3 0,-4 0,6 0,-6 0,4 0,-3 0,4 0,-4 0,3 0,-4 3,1-2,3 3,-4-4,1 0,3 0,-8 0,8 0,-3 0,-1 0,0 0,-1 0,-3 0,4 0,-1 0,-3 0,4 0,-5 0,0 0,0 0,0 0,0 0,-1 0,1 0,0 0,0 0,5 0,-4 0,3 0,-4 0,0 0,0 0,4 0,-6 0,5 0,-7 0,4 0,7 0,-5 0,5 0,-7 4,4-3,-3 2,4-3,-1 4,-3-3,4 3,-5-4,4 0,-3 0,4 0,-5 0,3 0,-3 0,3 0,1 0,-4 0,0 0,6 0,-13 0,14 0,-8 0,1 0,4 0,-4 0,-1 0,6 0,-4 0,8 0,-8 0,8 0,-3 0,-1 0,4 0,-8 4,8-4,-8 4,4-4,-1 0,-3 0,4 0,-1 0,-3 0,9 0,-9 0,3 0,1 0,-4 0,8 0,-8 0,8 0,-4 0,1 0,-2 0,1 0,-4 0,3 0,1 0,-4 0,8 4,-8-3,8 3,-8-4,8 4,-3-3,-1 2,4 1,-3-3,4 3,-4 0,3-3,-4 2,1-3,3 0,-3 0,4 0,0 0,0 0,-4 0,3 0,-4 0,6 0,-1 0,0 0,0 0,0 0,0 0,1 0,-1 0,0 0,-4 0,3 0,-4 0,1 0,3 0,-8 0,3 0,-4 0,0 0,0 0,0 0,3 0,-6 0,5 0,-3 0,2 0,2 0,-3 0,0 0,0 0,4 0,-2 0,7 0,-4 0,5 0,-4 0,3 0,-8 0,8 0,-8 0,3 0,1 0,-4 0,8 0,-8 0,4 0,-1 0,-3 0,8 0,-8 0,8 0,-8 0,4 0,-1 0,-3 0,4 0,-1 0,-3 0,8 0,-8 0,8 0,-3 0,4 0,6 0,-5 0,5 4,-6-3,5 7,-3-7,3 7,-5-7,-4 3,3 0,-8-3,3 3,-4-4,0 0,0 0,0 0,-1 0,0 0,3 0,-3 0,3 0,-4 0,0 0,3 0,-2 0,2 0,-1 0,-4-9,0-2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2:44:41.63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0,'41'0,"5"0,1 0,0 0,4 0,-3 0,4 0,1 0,5 0,-4 0,17 0,-10 0,11 0,-6 0,-12 0,9 0,-8 0,5 0,-2 0,-5 0,-1 0,-5 0,5 0,-5 4,5 1,1 3,-6-3,4 3,-3-7,-1 3,-1-4,-5 0,-5 0,-1 3,-9-2,-2 5,-3-5,-4 5,3-2,-3-1,4 4,4-7,-4 7,9-7,-5 3,10-3,-3 0,2 0,1 0,-3 0,7 0,-3 0,5 0,5 0,-4 0,9 0,-9 0,9 0,-9 0,4 0,-10 0,-1 0,-5 0,-4 0,-5 0,-1 0,-6 0,2 0,-6 0,5 0,-8 0,12 0,-8 0,9 0,-7 0,7 0,-3 0,13 0,-7 0,7 0,-9 0,-1 0,1 0,4 0,1 0,0 0,3 0,-3 0,4 0,0 0,-4 0,-1 0,0 0,-4 0,1 0,3 0,-10 0,7 0,-13 0,3 0,-2 0,5 0,-5 0,1 0,0 0,-25 18,17-13,-21 13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2:44:44.40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0,'44'0,"2"0,-4 0,5 0,11 0,2 0,6 0,0 0,12 0,-9 0,-1 0,24 0,-46 0,44 0,-40 0,10 0,-7 0,-7 4,-5-3,-5 2,3 1,-7-3,-2 2,-1-3,-7 0,3 0,-8 0,-1 0,-6 0,-1 0,1 0,3 0,5 0,2 0,1 0,-4 0,3 0,-7 0,3 0,-6 0,-1 0,1 0,-1 0,6 0,-3 0,0 0,1 0,-1 0,1 0,-3 0,1 0,-2 0,2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2:44:50.115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</inkml:brush>
  </inkml:definitions>
  <inkml:trace contextRef="#ctx0" brushRef="#br0">1394 45,'-36'0,"-2"0,12 0,-4 0,-5 0,4 0,-9 0,9 0,-9 0,9 0,-9 0,4 0,-5 0,5 0,1 0,1 0,2 0,-3 0,9 0,1-3,4 2,1-2,2 3,2 0,4 0,-5-3,4 2,-4-2,5 3,-1 0,0 0,-3 0,2-3,-2 2,3-2,1 3,-1 0,0 0,1 0,2 0,-2 0,3 0,-4 0,-5 0,3 0,-3 0,5 0,-3 0,3 0,-4 0,1 0,2 0,1 0,1 0,3 0,-3 0,-1 0,4-2,-1 1,1-1,-2 2,-1 0,3 0,-2 0,1 0,-3 0,4 0,-3 0,2 0,-2-3,2 2,-2-2,3 1,-3-2,0-1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08:22:48.90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1,'36'0,"3"0,-3 0,16 0,-3 0,15 0,-10 0,4 0,0 0,2 0,0 0,4 0,2 0,2 0,-7 0,2 0,-9 0,12 0,-6 0,-2 0,-5 0,-1 0,1 0,-1 0,-5 0,5 0,-5 0,0 0,-1 0,-5 0,0 0,-1 0,-4 0,-1 0,0 0,1 0,5 0,0 0,5 0,-4 0,4 0,-1 0,-2 0,3 0,-6 0,-4 0,-1 0,-9 0,3 0,-11 0,6 0,-10 0,2 0,-7 0,0 0,2 0,-2 2,3 4,-6 5,-4 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08:38:56.049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0,'78'0,"7"0,-33 0,0 0,0 0,3 0,19 0,5 0,-13 0,2 0,-1 0,16 0,-1 0,10 0,0 0,-13 0,-2 0,-7 0,2 0,22 0,2 0,-17 0,-6 0,-17 0,-4 0,46 0,-47 0,13 0,-21 0,-11 0,-11 0,-12 0,0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5:27:00.952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2090 16383,'41'0'0,"18"10"0,-14 0 0,7 3 0,7 7 0,6 3 0,3 1 0,6 2 0,4 0 0,3 1 0,-4-2 0,4 1 0,2 0 0,1-1 0,8 2 0,1 0 0,3-1 0,1 0 0,-16-4 0,-1-1 0,3 0 0,6 0 0,10 1 0,-21-7 0,6 0 0,4 1 0,6-1 0,3 1 0,2-1 0,3 0 0,0 0 0,1-1 0,-2-2 0,0 0 0,-12-2 0,1-1 0,-1-1 0,1 0 0,0-1 0,1-1 0,1 0 0,1 0 0,2 0 0,1 0 0,3 0 0,2 0 0,2 0 0,-15 0 0,2-1 0,3 1 0,1 0 0,2 0 0,2 1 0,1-1 0,1 0 0,2 0 0,-1 0 0,1-1 0,1 1 0,-1-1 0,0-1 0,-1 1 0,0-1 0,-2-1 0,0 0 0,-2-1 0,-2 0 0,7-1 0,-1 0 0,0-1 0,-2 0 0,0-1 0,-1 0 0,0 0 0,0-1 0,-1-1 0,1 1 0,-1-1 0,1-1 0,1 0 0,0 0 0,1-1 0,0 1 0,2-2 0,-9 1 0,0 0 0,2-1 0,1 1 0,0-1 0,1-1 0,0 1 0,0-1 0,1 0 0,-1-1 0,1 0 0,-2 0 0,1-1 0,-1 0 0,-1-1 0,0 0 0,-2-1 0,0 0 0,-2 0 0,-2-2 0,10-1 0,-1-1 0,-1 0 0,-1-1 0,-1-1 0,-1 0 0,-1 0 0,0-2 0,-1 1 0,0-1 0,0-1 0,-2 0 0,1 0 0,0-1 0,-1 0 0,0-1 0,8-2 0,0 0 0,-1-1 0,1 0 0,-2-1 0,0-1 0,0 0 0,-1 0 0,-1-1 0,0-1 0,-1 0 0,0-1 0,-1 0 0,-1-1 0,1-2 0,1-1 0,0 0 0,-1-1 0,1-2 0,-2 1 0,-1-1 0,-2 0 0,-1 0 0,-2 0 0,-2 0 0,-3 0 0,-3 1 0,17-9 0,-5 0 0,-3 1 0,-3-1 0,-2 0 0,-2 0 0,1-1 0,0-1 0,-2 1 0,1-1 0,0-2 0,0 1 0,-4-1 0,-2 2 0,-6 2 0,-4 2 0,13-14 0,-7 3 0,-6 2 0,-2 0 0,15-15 0,-4 2 0,-11 5 0,-12 9 0,-9 4 0,17-33 0,-30 39 0,-14 12 0,-7 16 0,-3 3 0,0 1 0,-3 4 0,0-1 0,0 0 0,0-2 0,0-5 0,-11-13 0,-20-20 0,13 19 0,-10-6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5:27:19.941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nkEffects" value="pencil"/>
    </inkml:brush>
  </inkml:definitions>
  <inkml:trace contextRef="#ctx0" brushRef="#br0">837 0 16383,'-40'0'0,"-1"0"0,-19 12 0,-4 3 0,-3 3 0,2-1 0,0 3 0,2 11 0,5-2 0,1-3 0,-1 4 0,15-12 0,-13 7 0,18-6 0,3-7 0,21-7 0,7-5 0,2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5:27:20.995"/>
    </inkml:context>
    <inkml:brush xml:id="br0">
      <inkml:brushProperty name="width" value="0.35" units="cm"/>
      <inkml:brushProperty name="height" value="2.1" units="cm"/>
      <inkml:brushProperty name="color" value="#849398"/>
      <inkml:brushProperty name="inkEffects" value="pencil"/>
    </inkml:brush>
  </inkml:definitions>
  <inkml:trace contextRef="#ctx0" brushRef="#br0">1 0 16383,'0'64'0,"0"4"0,0-8 0,0 6 0,0-1 0,0-5 0,0-19 0,0 10 0,0-24 0,0 6 0,0-15 0,0-9 0,0-3 0,0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f8ba4015d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f8ba4015d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fb61485a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3fb61485a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013A854F-085D-801D-508D-0A337269A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fb61485ab_0_110:notes">
            <a:extLst>
              <a:ext uri="{FF2B5EF4-FFF2-40B4-BE49-F238E27FC236}">
                <a16:creationId xmlns:a16="http://schemas.microsoft.com/office/drawing/2014/main" id="{4669C21C-C3D7-FF79-A9D3-A96B4291FC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3fb61485ab_0_110:notes">
            <a:extLst>
              <a:ext uri="{FF2B5EF4-FFF2-40B4-BE49-F238E27FC236}">
                <a16:creationId xmlns:a16="http://schemas.microsoft.com/office/drawing/2014/main" id="{43D2B13C-5597-2DE4-9BBD-A00CA6FBE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7121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83425270-D230-8A83-C3F2-4EDAA527F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e1d838b627_4_0:notes">
            <a:extLst>
              <a:ext uri="{FF2B5EF4-FFF2-40B4-BE49-F238E27FC236}">
                <a16:creationId xmlns:a16="http://schemas.microsoft.com/office/drawing/2014/main" id="{EF9C6C8E-631D-3D3F-45C7-7B217C3272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e1d838b627_4_0:notes">
            <a:extLst>
              <a:ext uri="{FF2B5EF4-FFF2-40B4-BE49-F238E27FC236}">
                <a16:creationId xmlns:a16="http://schemas.microsoft.com/office/drawing/2014/main" id="{4635585D-D78A-06DD-ADBD-12DFBA809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1477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6A3DB771-BE97-7C29-A97E-AB7F54B57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e1d838b627_4_239:notes">
            <a:extLst>
              <a:ext uri="{FF2B5EF4-FFF2-40B4-BE49-F238E27FC236}">
                <a16:creationId xmlns:a16="http://schemas.microsoft.com/office/drawing/2014/main" id="{C2F3CC73-F7A9-782B-3C1A-066861246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e1d838b627_4_239:notes">
            <a:extLst>
              <a:ext uri="{FF2B5EF4-FFF2-40B4-BE49-F238E27FC236}">
                <a16:creationId xmlns:a16="http://schemas.microsoft.com/office/drawing/2014/main" id="{EE8AED81-0864-16C6-8C5A-525F91F561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5228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E9A366CD-356E-0030-D264-AC66DAA7F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e1d838b627_4_0:notes">
            <a:extLst>
              <a:ext uri="{FF2B5EF4-FFF2-40B4-BE49-F238E27FC236}">
                <a16:creationId xmlns:a16="http://schemas.microsoft.com/office/drawing/2014/main" id="{7212604F-58F9-3347-3F73-2D5379C13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e1d838b627_4_0:notes">
            <a:extLst>
              <a:ext uri="{FF2B5EF4-FFF2-40B4-BE49-F238E27FC236}">
                <a16:creationId xmlns:a16="http://schemas.microsoft.com/office/drawing/2014/main" id="{CBD228A6-1653-B547-E43A-3779E174D0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5741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CE62B4C7-6B9B-545D-A0EC-71C5C6D5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fb61485ab_0_80:notes">
            <a:extLst>
              <a:ext uri="{FF2B5EF4-FFF2-40B4-BE49-F238E27FC236}">
                <a16:creationId xmlns:a16="http://schemas.microsoft.com/office/drawing/2014/main" id="{A7E4A9A1-A715-BE84-6AEA-169850F8EE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3fb61485ab_0_80:notes">
            <a:extLst>
              <a:ext uri="{FF2B5EF4-FFF2-40B4-BE49-F238E27FC236}">
                <a16:creationId xmlns:a16="http://schemas.microsoft.com/office/drawing/2014/main" id="{B8BA407F-9473-DA16-F9F6-9A26E61DD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60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84559E30-94E7-C44C-758A-B66E4E454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e1d838b627_4_100:notes">
            <a:extLst>
              <a:ext uri="{FF2B5EF4-FFF2-40B4-BE49-F238E27FC236}">
                <a16:creationId xmlns:a16="http://schemas.microsoft.com/office/drawing/2014/main" id="{549BBEF8-5FF9-93B1-7D9A-3A4B34BB3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e1d838b627_4_100:notes">
            <a:extLst>
              <a:ext uri="{FF2B5EF4-FFF2-40B4-BE49-F238E27FC236}">
                <a16:creationId xmlns:a16="http://schemas.microsoft.com/office/drawing/2014/main" id="{A32646AF-5042-1F4A-24AC-262260CE43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8251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6EF5F9EC-4E74-BD01-FC69-6EDFFEE7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e1d838b627_4_0:notes">
            <a:extLst>
              <a:ext uri="{FF2B5EF4-FFF2-40B4-BE49-F238E27FC236}">
                <a16:creationId xmlns:a16="http://schemas.microsoft.com/office/drawing/2014/main" id="{65E85CE8-D2D2-B424-FCA1-C13FA8BB8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e1d838b627_4_0:notes">
            <a:extLst>
              <a:ext uri="{FF2B5EF4-FFF2-40B4-BE49-F238E27FC236}">
                <a16:creationId xmlns:a16="http://schemas.microsoft.com/office/drawing/2014/main" id="{8213C207-0C17-6EB1-207B-2A9697383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9163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0556D3ED-4FF4-3F85-06EB-63F281368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e1d838b627_4_0:notes">
            <a:extLst>
              <a:ext uri="{FF2B5EF4-FFF2-40B4-BE49-F238E27FC236}">
                <a16:creationId xmlns:a16="http://schemas.microsoft.com/office/drawing/2014/main" id="{11370949-CCE7-1A87-5276-9DDD48821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e1d838b627_4_0:notes">
            <a:extLst>
              <a:ext uri="{FF2B5EF4-FFF2-40B4-BE49-F238E27FC236}">
                <a16:creationId xmlns:a16="http://schemas.microsoft.com/office/drawing/2014/main" id="{6653B265-B776-30C0-4BA4-452BDE805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4522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.png"/>
          <p:cNvPicPr preferRelativeResize="0"/>
          <p:nvPr/>
        </p:nvPicPr>
        <p:blipFill rotWithShape="1">
          <a:blip r:embed="rId2">
            <a:alphaModFix amt="66000"/>
          </a:blip>
          <a:srcRect l="16171" r="18704"/>
          <a:stretch/>
        </p:blipFill>
        <p:spPr>
          <a:xfrm>
            <a:off x="1457611" y="-3227699"/>
            <a:ext cx="9692323" cy="837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53000" y="1899963"/>
            <a:ext cx="31740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 b="0" i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66200" y="2389438"/>
            <a:ext cx="1696800" cy="85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 idx="2"/>
          </p:nvPr>
        </p:nvSpPr>
        <p:spPr>
          <a:xfrm>
            <a:off x="5182500" y="449702"/>
            <a:ext cx="2308500" cy="42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19100" b="0" i="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>
            <a:off x="-402625" y="1369750"/>
            <a:ext cx="7337952" cy="57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256688" y="2401800"/>
            <a:ext cx="4658700" cy="52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0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228600" y="1498357"/>
            <a:ext cx="3009300" cy="206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7100" b="0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pic>
        <p:nvPicPr>
          <p:cNvPr id="20" name="Google Shape;20;p4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rot="-7459296">
            <a:off x="6267849" y="-814076"/>
            <a:ext cx="7337954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35" name="Google Shape;35;p7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>
            <a:off x="-2840400" y="2963700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8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rot="6267889">
            <a:off x="762674" y="-3144201"/>
            <a:ext cx="7337953" cy="573915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" name="Google Shape;43;p9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flipH="1">
            <a:off x="1806050" y="3231600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0" name="Google Shape;50;p11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>
            <a:off x="5048950" y="-297825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 title="tech.png"/>
          <p:cNvPicPr preferRelativeResize="0"/>
          <p:nvPr/>
        </p:nvPicPr>
        <p:blipFill rotWithShape="1">
          <a:blip r:embed="rId2">
            <a:alphaModFix amt="66000"/>
          </a:blip>
          <a:srcRect l="16171" r="18704"/>
          <a:stretch/>
        </p:blipFill>
        <p:spPr>
          <a:xfrm rot="4322965">
            <a:off x="2675537" y="1282750"/>
            <a:ext cx="9692323" cy="83711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1220209" y="504648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1220209" y="1451585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3"/>
          </p:nvPr>
        </p:nvSpPr>
        <p:spPr>
          <a:xfrm>
            <a:off x="1220209" y="2398521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4"/>
          </p:nvPr>
        </p:nvSpPr>
        <p:spPr>
          <a:xfrm>
            <a:off x="1220209" y="3345458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5"/>
          </p:nvPr>
        </p:nvSpPr>
        <p:spPr>
          <a:xfrm>
            <a:off x="5314804" y="504648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6"/>
          </p:nvPr>
        </p:nvSpPr>
        <p:spPr>
          <a:xfrm>
            <a:off x="5314804" y="1451593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7"/>
          </p:nvPr>
        </p:nvSpPr>
        <p:spPr>
          <a:xfrm>
            <a:off x="5314804" y="2398539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8"/>
          </p:nvPr>
        </p:nvSpPr>
        <p:spPr>
          <a:xfrm>
            <a:off x="5314804" y="3345484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hasCustomPrompt="1"/>
          </p:nvPr>
        </p:nvSpPr>
        <p:spPr>
          <a:xfrm>
            <a:off x="521691" y="3465371"/>
            <a:ext cx="7122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9" hasCustomPrompt="1"/>
          </p:nvPr>
        </p:nvSpPr>
        <p:spPr>
          <a:xfrm>
            <a:off x="521692" y="1571283"/>
            <a:ext cx="7122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3" hasCustomPrompt="1"/>
          </p:nvPr>
        </p:nvSpPr>
        <p:spPr>
          <a:xfrm>
            <a:off x="522373" y="624538"/>
            <a:ext cx="7107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4" hasCustomPrompt="1"/>
          </p:nvPr>
        </p:nvSpPr>
        <p:spPr>
          <a:xfrm>
            <a:off x="521691" y="2518327"/>
            <a:ext cx="7122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5" hasCustomPrompt="1"/>
          </p:nvPr>
        </p:nvSpPr>
        <p:spPr>
          <a:xfrm>
            <a:off x="4627489" y="1571508"/>
            <a:ext cx="7122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6" hasCustomPrompt="1"/>
          </p:nvPr>
        </p:nvSpPr>
        <p:spPr>
          <a:xfrm>
            <a:off x="4627487" y="2518452"/>
            <a:ext cx="7122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7" hasCustomPrompt="1"/>
          </p:nvPr>
        </p:nvSpPr>
        <p:spPr>
          <a:xfrm>
            <a:off x="4627489" y="3465396"/>
            <a:ext cx="7122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8" hasCustomPrompt="1"/>
          </p:nvPr>
        </p:nvSpPr>
        <p:spPr>
          <a:xfrm>
            <a:off x="4627489" y="624563"/>
            <a:ext cx="7122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 b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9"/>
          </p:nvPr>
        </p:nvSpPr>
        <p:spPr>
          <a:xfrm>
            <a:off x="228600" y="4352104"/>
            <a:ext cx="8687100" cy="54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417350" y="2615513"/>
            <a:ext cx="6309300" cy="16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1417350" y="910088"/>
            <a:ext cx="5262000" cy="15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5700"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4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rot="-5111130">
            <a:off x="5582875" y="-1103551"/>
            <a:ext cx="7337952" cy="573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16" title="tech.png"/>
          <p:cNvPicPr preferRelativeResize="0"/>
          <p:nvPr/>
        </p:nvPicPr>
        <p:blipFill rotWithShape="1">
          <a:blip r:embed="rId2">
            <a:alphaModFix amt="66000"/>
          </a:blip>
          <a:srcRect l="16171" r="18704"/>
          <a:stretch/>
        </p:blipFill>
        <p:spPr>
          <a:xfrm rot="2517579">
            <a:off x="3900887" y="-3385324"/>
            <a:ext cx="9692321" cy="8371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017726" y="2519050"/>
            <a:ext cx="59118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2"/>
          </p:nvPr>
        </p:nvSpPr>
        <p:spPr>
          <a:xfrm>
            <a:off x="2017425" y="1205425"/>
            <a:ext cx="59118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3"/>
          </p:nvPr>
        </p:nvSpPr>
        <p:spPr>
          <a:xfrm>
            <a:off x="2017752" y="3832400"/>
            <a:ext cx="59118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title" hasCustomPrompt="1"/>
          </p:nvPr>
        </p:nvSpPr>
        <p:spPr>
          <a:xfrm>
            <a:off x="1214429" y="2702041"/>
            <a:ext cx="9303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 idx="4" hasCustomPrompt="1"/>
          </p:nvPr>
        </p:nvSpPr>
        <p:spPr>
          <a:xfrm>
            <a:off x="1214834" y="1388566"/>
            <a:ext cx="9285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9" name="Google Shape;89;p17"/>
          <p:cNvSpPr txBox="1">
            <a:spLocks noGrp="1"/>
          </p:cNvSpPr>
          <p:nvPr>
            <p:ph type="title" idx="5" hasCustomPrompt="1"/>
          </p:nvPr>
        </p:nvSpPr>
        <p:spPr>
          <a:xfrm>
            <a:off x="1215241" y="4015391"/>
            <a:ext cx="9303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0" name="Google Shape;90;p17"/>
          <p:cNvSpPr txBox="1">
            <a:spLocks noGrp="1"/>
          </p:cNvSpPr>
          <p:nvPr>
            <p:ph type="title" idx="6"/>
          </p:nvPr>
        </p:nvSpPr>
        <p:spPr>
          <a:xfrm>
            <a:off x="228600" y="342540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pic>
        <p:nvPicPr>
          <p:cNvPr id="91" name="Google Shape;91;p17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rot="-10530784">
            <a:off x="5058896" y="980700"/>
            <a:ext cx="7337953" cy="573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 hasCustomPrompt="1"/>
          </p:nvPr>
        </p:nvSpPr>
        <p:spPr>
          <a:xfrm>
            <a:off x="1416750" y="552438"/>
            <a:ext cx="6310500" cy="12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10900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9" name="Google Shape;109;p19"/>
          <p:cNvSpPr txBox="1">
            <a:spLocks noGrp="1"/>
          </p:cNvSpPr>
          <p:nvPr>
            <p:ph type="subTitle" idx="1"/>
          </p:nvPr>
        </p:nvSpPr>
        <p:spPr>
          <a:xfrm>
            <a:off x="1416750" y="1725933"/>
            <a:ext cx="63105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 idx="2" hasCustomPrompt="1"/>
          </p:nvPr>
        </p:nvSpPr>
        <p:spPr>
          <a:xfrm>
            <a:off x="1416750" y="2969413"/>
            <a:ext cx="6310500" cy="12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10900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3"/>
          </p:nvPr>
        </p:nvSpPr>
        <p:spPr>
          <a:xfrm>
            <a:off x="1416750" y="4142860"/>
            <a:ext cx="63105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2" name="Google Shape;112;p19" title="tech.png"/>
          <p:cNvPicPr preferRelativeResize="0"/>
          <p:nvPr/>
        </p:nvPicPr>
        <p:blipFill rotWithShape="1">
          <a:blip r:embed="rId2">
            <a:alphaModFix amt="56000"/>
          </a:blip>
          <a:srcRect l="16171" r="18704"/>
          <a:stretch/>
        </p:blipFill>
        <p:spPr>
          <a:xfrm rot="-4120674">
            <a:off x="3828749" y="1924052"/>
            <a:ext cx="7337950" cy="573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 title="tech.png"/>
          <p:cNvPicPr preferRelativeResize="0"/>
          <p:nvPr/>
        </p:nvPicPr>
        <p:blipFill rotWithShape="1">
          <a:blip r:embed="rId2">
            <a:alphaModFix amt="66000"/>
          </a:blip>
          <a:srcRect l="16171" r="18704"/>
          <a:stretch/>
        </p:blipFill>
        <p:spPr>
          <a:xfrm rot="-6250088">
            <a:off x="-3836764" y="-3130824"/>
            <a:ext cx="9692322" cy="837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 title="tech.png"/>
          <p:cNvPicPr preferRelativeResize="0"/>
          <p:nvPr/>
        </p:nvPicPr>
        <p:blipFill rotWithShape="1">
          <a:blip r:embed="rId2">
            <a:alphaModFix amt="66000"/>
          </a:blip>
          <a:srcRect l="16171" r="18704"/>
          <a:stretch/>
        </p:blipFill>
        <p:spPr>
          <a:xfrm rot="-6250088">
            <a:off x="1293336" y="767001"/>
            <a:ext cx="9692322" cy="837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sz="2600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7" r:id="rId7"/>
    <p:sldLayoutId id="2147483659" r:id="rId8"/>
    <p:sldLayoutId id="2147483660" r:id="rId9"/>
    <p:sldLayoutId id="2147483662" r:id="rId10"/>
    <p:sldLayoutId id="2147483663" r:id="rId11"/>
    <p:sldLayoutId id="2147483665" r:id="rId12"/>
    <p:sldLayoutId id="2147483667" r:id="rId13"/>
    <p:sldLayoutId id="214748366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17.png"/><Relationship Id="rId3" Type="http://schemas.openxmlformats.org/officeDocument/2006/relationships/hyperlink" Target="https://arxiv.org/abs/2602.04118" TargetMode="External"/><Relationship Id="rId7" Type="http://schemas.openxmlformats.org/officeDocument/2006/relationships/image" Target="../media/image14.png"/><Relationship Id="rId12" Type="http://schemas.openxmlformats.org/officeDocument/2006/relationships/customXml" Target="../ink/ink1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3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customXml" Target="../ink/ink15.xml"/><Relationship Id="rId4" Type="http://schemas.openxmlformats.org/officeDocument/2006/relationships/customXml" Target="../ink/ink12.xml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>
            <a:spLocks noGrp="1"/>
          </p:cNvSpPr>
          <p:nvPr>
            <p:ph type="ctrTitle"/>
          </p:nvPr>
        </p:nvSpPr>
        <p:spPr>
          <a:xfrm>
            <a:off x="4303644" y="1342008"/>
            <a:ext cx="4397943" cy="28817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Optimizing Mathematical Reasoning with </a:t>
            </a:r>
            <a:r>
              <a:rPr lang="en-US" dirty="0" err="1"/>
              <a:t>LoRA</a:t>
            </a:r>
            <a:endParaRPr dirty="0"/>
          </a:p>
        </p:txBody>
      </p:sp>
      <p:sp>
        <p:nvSpPr>
          <p:cNvPr id="138" name="Google Shape;138;p27"/>
          <p:cNvSpPr txBox="1">
            <a:spLocks noGrp="1"/>
          </p:cNvSpPr>
          <p:nvPr>
            <p:ph type="subTitle" idx="1"/>
          </p:nvPr>
        </p:nvSpPr>
        <p:spPr>
          <a:xfrm>
            <a:off x="211112" y="4448825"/>
            <a:ext cx="1696800" cy="8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Lusha Zhang</a:t>
            </a:r>
            <a:endParaRPr dirty="0"/>
          </a:p>
        </p:txBody>
      </p:sp>
      <p:sp>
        <p:nvSpPr>
          <p:cNvPr id="139" name="Google Shape;139;p27"/>
          <p:cNvSpPr txBox="1">
            <a:spLocks noGrp="1"/>
          </p:cNvSpPr>
          <p:nvPr>
            <p:ph type="ctrTitle" idx="2"/>
          </p:nvPr>
        </p:nvSpPr>
        <p:spPr>
          <a:xfrm>
            <a:off x="119235" y="791606"/>
            <a:ext cx="4922730" cy="11008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From SFT to GRPO: </a:t>
            </a:r>
            <a:endParaRPr sz="1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>
            <a:spLocks noGrp="1"/>
          </p:cNvSpPr>
          <p:nvPr>
            <p:ph type="title" idx="19"/>
          </p:nvPr>
        </p:nvSpPr>
        <p:spPr>
          <a:xfrm>
            <a:off x="228600" y="4352104"/>
            <a:ext cx="86871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186" name="Google Shape;186;p29"/>
          <p:cNvSpPr txBox="1">
            <a:spLocks noGrp="1"/>
          </p:cNvSpPr>
          <p:nvPr>
            <p:ph type="subTitle" idx="1"/>
          </p:nvPr>
        </p:nvSpPr>
        <p:spPr>
          <a:xfrm>
            <a:off x="1220208" y="504648"/>
            <a:ext cx="3486963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 and Definition</a:t>
            </a:r>
            <a:endParaRPr dirty="0"/>
          </a:p>
        </p:txBody>
      </p:sp>
      <p:sp>
        <p:nvSpPr>
          <p:cNvPr id="187" name="Google Shape;187;p29"/>
          <p:cNvSpPr txBox="1">
            <a:spLocks noGrp="1"/>
          </p:cNvSpPr>
          <p:nvPr>
            <p:ph type="subTitle" idx="2"/>
          </p:nvPr>
        </p:nvSpPr>
        <p:spPr>
          <a:xfrm>
            <a:off x="1220209" y="1451585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Motivation</a:t>
            </a:r>
            <a:endParaRPr dirty="0"/>
          </a:p>
        </p:txBody>
      </p:sp>
      <p:sp>
        <p:nvSpPr>
          <p:cNvPr id="188" name="Google Shape;188;p29"/>
          <p:cNvSpPr txBox="1">
            <a:spLocks noGrp="1"/>
          </p:cNvSpPr>
          <p:nvPr>
            <p:ph type="subTitle" idx="3"/>
          </p:nvPr>
        </p:nvSpPr>
        <p:spPr>
          <a:xfrm>
            <a:off x="1220209" y="2398521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NAME OF THE SECTION</a:t>
            </a:r>
            <a:endParaRPr dirty="0"/>
          </a:p>
        </p:txBody>
      </p:sp>
      <p:sp>
        <p:nvSpPr>
          <p:cNvPr id="189" name="Google Shape;189;p29"/>
          <p:cNvSpPr txBox="1">
            <a:spLocks noGrp="1"/>
          </p:cNvSpPr>
          <p:nvPr>
            <p:ph type="subTitle" idx="4"/>
          </p:nvPr>
        </p:nvSpPr>
        <p:spPr>
          <a:xfrm>
            <a:off x="1220209" y="3345458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NAME OF THE SECTION</a:t>
            </a:r>
            <a:endParaRPr dirty="0"/>
          </a:p>
        </p:txBody>
      </p:sp>
      <p:sp>
        <p:nvSpPr>
          <p:cNvPr id="190" name="Google Shape;190;p29"/>
          <p:cNvSpPr txBox="1">
            <a:spLocks noGrp="1"/>
          </p:cNvSpPr>
          <p:nvPr>
            <p:ph type="subTitle" idx="5"/>
          </p:nvPr>
        </p:nvSpPr>
        <p:spPr>
          <a:xfrm>
            <a:off x="5314804" y="504648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NAME OF THE SECTION</a:t>
            </a:r>
            <a:endParaRPr dirty="0"/>
          </a:p>
        </p:txBody>
      </p:sp>
      <p:sp>
        <p:nvSpPr>
          <p:cNvPr id="191" name="Google Shape;191;p29"/>
          <p:cNvSpPr txBox="1">
            <a:spLocks noGrp="1"/>
          </p:cNvSpPr>
          <p:nvPr>
            <p:ph type="subTitle" idx="6"/>
          </p:nvPr>
        </p:nvSpPr>
        <p:spPr>
          <a:xfrm>
            <a:off x="5314804" y="1451593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NAME OF THE SECTION</a:t>
            </a:r>
            <a:endParaRPr dirty="0"/>
          </a:p>
        </p:txBody>
      </p:sp>
      <p:sp>
        <p:nvSpPr>
          <p:cNvPr id="192" name="Google Shape;192;p29"/>
          <p:cNvSpPr txBox="1">
            <a:spLocks noGrp="1"/>
          </p:cNvSpPr>
          <p:nvPr>
            <p:ph type="subTitle" idx="7"/>
          </p:nvPr>
        </p:nvSpPr>
        <p:spPr>
          <a:xfrm>
            <a:off x="5314804" y="2398539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NAME OF THE SECTION</a:t>
            </a:r>
            <a:endParaRPr dirty="0"/>
          </a:p>
        </p:txBody>
      </p:sp>
      <p:sp>
        <p:nvSpPr>
          <p:cNvPr id="193" name="Google Shape;193;p29"/>
          <p:cNvSpPr txBox="1">
            <a:spLocks noGrp="1"/>
          </p:cNvSpPr>
          <p:nvPr>
            <p:ph type="subTitle" idx="8"/>
          </p:nvPr>
        </p:nvSpPr>
        <p:spPr>
          <a:xfrm>
            <a:off x="5314804" y="3345484"/>
            <a:ext cx="33075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NAME OF THE SECTION</a:t>
            </a:r>
            <a:endParaRPr dirty="0"/>
          </a:p>
        </p:txBody>
      </p:sp>
      <p:sp>
        <p:nvSpPr>
          <p:cNvPr id="194" name="Google Shape;194;p29"/>
          <p:cNvSpPr txBox="1">
            <a:spLocks noGrp="1"/>
          </p:cNvSpPr>
          <p:nvPr>
            <p:ph type="title"/>
          </p:nvPr>
        </p:nvSpPr>
        <p:spPr>
          <a:xfrm>
            <a:off x="521691" y="3465371"/>
            <a:ext cx="7122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95" name="Google Shape;195;p29"/>
          <p:cNvSpPr txBox="1">
            <a:spLocks noGrp="1"/>
          </p:cNvSpPr>
          <p:nvPr>
            <p:ph type="title" idx="9"/>
          </p:nvPr>
        </p:nvSpPr>
        <p:spPr>
          <a:xfrm>
            <a:off x="521692" y="1571283"/>
            <a:ext cx="7122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96" name="Google Shape;196;p29"/>
          <p:cNvSpPr txBox="1">
            <a:spLocks noGrp="1"/>
          </p:cNvSpPr>
          <p:nvPr>
            <p:ph type="title" idx="13"/>
          </p:nvPr>
        </p:nvSpPr>
        <p:spPr>
          <a:xfrm>
            <a:off x="522373" y="624538"/>
            <a:ext cx="7107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97" name="Google Shape;197;p29"/>
          <p:cNvSpPr txBox="1">
            <a:spLocks noGrp="1"/>
          </p:cNvSpPr>
          <p:nvPr>
            <p:ph type="title" idx="14"/>
          </p:nvPr>
        </p:nvSpPr>
        <p:spPr>
          <a:xfrm>
            <a:off x="521691" y="2518327"/>
            <a:ext cx="7122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98" name="Google Shape;198;p29"/>
          <p:cNvSpPr txBox="1">
            <a:spLocks noGrp="1"/>
          </p:cNvSpPr>
          <p:nvPr>
            <p:ph type="title" idx="15"/>
          </p:nvPr>
        </p:nvSpPr>
        <p:spPr>
          <a:xfrm>
            <a:off x="4627489" y="1571508"/>
            <a:ext cx="7122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199" name="Google Shape;199;p29"/>
          <p:cNvSpPr txBox="1">
            <a:spLocks noGrp="1"/>
          </p:cNvSpPr>
          <p:nvPr>
            <p:ph type="title" idx="16"/>
          </p:nvPr>
        </p:nvSpPr>
        <p:spPr>
          <a:xfrm>
            <a:off x="4627487" y="2518452"/>
            <a:ext cx="7122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200" name="Google Shape;200;p29"/>
          <p:cNvSpPr txBox="1">
            <a:spLocks noGrp="1"/>
          </p:cNvSpPr>
          <p:nvPr>
            <p:ph type="title" idx="17"/>
          </p:nvPr>
        </p:nvSpPr>
        <p:spPr>
          <a:xfrm>
            <a:off x="4627489" y="3465396"/>
            <a:ext cx="7122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201" name="Google Shape;201;p29"/>
          <p:cNvSpPr txBox="1">
            <a:spLocks noGrp="1"/>
          </p:cNvSpPr>
          <p:nvPr>
            <p:ph type="title" idx="18"/>
          </p:nvPr>
        </p:nvSpPr>
        <p:spPr>
          <a:xfrm>
            <a:off x="4627489" y="624563"/>
            <a:ext cx="7122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4134678" y="2401800"/>
            <a:ext cx="478071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Intro and Definition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14" name="Google Shape;214;p31"/>
          <p:cNvSpPr txBox="1">
            <a:spLocks noGrp="1"/>
          </p:cNvSpPr>
          <p:nvPr>
            <p:ph type="title" idx="2"/>
          </p:nvPr>
        </p:nvSpPr>
        <p:spPr>
          <a:xfrm>
            <a:off x="228600" y="1498357"/>
            <a:ext cx="3009300" cy="20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>
            <a:spLocks noGrp="1"/>
          </p:cNvSpPr>
          <p:nvPr>
            <p:ph type="title"/>
          </p:nvPr>
        </p:nvSpPr>
        <p:spPr>
          <a:xfrm>
            <a:off x="312119" y="449040"/>
            <a:ext cx="5262000" cy="15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>
                <a:latin typeface="VT323"/>
                <a:sym typeface="VT323"/>
              </a:rPr>
              <a:t>Intro</a:t>
            </a:r>
            <a:endParaRPr sz="4400" dirty="0">
              <a:latin typeface="VT323"/>
              <a:sym typeface="VT323"/>
            </a:endParaRPr>
          </a:p>
        </p:txBody>
      </p:sp>
      <p:sp>
        <p:nvSpPr>
          <p:cNvPr id="220" name="Google Shape;220;p32"/>
          <p:cNvSpPr txBox="1">
            <a:spLocks noGrp="1"/>
          </p:cNvSpPr>
          <p:nvPr>
            <p:ph type="subTitle" idx="1"/>
          </p:nvPr>
        </p:nvSpPr>
        <p:spPr>
          <a:xfrm>
            <a:off x="411450" y="1566550"/>
            <a:ext cx="8420431" cy="2786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600" dirty="0"/>
              <a:t>Modern LLM training pipeline = </a:t>
            </a:r>
          </a:p>
          <a:p>
            <a:pPr marL="0" lvl="0" indent="0"/>
            <a:endParaRPr lang="en-US" sz="800" dirty="0"/>
          </a:p>
          <a:p>
            <a:pPr marL="0" lvl="0" indent="0"/>
            <a:r>
              <a:rPr lang="en-US" sz="1600" b="1" dirty="0"/>
              <a:t>                                                                      </a:t>
            </a:r>
            <a:r>
              <a:rPr lang="en-US" sz="2800" b="1" dirty="0"/>
              <a:t>Pre-training</a:t>
            </a:r>
            <a:r>
              <a:rPr lang="en-US" sz="1600" dirty="0"/>
              <a:t> + </a:t>
            </a:r>
            <a:r>
              <a:rPr lang="en-US" sz="2800" b="1" dirty="0"/>
              <a:t>Post-training</a:t>
            </a:r>
            <a:endParaRPr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36A0B-CF4E-CB5F-558D-92EE4FB5EDC3}"/>
              </a:ext>
            </a:extLst>
          </p:cNvPr>
          <p:cNvSpPr txBox="1"/>
          <p:nvPr/>
        </p:nvSpPr>
        <p:spPr>
          <a:xfrm>
            <a:off x="5478450" y="2611252"/>
            <a:ext cx="343496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Behavior-shaping &amp; Specialization Stage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121C0-2299-002B-59C1-F2F21E812792}"/>
              </a:ext>
            </a:extLst>
          </p:cNvPr>
          <p:cNvSpPr txBox="1"/>
          <p:nvPr/>
        </p:nvSpPr>
        <p:spPr>
          <a:xfrm>
            <a:off x="3073180" y="2611253"/>
            <a:ext cx="2285999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Foundation-building Stage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2E42D-CD3B-EF78-1268-F25809487BCE}"/>
              </a:ext>
            </a:extLst>
          </p:cNvPr>
          <p:cNvSpPr txBox="1"/>
          <p:nvPr/>
        </p:nvSpPr>
        <p:spPr>
          <a:xfrm>
            <a:off x="1065475" y="2959688"/>
            <a:ext cx="43533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Learn general language ability from large-scale data.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F75734-28FB-E46C-2E24-AAFD30A63B4A}"/>
              </a:ext>
            </a:extLst>
          </p:cNvPr>
          <p:cNvSpPr txBox="1"/>
          <p:nvPr/>
        </p:nvSpPr>
        <p:spPr>
          <a:xfrm>
            <a:off x="5478450" y="2959688"/>
            <a:ext cx="35264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Adapt the pretrained model for instruction following, alignment, and specific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>
          <a:extLst>
            <a:ext uri="{FF2B5EF4-FFF2-40B4-BE49-F238E27FC236}">
              <a16:creationId xmlns:a16="http://schemas.microsoft.com/office/drawing/2014/main" id="{3AA8A6BC-FD3B-6C93-A391-651A6CD0B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>
            <a:extLst>
              <a:ext uri="{FF2B5EF4-FFF2-40B4-BE49-F238E27FC236}">
                <a16:creationId xmlns:a16="http://schemas.microsoft.com/office/drawing/2014/main" id="{D11B5D14-A998-4C9C-6601-54A75A759F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5516" y="297236"/>
            <a:ext cx="6166105" cy="9601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latin typeface="VT323"/>
              </a:rPr>
              <a:t>Post-training</a:t>
            </a:r>
            <a:endParaRPr sz="5400" dirty="0">
              <a:latin typeface="VT323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190ED2-5245-4D60-DE07-86FC3D96130F}"/>
              </a:ext>
            </a:extLst>
          </p:cNvPr>
          <p:cNvSpPr txBox="1"/>
          <p:nvPr/>
        </p:nvSpPr>
        <p:spPr>
          <a:xfrm>
            <a:off x="592373" y="1484794"/>
            <a:ext cx="2747173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 SFT</a:t>
            </a:r>
            <a:r>
              <a:rPr lang="en-US" dirty="0"/>
              <a:t>   - Supervised Fine-Tuning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1D70CA-4688-B24A-3864-426815C0619C}"/>
              </a:ext>
            </a:extLst>
          </p:cNvPr>
          <p:cNvSpPr txBox="1"/>
          <p:nvPr/>
        </p:nvSpPr>
        <p:spPr>
          <a:xfrm>
            <a:off x="3458817" y="1484793"/>
            <a:ext cx="539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on input-output examples to teach the model how to respond.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E21796-08DA-439C-48F7-0372863CF7E9}"/>
              </a:ext>
            </a:extLst>
          </p:cNvPr>
          <p:cNvSpPr txBox="1"/>
          <p:nvPr/>
        </p:nvSpPr>
        <p:spPr>
          <a:xfrm>
            <a:off x="592374" y="1898281"/>
            <a:ext cx="2747174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 RFT</a:t>
            </a:r>
            <a:r>
              <a:rPr lang="en-US" dirty="0"/>
              <a:t>   - Reinforcement Fine-Tuning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2AC69-CD7B-00B9-14E2-4756097D5AFC}"/>
              </a:ext>
            </a:extLst>
          </p:cNvPr>
          <p:cNvSpPr txBox="1"/>
          <p:nvPr/>
        </p:nvSpPr>
        <p:spPr>
          <a:xfrm>
            <a:off x="3458817" y="1898281"/>
            <a:ext cx="5398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improves the model using rewards instead of only fixed target answers.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D5C26C4-32F3-B103-DD7C-4642DEDFCF2A}"/>
                  </a:ext>
                </a:extLst>
              </p14:cNvPr>
              <p14:cNvContentPartPr/>
              <p14:nvPr/>
            </p14:nvContentPartPr>
            <p14:xfrm>
              <a:off x="744590" y="1620732"/>
              <a:ext cx="319680" cy="12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D5C26C4-32F3-B103-DD7C-4642DEDFCF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590" y="1512732"/>
                <a:ext cx="42732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F21DD6C-C5A5-67DE-18D6-4A9BEF42ED54}"/>
                  </a:ext>
                </a:extLst>
              </p14:cNvPr>
              <p14:cNvContentPartPr/>
              <p14:nvPr/>
            </p14:nvContentPartPr>
            <p14:xfrm>
              <a:off x="3839870" y="1635852"/>
              <a:ext cx="1638000" cy="16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F21DD6C-C5A5-67DE-18D6-4A9BEF42ED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86230" y="1527852"/>
                <a:ext cx="174564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0D3D44A-8192-1EE7-993D-FCD67FBCFC1C}"/>
                  </a:ext>
                </a:extLst>
              </p14:cNvPr>
              <p14:cNvContentPartPr/>
              <p14:nvPr/>
            </p14:nvContentPartPr>
            <p14:xfrm>
              <a:off x="5655710" y="2040649"/>
              <a:ext cx="595080" cy="15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0D3D44A-8192-1EE7-993D-FCD67FBCFC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01710" y="1932649"/>
                <a:ext cx="702720" cy="23076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6C0909A-A4D4-83F4-DEEB-8E934FEBEBEE}"/>
              </a:ext>
            </a:extLst>
          </p:cNvPr>
          <p:cNvSpPr txBox="1"/>
          <p:nvPr/>
        </p:nvSpPr>
        <p:spPr>
          <a:xfrm>
            <a:off x="501938" y="1091098"/>
            <a:ext cx="2344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Training Methodology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69D435E-452C-D022-0D26-700699709EC9}"/>
                  </a:ext>
                </a:extLst>
              </p14:cNvPr>
              <p14:cNvContentPartPr/>
              <p14:nvPr/>
            </p14:nvContentPartPr>
            <p14:xfrm>
              <a:off x="742265" y="2013211"/>
              <a:ext cx="384840" cy="24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69D435E-452C-D022-0D26-700699709EC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8265" y="1905211"/>
                <a:ext cx="492480" cy="2401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6512B3BA-1D19-2A1A-A237-16274459C7C8}"/>
              </a:ext>
            </a:extLst>
          </p:cNvPr>
          <p:cNvSpPr txBox="1"/>
          <p:nvPr/>
        </p:nvSpPr>
        <p:spPr>
          <a:xfrm>
            <a:off x="501938" y="3301375"/>
            <a:ext cx="2837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Model Update Methodology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882CB59-7E7C-8866-F9D9-D8B3DB5210A0}"/>
              </a:ext>
            </a:extLst>
          </p:cNvPr>
          <p:cNvCxnSpPr/>
          <p:nvPr/>
        </p:nvCxnSpPr>
        <p:spPr>
          <a:xfrm>
            <a:off x="592373" y="3243786"/>
            <a:ext cx="7657324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85BA28E-D0CB-23CD-1B8F-24DB35675A1E}"/>
              </a:ext>
            </a:extLst>
          </p:cNvPr>
          <p:cNvSpPr txBox="1"/>
          <p:nvPr/>
        </p:nvSpPr>
        <p:spPr>
          <a:xfrm>
            <a:off x="592373" y="3707697"/>
            <a:ext cx="274717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 PEFT</a:t>
            </a:r>
            <a:r>
              <a:rPr lang="en-US" dirty="0"/>
              <a:t> - Parameter-Efficient         Fine-Tuning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84124C-AD0D-8973-714A-83D328CD0C5E}"/>
              </a:ext>
            </a:extLst>
          </p:cNvPr>
          <p:cNvSpPr txBox="1"/>
          <p:nvPr/>
        </p:nvSpPr>
        <p:spPr>
          <a:xfrm>
            <a:off x="3458817" y="3707696"/>
            <a:ext cx="5398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updates only a small subset of parameters to adapt a pretrained model more cheaply.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B02D6B-A239-DAFE-9693-46B10597CE9C}"/>
              </a:ext>
            </a:extLst>
          </p:cNvPr>
          <p:cNvSpPr txBox="1"/>
          <p:nvPr/>
        </p:nvSpPr>
        <p:spPr>
          <a:xfrm>
            <a:off x="728242" y="4295258"/>
            <a:ext cx="9041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└──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09C0E7-6510-64A8-3488-90D6235F75F6}"/>
              </a:ext>
            </a:extLst>
          </p:cNvPr>
          <p:cNvSpPr txBox="1"/>
          <p:nvPr/>
        </p:nvSpPr>
        <p:spPr>
          <a:xfrm>
            <a:off x="1632406" y="4353533"/>
            <a:ext cx="2055339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 </a:t>
            </a:r>
            <a:r>
              <a:rPr lang="en-US" b="1" dirty="0" err="1"/>
              <a:t>LoRA</a:t>
            </a:r>
            <a:r>
              <a:rPr lang="en-US" b="1" dirty="0"/>
              <a:t> -</a:t>
            </a:r>
          </a:p>
          <a:p>
            <a:r>
              <a:rPr lang="en-US" b="1" dirty="0"/>
              <a:t> </a:t>
            </a:r>
            <a:r>
              <a:rPr lang="en-US" dirty="0"/>
              <a:t>Low-Rank Adaptation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3FC3E4-DAB1-C1E0-BC3D-A455E5FFAB4C}"/>
              </a:ext>
            </a:extLst>
          </p:cNvPr>
          <p:cNvSpPr txBox="1"/>
          <p:nvPr/>
        </p:nvSpPr>
        <p:spPr>
          <a:xfrm>
            <a:off x="3839870" y="4245811"/>
            <a:ext cx="47858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a PEFT method that freezes the base model and learns small low-rank adapter weights instead of updating all parameters.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5478272-8394-9CE8-60A7-2B9BE66D8DBB}"/>
                  </a:ext>
                </a:extLst>
              </p14:cNvPr>
              <p14:cNvContentPartPr/>
              <p14:nvPr/>
            </p14:nvContentPartPr>
            <p14:xfrm>
              <a:off x="757745" y="3859544"/>
              <a:ext cx="37692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5478272-8394-9CE8-60A7-2B9BE66D8DB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3745" y="3751904"/>
                <a:ext cx="4845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5955322-7E39-F3F0-EB09-176C56872A22}"/>
                  </a:ext>
                </a:extLst>
              </p14:cNvPr>
              <p14:cNvContentPartPr/>
              <p14:nvPr/>
            </p14:nvContentPartPr>
            <p14:xfrm>
              <a:off x="1779785" y="4510052"/>
              <a:ext cx="453600" cy="28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5955322-7E39-F3F0-EB09-176C56872A2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25785" y="4402412"/>
                <a:ext cx="5612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7917C0F-EE40-082E-08DE-A6DB6F141101}"/>
                  </a:ext>
                </a:extLst>
              </p14:cNvPr>
              <p14:cNvContentPartPr/>
              <p14:nvPr/>
            </p14:nvContentPartPr>
            <p14:xfrm>
              <a:off x="4794785" y="3846944"/>
              <a:ext cx="2026440" cy="31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7917C0F-EE40-082E-08DE-A6DB6F14110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740785" y="3738944"/>
                <a:ext cx="21340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8CA240B-A3F8-B004-BABB-9B6587D36DE2}"/>
                  </a:ext>
                </a:extLst>
              </p14:cNvPr>
              <p14:cNvContentPartPr/>
              <p14:nvPr/>
            </p14:nvContentPartPr>
            <p14:xfrm>
              <a:off x="3969665" y="4614452"/>
              <a:ext cx="2360880" cy="374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8CA240B-A3F8-B004-BABB-9B6587D36DE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15665" y="4506812"/>
                <a:ext cx="2468520" cy="253080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6168ECD9-BC3C-0F39-B3B0-8BFAA2963C67}"/>
              </a:ext>
            </a:extLst>
          </p:cNvPr>
          <p:cNvSpPr txBox="1"/>
          <p:nvPr/>
        </p:nvSpPr>
        <p:spPr>
          <a:xfrm>
            <a:off x="654171" y="2501390"/>
            <a:ext cx="9041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└──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7FC065-5375-DF01-201C-2EBF017859F2}"/>
              </a:ext>
            </a:extLst>
          </p:cNvPr>
          <p:cNvSpPr txBox="1"/>
          <p:nvPr/>
        </p:nvSpPr>
        <p:spPr>
          <a:xfrm>
            <a:off x="1558335" y="2559665"/>
            <a:ext cx="2055339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GRPO - </a:t>
            </a:r>
            <a:r>
              <a:rPr lang="en-US" dirty="0"/>
              <a:t>Group Relative Policy Optimization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843F8C-F3D7-53D8-FF2F-6709A9029D2B}"/>
              </a:ext>
            </a:extLst>
          </p:cNvPr>
          <p:cNvSpPr txBox="1"/>
          <p:nvPr/>
        </p:nvSpPr>
        <p:spPr>
          <a:xfrm>
            <a:off x="3765799" y="2537876"/>
            <a:ext cx="47858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an RFT method that trains the model by rewarding better answers within a group of sampled outputs.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3C7206F-FC67-6021-E83B-13A14DFDC856}"/>
                  </a:ext>
                </a:extLst>
              </p14:cNvPr>
              <p14:cNvContentPartPr/>
              <p14:nvPr/>
            </p14:nvContentPartPr>
            <p14:xfrm>
              <a:off x="7042962" y="2698388"/>
              <a:ext cx="1274760" cy="421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3C7206F-FC67-6021-E83B-13A14DFDC85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006962" y="2626388"/>
                <a:ext cx="13464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7FDB037-7FDB-8E8F-5F43-34E52432BD74}"/>
                  </a:ext>
                </a:extLst>
              </p14:cNvPr>
              <p14:cNvContentPartPr/>
              <p14:nvPr/>
            </p14:nvContentPartPr>
            <p14:xfrm>
              <a:off x="3890802" y="2921228"/>
              <a:ext cx="609120" cy="61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7FDB037-7FDB-8E8F-5F43-34E52432BD7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855162" y="2849228"/>
                <a:ext cx="68076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A7886AE-95B8-1493-AEDD-887E0A6AF94C}"/>
                  </a:ext>
                </a:extLst>
              </p14:cNvPr>
              <p14:cNvContentPartPr/>
              <p14:nvPr/>
            </p14:nvContentPartPr>
            <p14:xfrm>
              <a:off x="1660962" y="2697668"/>
              <a:ext cx="501840" cy="162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A7886AE-95B8-1493-AEDD-887E0A6AF94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624962" y="2626028"/>
                <a:ext cx="573480" cy="15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3029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1457396E-39C3-051A-2632-8E7B23D5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AFFC123F-3522-2AB9-37F8-5F48F52880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4678" y="2401800"/>
            <a:ext cx="478071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Motivation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0FDAF89A-EB5C-2E76-E00F-808DABE99A5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1498357"/>
            <a:ext cx="3009300" cy="20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084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1F3620FD-F861-50A7-82BD-91BB72699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>
            <a:extLst>
              <a:ext uri="{FF2B5EF4-FFF2-40B4-BE49-F238E27FC236}">
                <a16:creationId xmlns:a16="http://schemas.microsoft.com/office/drawing/2014/main" id="{11AB1B24-A4BB-255B-3041-E7811E2C2E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4398" y="1621808"/>
            <a:ext cx="4594436" cy="7939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7,000,000,000+</a:t>
            </a:r>
            <a:endParaRPr sz="1200" dirty="0">
              <a:latin typeface="Archivo"/>
              <a:cs typeface="Archivo"/>
              <a:sym typeface="Archivo"/>
            </a:endParaRPr>
          </a:p>
        </p:txBody>
      </p:sp>
      <p:sp>
        <p:nvSpPr>
          <p:cNvPr id="308" name="Google Shape;308;p39">
            <a:extLst>
              <a:ext uri="{FF2B5EF4-FFF2-40B4-BE49-F238E27FC236}">
                <a16:creationId xmlns:a16="http://schemas.microsoft.com/office/drawing/2014/main" id="{F7002C87-C0B1-751F-BB2F-B46FC2A6BB6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4398" y="2279533"/>
            <a:ext cx="4697804" cy="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Full Base </a:t>
            </a:r>
            <a:r>
              <a:rPr lang="en-US" i="1" u="sng" dirty="0"/>
              <a:t>Qwen2.5-7B-Instruct</a:t>
            </a:r>
            <a:r>
              <a:rPr lang="en-US" dirty="0"/>
              <a:t> parameters (</a:t>
            </a:r>
            <a:r>
              <a:rPr lang="en-US" i="1" dirty="0"/>
              <a:t>accuracy </a:t>
            </a:r>
            <a:r>
              <a:rPr lang="en-US" b="1" i="1" dirty="0"/>
              <a:t>76%</a:t>
            </a:r>
            <a:r>
              <a:rPr lang="en-US" i="1" dirty="0"/>
              <a:t>)</a:t>
            </a:r>
            <a:endParaRPr i="1" dirty="0"/>
          </a:p>
        </p:txBody>
      </p:sp>
      <p:sp>
        <p:nvSpPr>
          <p:cNvPr id="2" name="Google Shape;219;p32">
            <a:extLst>
              <a:ext uri="{FF2B5EF4-FFF2-40B4-BE49-F238E27FC236}">
                <a16:creationId xmlns:a16="http://schemas.microsoft.com/office/drawing/2014/main" id="{9F0145A5-B623-DC8A-1D81-422B435E3E2F}"/>
              </a:ext>
            </a:extLst>
          </p:cNvPr>
          <p:cNvSpPr txBox="1">
            <a:spLocks/>
          </p:cNvSpPr>
          <p:nvPr/>
        </p:nvSpPr>
        <p:spPr>
          <a:xfrm>
            <a:off x="405516" y="297236"/>
            <a:ext cx="8603312" cy="96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109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2pPr>
            <a:lvl3pPr marR="0" lvl="2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3pPr>
            <a:lvl4pPr marR="0" lvl="3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4pPr>
            <a:lvl5pPr marR="0" lvl="4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5pPr>
            <a:lvl6pPr marR="0" lvl="5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6pPr>
            <a:lvl7pPr marR="0" lvl="6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7pPr>
            <a:lvl8pPr marR="0" lvl="7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8pPr>
            <a:lvl9pPr marR="0" lvl="8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9pPr>
          </a:lstStyle>
          <a:p>
            <a:r>
              <a:rPr lang="en-US" sz="4400" dirty="0"/>
              <a:t>Motivation – </a:t>
            </a:r>
          </a:p>
          <a:p>
            <a:r>
              <a:rPr lang="en-US" sz="2400" dirty="0">
                <a:latin typeface="Red Hat Mono"/>
                <a:ea typeface="Red Hat Mono"/>
                <a:cs typeface="Red Hat Mono"/>
                <a:sym typeface="Red Hat Mono"/>
              </a:rPr>
              <a:t>     Paper </a:t>
            </a:r>
            <a:r>
              <a:rPr lang="en-US" sz="2400" dirty="0">
                <a:latin typeface="Red Hat Mono"/>
                <a:ea typeface="Red Hat Mono"/>
                <a:cs typeface="Red Hat Mono"/>
                <a:sym typeface="Red Hat Mono"/>
                <a:hlinkClick r:id="rId3"/>
              </a:rPr>
              <a:t>Learning to Reason in 13 Parameters</a:t>
            </a:r>
            <a:endParaRPr lang="en-US" sz="4000" dirty="0">
              <a:latin typeface="Red Hat Mono"/>
              <a:ea typeface="Red Hat Mono"/>
              <a:cs typeface="Red Hat Mono"/>
              <a:sym typeface="Red Hat Mon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BF330B6-00E3-796B-7438-9FFD2E6A5680}"/>
                  </a:ext>
                </a:extLst>
              </p14:cNvPr>
              <p14:cNvContentPartPr/>
              <p14:nvPr/>
            </p14:nvContentPartPr>
            <p14:xfrm>
              <a:off x="1405190" y="1236631"/>
              <a:ext cx="894960" cy="12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BF330B6-00E3-796B-7438-9FFD2E6A56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9550" y="1164991"/>
                <a:ext cx="966600" cy="1558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Google Shape;307;p39">
            <a:extLst>
              <a:ext uri="{FF2B5EF4-FFF2-40B4-BE49-F238E27FC236}">
                <a16:creationId xmlns:a16="http://schemas.microsoft.com/office/drawing/2014/main" id="{C1ECFE74-FAC1-40FF-9634-D63D5D6F6215}"/>
              </a:ext>
            </a:extLst>
          </p:cNvPr>
          <p:cNvSpPr txBox="1">
            <a:spLocks/>
          </p:cNvSpPr>
          <p:nvPr/>
        </p:nvSpPr>
        <p:spPr>
          <a:xfrm>
            <a:off x="494398" y="2664754"/>
            <a:ext cx="3799306" cy="79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109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2pPr>
            <a:lvl3pPr marR="0" lvl="2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3pPr>
            <a:lvl4pPr marR="0" lvl="3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4pPr>
            <a:lvl5pPr marR="0" lvl="4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5pPr>
            <a:lvl6pPr marR="0" lvl="5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6pPr>
            <a:lvl7pPr marR="0" lvl="6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7pPr>
            <a:lvl8pPr marR="0" lvl="7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8pPr>
            <a:lvl9pPr marR="0" lvl="8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9pPr>
          </a:lstStyle>
          <a:p>
            <a:r>
              <a:rPr lang="en" sz="4800" dirty="0"/>
              <a:t>1,000,000+</a:t>
            </a:r>
          </a:p>
        </p:txBody>
      </p:sp>
      <p:sp>
        <p:nvSpPr>
          <p:cNvPr id="9" name="Google Shape;308;p39">
            <a:extLst>
              <a:ext uri="{FF2B5EF4-FFF2-40B4-BE49-F238E27FC236}">
                <a16:creationId xmlns:a16="http://schemas.microsoft.com/office/drawing/2014/main" id="{F7A6E5BA-AED3-23E1-6045-25606B4DFF99}"/>
              </a:ext>
            </a:extLst>
          </p:cNvPr>
          <p:cNvSpPr txBox="1">
            <a:spLocks/>
          </p:cNvSpPr>
          <p:nvPr/>
        </p:nvSpPr>
        <p:spPr>
          <a:xfrm>
            <a:off x="494397" y="3322479"/>
            <a:ext cx="4594437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en-US" dirty="0"/>
              <a:t>Standard </a:t>
            </a:r>
            <a:r>
              <a:rPr lang="en-US" dirty="0" err="1"/>
              <a:t>LoRA</a:t>
            </a:r>
            <a:r>
              <a:rPr lang="en-US" dirty="0"/>
              <a:t> / SFT-scale update on </a:t>
            </a:r>
            <a:r>
              <a:rPr lang="en-US" i="1" u="sng" dirty="0"/>
              <a:t>GSM8K</a:t>
            </a:r>
            <a:r>
              <a:rPr lang="en-US" dirty="0"/>
              <a:t> (</a:t>
            </a:r>
            <a:r>
              <a:rPr lang="en-US" i="1" dirty="0"/>
              <a:t>accuracy </a:t>
            </a:r>
            <a:r>
              <a:rPr lang="en-US" b="1" i="1" dirty="0"/>
              <a:t>98%</a:t>
            </a:r>
            <a:r>
              <a:rPr lang="en-US" dirty="0"/>
              <a:t>)</a:t>
            </a:r>
          </a:p>
        </p:txBody>
      </p:sp>
      <p:sp>
        <p:nvSpPr>
          <p:cNvPr id="10" name="Google Shape;307;p39">
            <a:extLst>
              <a:ext uri="{FF2B5EF4-FFF2-40B4-BE49-F238E27FC236}">
                <a16:creationId xmlns:a16="http://schemas.microsoft.com/office/drawing/2014/main" id="{77C7D61B-50CE-354B-96BA-C8AD1BCAF136}"/>
              </a:ext>
            </a:extLst>
          </p:cNvPr>
          <p:cNvSpPr txBox="1">
            <a:spLocks/>
          </p:cNvSpPr>
          <p:nvPr/>
        </p:nvSpPr>
        <p:spPr>
          <a:xfrm>
            <a:off x="494398" y="3656480"/>
            <a:ext cx="3799306" cy="79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109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2pPr>
            <a:lvl3pPr marR="0" lvl="2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3pPr>
            <a:lvl4pPr marR="0" lvl="3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4pPr>
            <a:lvl5pPr marR="0" lvl="4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5pPr>
            <a:lvl6pPr marR="0" lvl="5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6pPr>
            <a:lvl7pPr marR="0" lvl="6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7pPr>
            <a:lvl8pPr marR="0" lvl="7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8pPr>
            <a:lvl9pPr marR="0" lvl="8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ed Hat Mono"/>
              <a:buNone/>
              <a:defRPr sz="6200" b="0" i="0" u="none" strike="noStrike" cap="non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9pPr>
          </a:lstStyle>
          <a:p>
            <a:r>
              <a:rPr lang="en" sz="4800" dirty="0"/>
              <a:t>13</a:t>
            </a:r>
          </a:p>
        </p:txBody>
      </p:sp>
      <p:sp>
        <p:nvSpPr>
          <p:cNvPr id="11" name="Google Shape;308;p39">
            <a:extLst>
              <a:ext uri="{FF2B5EF4-FFF2-40B4-BE49-F238E27FC236}">
                <a16:creationId xmlns:a16="http://schemas.microsoft.com/office/drawing/2014/main" id="{B7B87081-12C0-4C9A-D03D-6E2C7CB8DC29}"/>
              </a:ext>
            </a:extLst>
          </p:cNvPr>
          <p:cNvSpPr txBox="1">
            <a:spLocks/>
          </p:cNvSpPr>
          <p:nvPr/>
        </p:nvSpPr>
        <p:spPr>
          <a:xfrm>
            <a:off x="494398" y="4301815"/>
            <a:ext cx="3361984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en-US" u="sng" dirty="0" err="1"/>
              <a:t>TinyLoRA</a:t>
            </a:r>
            <a:r>
              <a:rPr lang="en-US" dirty="0"/>
              <a:t> / GRPO on GSM8K (</a:t>
            </a:r>
            <a:r>
              <a:rPr lang="en-US" i="1" dirty="0"/>
              <a:t>accuracy </a:t>
            </a:r>
            <a:r>
              <a:rPr lang="en-US" b="1" i="1" dirty="0"/>
              <a:t>91%</a:t>
            </a:r>
            <a:r>
              <a:rPr lang="en-US" i="1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A6AD3A2-F897-5CC0-9C45-64F7D1D86326}"/>
                  </a:ext>
                </a:extLst>
              </p14:cNvPr>
              <p14:cNvContentPartPr/>
              <p14:nvPr/>
            </p14:nvContentPartPr>
            <p14:xfrm>
              <a:off x="565310" y="4218511"/>
              <a:ext cx="77472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A6AD3A2-F897-5CC0-9C45-64F7D1D863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9310" y="4146511"/>
                <a:ext cx="8463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CD11983-5783-63A2-95EF-56578BDD174A}"/>
                  </a:ext>
                </a:extLst>
              </p14:cNvPr>
              <p14:cNvContentPartPr/>
              <p14:nvPr/>
            </p14:nvContentPartPr>
            <p14:xfrm>
              <a:off x="998640" y="3862471"/>
              <a:ext cx="5574240" cy="1056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CD11983-5783-63A2-95EF-56578BDD17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640" y="3646471"/>
                <a:ext cx="5645880" cy="148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3BD6D777-1628-1941-6AF7-E5D54103C6EE}"/>
              </a:ext>
            </a:extLst>
          </p:cNvPr>
          <p:cNvGrpSpPr/>
          <p:nvPr/>
        </p:nvGrpSpPr>
        <p:grpSpPr>
          <a:xfrm>
            <a:off x="6262920" y="3901351"/>
            <a:ext cx="311040" cy="244440"/>
            <a:chOff x="6262920" y="3901351"/>
            <a:chExt cx="311040" cy="2444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19A8D7F-2A08-6F20-B345-B54E40BDB947}"/>
                    </a:ext>
                  </a:extLst>
                </p14:cNvPr>
                <p14:cNvContentPartPr/>
                <p14:nvPr/>
              </p14:nvContentPartPr>
              <p14:xfrm>
                <a:off x="6262920" y="3901351"/>
                <a:ext cx="301320" cy="100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19A8D7F-2A08-6F20-B345-B54E40BDB9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00280" y="3523351"/>
                  <a:ext cx="426960" cy="8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5A76198-2254-0087-1307-653EEE9B91AE}"/>
                    </a:ext>
                  </a:extLst>
                </p14:cNvPr>
                <p14:cNvContentPartPr/>
                <p14:nvPr/>
              </p14:nvContentPartPr>
              <p14:xfrm>
                <a:off x="6573600" y="3938071"/>
                <a:ext cx="360" cy="207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5A76198-2254-0087-1307-653EEE9B91A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10960" y="3560071"/>
                  <a:ext cx="126000" cy="963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D5B5CCF-5EBC-D135-058A-FEC3F6F77485}"/>
              </a:ext>
            </a:extLst>
          </p:cNvPr>
          <p:cNvSpPr txBox="1"/>
          <p:nvPr/>
        </p:nvSpPr>
        <p:spPr>
          <a:xfrm>
            <a:off x="6564240" y="3419362"/>
            <a:ext cx="2020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</a:t>
            </a:r>
          </a:p>
          <a:p>
            <a:r>
              <a:rPr lang="en-US" b="1" i="1" dirty="0"/>
              <a:t>   </a:t>
            </a:r>
            <a:r>
              <a:rPr lang="en-US" sz="2400" b="1" i="1" dirty="0" err="1"/>
              <a:t>TinyLoRA</a:t>
            </a:r>
            <a:r>
              <a:rPr lang="en-US" sz="2400" b="1" i="1" dirty="0"/>
              <a:t> </a:t>
            </a:r>
            <a:r>
              <a:rPr lang="en-US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591179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0034E634-3C3C-6EF2-FE9D-F7E9C6B36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5E6805BC-1A56-F101-0B61-7812258CC5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4678" y="2401800"/>
            <a:ext cx="478071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Methodology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2431CC60-AB5B-84EB-1AA9-15A76FC5472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1498357"/>
            <a:ext cx="3009300" cy="20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7129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047B332C-E414-0708-7365-C1A3BB72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>
            <a:extLst>
              <a:ext uri="{FF2B5EF4-FFF2-40B4-BE49-F238E27FC236}">
                <a16:creationId xmlns:a16="http://schemas.microsoft.com/office/drawing/2014/main" id="{BEA6F41C-679F-40BD-D157-F87D2A5BDD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Fine-Tuning Lineage</a:t>
            </a:r>
            <a:endParaRPr dirty="0"/>
          </a:p>
        </p:txBody>
      </p:sp>
      <p:sp>
        <p:nvSpPr>
          <p:cNvPr id="269" name="Google Shape;269;p37">
            <a:extLst>
              <a:ext uri="{FF2B5EF4-FFF2-40B4-BE49-F238E27FC236}">
                <a16:creationId xmlns:a16="http://schemas.microsoft.com/office/drawing/2014/main" id="{F151C952-F6EA-8C12-868F-CD637BEB8FA1}"/>
              </a:ext>
            </a:extLst>
          </p:cNvPr>
          <p:cNvSpPr txBox="1"/>
          <p:nvPr/>
        </p:nvSpPr>
        <p:spPr>
          <a:xfrm>
            <a:off x="4594401" y="1406907"/>
            <a:ext cx="4136562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Low-rank adapters make model adaptation cheap enough to compare multiple ranks locally.</a:t>
            </a:r>
          </a:p>
        </p:txBody>
      </p:sp>
      <p:cxnSp>
        <p:nvCxnSpPr>
          <p:cNvPr id="270" name="Google Shape;270;p37">
            <a:extLst>
              <a:ext uri="{FF2B5EF4-FFF2-40B4-BE49-F238E27FC236}">
                <a16:creationId xmlns:a16="http://schemas.microsoft.com/office/drawing/2014/main" id="{9542D9DA-9DFB-65AB-F7A4-AF11448BEB74}"/>
              </a:ext>
            </a:extLst>
          </p:cNvPr>
          <p:cNvCxnSpPr>
            <a:cxnSpLocks/>
            <a:stCxn id="271" idx="3"/>
          </p:cNvCxnSpPr>
          <p:nvPr/>
        </p:nvCxnSpPr>
        <p:spPr>
          <a:xfrm>
            <a:off x="1940168" y="1652755"/>
            <a:ext cx="1218083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" name="Google Shape;272;p37">
            <a:extLst>
              <a:ext uri="{FF2B5EF4-FFF2-40B4-BE49-F238E27FC236}">
                <a16:creationId xmlns:a16="http://schemas.microsoft.com/office/drawing/2014/main" id="{1D530791-6266-43C0-2637-FB5477FACFAA}"/>
              </a:ext>
            </a:extLst>
          </p:cNvPr>
          <p:cNvSpPr/>
          <p:nvPr/>
        </p:nvSpPr>
        <p:spPr>
          <a:xfrm>
            <a:off x="3376318" y="1439155"/>
            <a:ext cx="427200" cy="427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 dirty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1</a:t>
            </a:r>
            <a:endParaRPr sz="3700" dirty="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cxnSp>
        <p:nvCxnSpPr>
          <p:cNvPr id="273" name="Google Shape;273;p37">
            <a:extLst>
              <a:ext uri="{FF2B5EF4-FFF2-40B4-BE49-F238E27FC236}">
                <a16:creationId xmlns:a16="http://schemas.microsoft.com/office/drawing/2014/main" id="{E72FF7BC-D5CE-5A3A-770E-979AE6BBA20D}"/>
              </a:ext>
            </a:extLst>
          </p:cNvPr>
          <p:cNvCxnSpPr>
            <a:cxnSpLocks/>
            <a:stCxn id="272" idx="6"/>
          </p:cNvCxnSpPr>
          <p:nvPr/>
        </p:nvCxnSpPr>
        <p:spPr>
          <a:xfrm>
            <a:off x="3803518" y="1652755"/>
            <a:ext cx="55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75" name="Google Shape;275;p37">
            <a:extLst>
              <a:ext uri="{FF2B5EF4-FFF2-40B4-BE49-F238E27FC236}">
                <a16:creationId xmlns:a16="http://schemas.microsoft.com/office/drawing/2014/main" id="{36846FF6-7FB2-3CB5-9FC9-FEEAC597E9D8}"/>
              </a:ext>
            </a:extLst>
          </p:cNvPr>
          <p:cNvSpPr txBox="1"/>
          <p:nvPr/>
        </p:nvSpPr>
        <p:spPr>
          <a:xfrm>
            <a:off x="4594401" y="2272134"/>
            <a:ext cx="4081891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DeepSeekMath</a:t>
            </a:r>
            <a:r>
              <a:rPr lang="en-US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brought GRPO into reasoning RL and motivates group-relative optimization for math.</a:t>
            </a:r>
          </a:p>
        </p:txBody>
      </p:sp>
      <p:sp>
        <p:nvSpPr>
          <p:cNvPr id="271" name="Google Shape;271;p37">
            <a:extLst>
              <a:ext uri="{FF2B5EF4-FFF2-40B4-BE49-F238E27FC236}">
                <a16:creationId xmlns:a16="http://schemas.microsoft.com/office/drawing/2014/main" id="{27B1FD45-82A6-890A-E74C-4F1091ACEF5F}"/>
              </a:ext>
            </a:extLst>
          </p:cNvPr>
          <p:cNvSpPr txBox="1"/>
          <p:nvPr/>
        </p:nvSpPr>
        <p:spPr>
          <a:xfrm>
            <a:off x="1001864" y="1181605"/>
            <a:ext cx="938304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dirty="0" err="1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LoRA</a:t>
            </a:r>
            <a:endParaRPr lang="en-US" sz="3700" dirty="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96EACB-51F4-D913-45E1-FAA8B17A2DAE}"/>
              </a:ext>
            </a:extLst>
          </p:cNvPr>
          <p:cNvSpPr txBox="1"/>
          <p:nvPr/>
        </p:nvSpPr>
        <p:spPr>
          <a:xfrm>
            <a:off x="2206290" y="1359808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2021</a:t>
            </a:r>
          </a:p>
        </p:txBody>
      </p:sp>
      <p:sp>
        <p:nvSpPr>
          <p:cNvPr id="21" name="Google Shape;271;p37">
            <a:extLst>
              <a:ext uri="{FF2B5EF4-FFF2-40B4-BE49-F238E27FC236}">
                <a16:creationId xmlns:a16="http://schemas.microsoft.com/office/drawing/2014/main" id="{26CC8767-DCEE-45DD-19BB-A9B57935462D}"/>
              </a:ext>
            </a:extLst>
          </p:cNvPr>
          <p:cNvSpPr txBox="1"/>
          <p:nvPr/>
        </p:nvSpPr>
        <p:spPr>
          <a:xfrm>
            <a:off x="1001863" y="1982870"/>
            <a:ext cx="938304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dirty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GRPO</a:t>
            </a:r>
          </a:p>
        </p:txBody>
      </p:sp>
      <p:cxnSp>
        <p:nvCxnSpPr>
          <p:cNvPr id="25" name="Google Shape;270;p37">
            <a:extLst>
              <a:ext uri="{FF2B5EF4-FFF2-40B4-BE49-F238E27FC236}">
                <a16:creationId xmlns:a16="http://schemas.microsoft.com/office/drawing/2014/main" id="{6A511D2E-1D63-050E-92B0-41A8DBF3C21E}"/>
              </a:ext>
            </a:extLst>
          </p:cNvPr>
          <p:cNvCxnSpPr>
            <a:cxnSpLocks/>
          </p:cNvCxnSpPr>
          <p:nvPr/>
        </p:nvCxnSpPr>
        <p:spPr>
          <a:xfrm>
            <a:off x="1940168" y="2487122"/>
            <a:ext cx="1218083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5FCC847-EC18-BF3A-E62B-93F2CF4DEECF}"/>
              </a:ext>
            </a:extLst>
          </p:cNvPr>
          <p:cNvSpPr txBox="1"/>
          <p:nvPr/>
        </p:nvSpPr>
        <p:spPr>
          <a:xfrm>
            <a:off x="2206290" y="2194175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2024</a:t>
            </a:r>
          </a:p>
        </p:txBody>
      </p:sp>
      <p:sp>
        <p:nvSpPr>
          <p:cNvPr id="29" name="Google Shape;272;p37">
            <a:extLst>
              <a:ext uri="{FF2B5EF4-FFF2-40B4-BE49-F238E27FC236}">
                <a16:creationId xmlns:a16="http://schemas.microsoft.com/office/drawing/2014/main" id="{1A10DF5E-6733-D8A7-085D-9F302DCEB787}"/>
              </a:ext>
            </a:extLst>
          </p:cNvPr>
          <p:cNvSpPr/>
          <p:nvPr/>
        </p:nvSpPr>
        <p:spPr>
          <a:xfrm>
            <a:off x="3376318" y="2264588"/>
            <a:ext cx="427200" cy="427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 dirty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2</a:t>
            </a:r>
            <a:endParaRPr sz="3700" dirty="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cxnSp>
        <p:nvCxnSpPr>
          <p:cNvPr id="30" name="Google Shape;273;p37">
            <a:extLst>
              <a:ext uri="{FF2B5EF4-FFF2-40B4-BE49-F238E27FC236}">
                <a16:creationId xmlns:a16="http://schemas.microsoft.com/office/drawing/2014/main" id="{9D5DDF50-BB21-186F-FBD6-774F8044F02B}"/>
              </a:ext>
            </a:extLst>
          </p:cNvPr>
          <p:cNvCxnSpPr>
            <a:stCxn id="29" idx="6"/>
          </p:cNvCxnSpPr>
          <p:nvPr/>
        </p:nvCxnSpPr>
        <p:spPr>
          <a:xfrm>
            <a:off x="3803518" y="2478188"/>
            <a:ext cx="55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31" name="Google Shape;275;p37">
            <a:extLst>
              <a:ext uri="{FF2B5EF4-FFF2-40B4-BE49-F238E27FC236}">
                <a16:creationId xmlns:a16="http://schemas.microsoft.com/office/drawing/2014/main" id="{D58547C8-B1C0-9E5F-825A-46D6C1625360}"/>
              </a:ext>
            </a:extLst>
          </p:cNvPr>
          <p:cNvSpPr txBox="1"/>
          <p:nvPr/>
        </p:nvSpPr>
        <p:spPr>
          <a:xfrm>
            <a:off x="4594401" y="3057140"/>
            <a:ext cx="4081891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Uses frozen SVD factors plus a tiny trainable core to cut parameters drastically.</a:t>
            </a:r>
          </a:p>
        </p:txBody>
      </p:sp>
      <p:sp>
        <p:nvSpPr>
          <p:cNvPr id="32" name="Google Shape;271;p37">
            <a:extLst>
              <a:ext uri="{FF2B5EF4-FFF2-40B4-BE49-F238E27FC236}">
                <a16:creationId xmlns:a16="http://schemas.microsoft.com/office/drawing/2014/main" id="{495D03EC-7736-0744-1A20-A3A9E52CDDF6}"/>
              </a:ext>
            </a:extLst>
          </p:cNvPr>
          <p:cNvSpPr txBox="1"/>
          <p:nvPr/>
        </p:nvSpPr>
        <p:spPr>
          <a:xfrm>
            <a:off x="411480" y="2767876"/>
            <a:ext cx="1528687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dirty="0" err="1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LoRA</a:t>
            </a:r>
            <a:r>
              <a:rPr lang="en-US" sz="3700" dirty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-XS</a:t>
            </a:r>
          </a:p>
        </p:txBody>
      </p:sp>
      <p:cxnSp>
        <p:nvCxnSpPr>
          <p:cNvPr id="33" name="Google Shape;270;p37">
            <a:extLst>
              <a:ext uri="{FF2B5EF4-FFF2-40B4-BE49-F238E27FC236}">
                <a16:creationId xmlns:a16="http://schemas.microsoft.com/office/drawing/2014/main" id="{39B97584-28E0-DFF9-ED54-7E2CE1B2F3EF}"/>
              </a:ext>
            </a:extLst>
          </p:cNvPr>
          <p:cNvCxnSpPr>
            <a:cxnSpLocks/>
          </p:cNvCxnSpPr>
          <p:nvPr/>
        </p:nvCxnSpPr>
        <p:spPr>
          <a:xfrm>
            <a:off x="1940168" y="3272128"/>
            <a:ext cx="1218083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BC78350-45C0-2695-CED5-8DB1DE5433BB}"/>
              </a:ext>
            </a:extLst>
          </p:cNvPr>
          <p:cNvSpPr txBox="1"/>
          <p:nvPr/>
        </p:nvSpPr>
        <p:spPr>
          <a:xfrm>
            <a:off x="2206290" y="2979181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2024</a:t>
            </a:r>
          </a:p>
        </p:txBody>
      </p:sp>
      <p:sp>
        <p:nvSpPr>
          <p:cNvPr id="35" name="Google Shape;272;p37">
            <a:extLst>
              <a:ext uri="{FF2B5EF4-FFF2-40B4-BE49-F238E27FC236}">
                <a16:creationId xmlns:a16="http://schemas.microsoft.com/office/drawing/2014/main" id="{E8389A8E-5A56-70A8-5A68-A39D337E2702}"/>
              </a:ext>
            </a:extLst>
          </p:cNvPr>
          <p:cNvSpPr/>
          <p:nvPr/>
        </p:nvSpPr>
        <p:spPr>
          <a:xfrm>
            <a:off x="3376318" y="3049594"/>
            <a:ext cx="427200" cy="427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 dirty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3</a:t>
            </a:r>
            <a:endParaRPr sz="3700" dirty="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cxnSp>
        <p:nvCxnSpPr>
          <p:cNvPr id="36" name="Google Shape;273;p37">
            <a:extLst>
              <a:ext uri="{FF2B5EF4-FFF2-40B4-BE49-F238E27FC236}">
                <a16:creationId xmlns:a16="http://schemas.microsoft.com/office/drawing/2014/main" id="{0F5445A5-63B8-5DD7-FF51-8BEA297E68DB}"/>
              </a:ext>
            </a:extLst>
          </p:cNvPr>
          <p:cNvCxnSpPr>
            <a:stCxn id="35" idx="6"/>
          </p:cNvCxnSpPr>
          <p:nvPr/>
        </p:nvCxnSpPr>
        <p:spPr>
          <a:xfrm>
            <a:off x="3803518" y="3263194"/>
            <a:ext cx="55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37" name="Google Shape;275;p37">
            <a:extLst>
              <a:ext uri="{FF2B5EF4-FFF2-40B4-BE49-F238E27FC236}">
                <a16:creationId xmlns:a16="http://schemas.microsoft.com/office/drawing/2014/main" id="{6E816BF2-6B68-5B28-1259-B583154D03F5}"/>
              </a:ext>
            </a:extLst>
          </p:cNvPr>
          <p:cNvSpPr txBox="1"/>
          <p:nvPr/>
        </p:nvSpPr>
        <p:spPr>
          <a:xfrm>
            <a:off x="4594401" y="3809819"/>
            <a:ext cx="4081891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13 Parameters pushes the update budget toward only a handful of trainable parameters.</a:t>
            </a:r>
          </a:p>
        </p:txBody>
      </p:sp>
      <p:sp>
        <p:nvSpPr>
          <p:cNvPr id="38" name="Google Shape;271;p37">
            <a:extLst>
              <a:ext uri="{FF2B5EF4-FFF2-40B4-BE49-F238E27FC236}">
                <a16:creationId xmlns:a16="http://schemas.microsoft.com/office/drawing/2014/main" id="{C928DAF2-730E-C9F7-D97C-72AD6B64CC90}"/>
              </a:ext>
            </a:extLst>
          </p:cNvPr>
          <p:cNvSpPr txBox="1"/>
          <p:nvPr/>
        </p:nvSpPr>
        <p:spPr>
          <a:xfrm>
            <a:off x="308112" y="3520555"/>
            <a:ext cx="1794810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dirty="0" err="1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TinyLoRA</a:t>
            </a:r>
            <a:endParaRPr lang="en-US" sz="3700" dirty="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cxnSp>
        <p:nvCxnSpPr>
          <p:cNvPr id="39" name="Google Shape;270;p37">
            <a:extLst>
              <a:ext uri="{FF2B5EF4-FFF2-40B4-BE49-F238E27FC236}">
                <a16:creationId xmlns:a16="http://schemas.microsoft.com/office/drawing/2014/main" id="{13CDB156-759D-10EC-EC6F-DDC35C3EF36D}"/>
              </a:ext>
            </a:extLst>
          </p:cNvPr>
          <p:cNvCxnSpPr>
            <a:cxnSpLocks/>
          </p:cNvCxnSpPr>
          <p:nvPr/>
        </p:nvCxnSpPr>
        <p:spPr>
          <a:xfrm>
            <a:off x="1940168" y="4024807"/>
            <a:ext cx="1218083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2D98CB6-6E30-FA9D-9D73-C4249A929EE7}"/>
              </a:ext>
            </a:extLst>
          </p:cNvPr>
          <p:cNvSpPr txBox="1"/>
          <p:nvPr/>
        </p:nvSpPr>
        <p:spPr>
          <a:xfrm>
            <a:off x="2206290" y="3731860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</a:t>
            </a:r>
          </a:p>
        </p:txBody>
      </p:sp>
      <p:sp>
        <p:nvSpPr>
          <p:cNvPr id="41" name="Google Shape;272;p37">
            <a:extLst>
              <a:ext uri="{FF2B5EF4-FFF2-40B4-BE49-F238E27FC236}">
                <a16:creationId xmlns:a16="http://schemas.microsoft.com/office/drawing/2014/main" id="{F9C0578A-9407-A6C3-32D4-A18BA8E13F84}"/>
              </a:ext>
            </a:extLst>
          </p:cNvPr>
          <p:cNvSpPr/>
          <p:nvPr/>
        </p:nvSpPr>
        <p:spPr>
          <a:xfrm>
            <a:off x="3376318" y="3802273"/>
            <a:ext cx="427200" cy="427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 dirty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4</a:t>
            </a:r>
            <a:endParaRPr sz="3700" dirty="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cxnSp>
        <p:nvCxnSpPr>
          <p:cNvPr id="42" name="Google Shape;273;p37">
            <a:extLst>
              <a:ext uri="{FF2B5EF4-FFF2-40B4-BE49-F238E27FC236}">
                <a16:creationId xmlns:a16="http://schemas.microsoft.com/office/drawing/2014/main" id="{C7AC2CFD-BF73-F68E-770A-E71A5106A7CA}"/>
              </a:ext>
            </a:extLst>
          </p:cNvPr>
          <p:cNvCxnSpPr>
            <a:stCxn id="41" idx="6"/>
          </p:cNvCxnSpPr>
          <p:nvPr/>
        </p:nvCxnSpPr>
        <p:spPr>
          <a:xfrm>
            <a:off x="3803518" y="4015873"/>
            <a:ext cx="55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88338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F473BC29-8F78-1F7A-2AFB-71094F0F3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>
            <a:extLst>
              <a:ext uri="{FF2B5EF4-FFF2-40B4-BE49-F238E27FC236}">
                <a16:creationId xmlns:a16="http://schemas.microsoft.com/office/drawing/2014/main" id="{D3869F19-660B-17D1-F63D-64FDE9D9603A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228600" y="34254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THREE IDEAS</a:t>
            </a:r>
            <a:endParaRPr dirty="0"/>
          </a:p>
        </p:txBody>
      </p:sp>
      <p:sp>
        <p:nvSpPr>
          <p:cNvPr id="235" name="Google Shape;235;p34">
            <a:extLst>
              <a:ext uri="{FF2B5EF4-FFF2-40B4-BE49-F238E27FC236}">
                <a16:creationId xmlns:a16="http://schemas.microsoft.com/office/drawing/2014/main" id="{3E531A14-DFCC-DF90-BC70-7EFE02280CA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17726" y="2519050"/>
            <a:ext cx="59118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Venus has a beautiful name, it is very hot and is the second planet in our Solar System. Its atmosphere is extremely poisonous. It’s the second-brightest natural object in the night sky after the Moon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Google Shape;236;p34">
                <a:extLst>
                  <a:ext uri="{FF2B5EF4-FFF2-40B4-BE49-F238E27FC236}">
                    <a16:creationId xmlns:a16="http://schemas.microsoft.com/office/drawing/2014/main" id="{57F34D90-DE72-B817-F197-8108A8DF1A3B}"/>
                  </a:ext>
                </a:extLst>
              </p:cNvPr>
              <p:cNvSpPr txBox="1">
                <a:spLocks noGrp="1"/>
              </p:cNvSpPr>
              <p:nvPr>
                <p:ph type="subTitle" idx="2"/>
              </p:nvPr>
            </p:nvSpPr>
            <p:spPr>
              <a:xfrm>
                <a:off x="1214429" y="960891"/>
                <a:ext cx="6800572" cy="7386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/>
                <a:r>
                  <a:rPr lang="en-US" dirty="0"/>
                  <a:t>Low-rank adaptation, or </a:t>
                </a:r>
                <a:r>
                  <a:rPr lang="en-US" dirty="0" err="1"/>
                  <a:t>LoRA</a:t>
                </a:r>
                <a:r>
                  <a:rPr lang="en-US" dirty="0"/>
                  <a:t> (Hu et al., 2021), adapts a frozen linear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∈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dirty="0"/>
                  <a:t>  with a low-rank update:</a:t>
                </a:r>
              </a:p>
              <a:p>
                <a:pPr marL="0" lv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en-US" dirty="0"/>
              </a:p>
              <a:p>
                <a:pPr marL="0" lvl="0" indent="0"/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∈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∈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dirty="0"/>
                  <a:t> aretrainable, and W remains frozen. The number of trainable parameters scales as O(dr) per module. Applying LoRA to m modules across n layers yields O(nmdr) total parameters—typically millions for billion-parameter models (Biderman et al., 2024; Schulman and Lab, 2025).</a:t>
                </a:r>
                <a:endParaRPr dirty="0"/>
              </a:p>
            </p:txBody>
          </p:sp>
        </mc:Choice>
        <mc:Fallback>
          <p:sp>
            <p:nvSpPr>
              <p:cNvPr id="236" name="Google Shape;236;p34">
                <a:extLst>
                  <a:ext uri="{FF2B5EF4-FFF2-40B4-BE49-F238E27FC236}">
                    <a16:creationId xmlns:a16="http://schemas.microsoft.com/office/drawing/2014/main" id="{57F34D90-DE72-B817-F197-8108A8DF1A3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2"/>
              </p:nvPr>
            </p:nvSpPr>
            <p:spPr>
              <a:xfrm>
                <a:off x="1214429" y="960891"/>
                <a:ext cx="6800572" cy="738600"/>
              </a:xfrm>
              <a:prstGeom prst="rect">
                <a:avLst/>
              </a:prstGeom>
              <a:blipFill>
                <a:blip r:embed="rId3"/>
                <a:stretch>
                  <a:fillRect b="-98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Google Shape;237;p34">
            <a:extLst>
              <a:ext uri="{FF2B5EF4-FFF2-40B4-BE49-F238E27FC236}">
                <a16:creationId xmlns:a16="http://schemas.microsoft.com/office/drawing/2014/main" id="{BAD6828F-15D7-0E8C-9D70-A59706B6CF6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017752" y="3832400"/>
            <a:ext cx="5911800" cy="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the Solar System. It’s the fourth-brightest object in the night sky and it has around eighty moons. It was named after the Roman god of the skies</a:t>
            </a:r>
            <a:endParaRPr/>
          </a:p>
        </p:txBody>
      </p:sp>
      <p:sp>
        <p:nvSpPr>
          <p:cNvPr id="238" name="Google Shape;238;p34">
            <a:extLst>
              <a:ext uri="{FF2B5EF4-FFF2-40B4-BE49-F238E27FC236}">
                <a16:creationId xmlns:a16="http://schemas.microsoft.com/office/drawing/2014/main" id="{10B00F88-6760-F532-749C-1E5EB36A0F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4429" y="2702041"/>
            <a:ext cx="9303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39" name="Google Shape;239;p34">
            <a:extLst>
              <a:ext uri="{FF2B5EF4-FFF2-40B4-BE49-F238E27FC236}">
                <a16:creationId xmlns:a16="http://schemas.microsoft.com/office/drawing/2014/main" id="{F5A6B80F-BB7E-D69E-DA65-1B5DBD880A8A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11838" y="1144032"/>
            <a:ext cx="9285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40" name="Google Shape;240;p34">
            <a:extLst>
              <a:ext uri="{FF2B5EF4-FFF2-40B4-BE49-F238E27FC236}">
                <a16:creationId xmlns:a16="http://schemas.microsoft.com/office/drawing/2014/main" id="{0F78BB30-2E42-5002-F697-7D328E68DE26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215241" y="4015391"/>
            <a:ext cx="9303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5071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A9E78E91-E51F-C72F-F53E-D9463FD4C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54315AB6-3DC8-B8C8-F0F5-959409EF9E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4678" y="2401800"/>
            <a:ext cx="478071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Project Workflow</a:t>
            </a:r>
          </a:p>
        </p:txBody>
      </p:sp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2637E128-68B5-B3AC-54A1-A3060D8B212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1498357"/>
            <a:ext cx="3009300" cy="20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3156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0DDC124-2519-45D7-1F4A-D8100C3FE9F1}"/>
              </a:ext>
            </a:extLst>
          </p:cNvPr>
          <p:cNvGrpSpPr/>
          <p:nvPr/>
        </p:nvGrpSpPr>
        <p:grpSpPr>
          <a:xfrm>
            <a:off x="5600891" y="400348"/>
            <a:ext cx="3302407" cy="1134692"/>
            <a:chOff x="5897918" y="3170712"/>
            <a:chExt cx="3302407" cy="1134692"/>
          </a:xfrm>
        </p:grpSpPr>
        <p:grpSp>
          <p:nvGrpSpPr>
            <p:cNvPr id="2" name="Google Shape;935;p46">
              <a:extLst>
                <a:ext uri="{FF2B5EF4-FFF2-40B4-BE49-F238E27FC236}">
                  <a16:creationId xmlns:a16="http://schemas.microsoft.com/office/drawing/2014/main" id="{4B7BF108-A58B-ED08-732B-559789C25E7C}"/>
                </a:ext>
              </a:extLst>
            </p:cNvPr>
            <p:cNvGrpSpPr/>
            <p:nvPr/>
          </p:nvGrpSpPr>
          <p:grpSpPr>
            <a:xfrm>
              <a:off x="5897918" y="3182688"/>
              <a:ext cx="215207" cy="306930"/>
              <a:chOff x="8304647" y="3738687"/>
              <a:chExt cx="225065" cy="320956"/>
            </a:xfrm>
          </p:grpSpPr>
          <p:sp>
            <p:nvSpPr>
              <p:cNvPr id="3" name="Google Shape;936;p46">
                <a:extLst>
                  <a:ext uri="{FF2B5EF4-FFF2-40B4-BE49-F238E27FC236}">
                    <a16:creationId xmlns:a16="http://schemas.microsoft.com/office/drawing/2014/main" id="{148BAF0F-A6D7-BE39-CB45-5A116373CD8C}"/>
                  </a:ext>
                </a:extLst>
              </p:cNvPr>
              <p:cNvSpPr/>
              <p:nvPr/>
            </p:nvSpPr>
            <p:spPr>
              <a:xfrm>
                <a:off x="8335725" y="3738687"/>
                <a:ext cx="12248" cy="309245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34011" extrusionOk="0">
                    <a:moveTo>
                      <a:pt x="0" y="0"/>
                    </a:moveTo>
                    <a:lnTo>
                      <a:pt x="0" y="34010"/>
                    </a:lnTo>
                    <a:lnTo>
                      <a:pt x="1347" y="34010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5032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" name="Google Shape;937;p46">
                <a:extLst>
                  <a:ext uri="{FF2B5EF4-FFF2-40B4-BE49-F238E27FC236}">
                    <a16:creationId xmlns:a16="http://schemas.microsoft.com/office/drawing/2014/main" id="{A3A037CE-2739-2BE4-3210-84F5B63EAA08}"/>
                  </a:ext>
                </a:extLst>
              </p:cNvPr>
              <p:cNvSpPr/>
              <p:nvPr/>
            </p:nvSpPr>
            <p:spPr>
              <a:xfrm>
                <a:off x="8337932" y="3738688"/>
                <a:ext cx="191780" cy="86151"/>
              </a:xfrm>
              <a:custGeom>
                <a:avLst/>
                <a:gdLst/>
                <a:ahLst/>
                <a:cxnLst/>
                <a:rect l="l" t="t" r="r" b="b"/>
                <a:pathLst>
                  <a:path w="21092" h="9475" extrusionOk="0">
                    <a:moveTo>
                      <a:pt x="1" y="0"/>
                    </a:moveTo>
                    <a:lnTo>
                      <a:pt x="432" y="9475"/>
                    </a:lnTo>
                    <a:lnTo>
                      <a:pt x="21092" y="9475"/>
                    </a:lnTo>
                    <a:lnTo>
                      <a:pt x="17648" y="4524"/>
                    </a:lnTo>
                    <a:lnTo>
                      <a:pt x="21092" y="0"/>
                    </a:lnTo>
                    <a:close/>
                  </a:path>
                </a:pathLst>
              </a:custGeom>
              <a:solidFill>
                <a:srgbClr val="5032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" name="Google Shape;938;p46">
                <a:extLst>
                  <a:ext uri="{FF2B5EF4-FFF2-40B4-BE49-F238E27FC236}">
                    <a16:creationId xmlns:a16="http://schemas.microsoft.com/office/drawing/2014/main" id="{497F8380-4A16-E20E-57B4-7CFF34CA16E8}"/>
                  </a:ext>
                </a:extLst>
              </p:cNvPr>
              <p:cNvSpPr/>
              <p:nvPr/>
            </p:nvSpPr>
            <p:spPr>
              <a:xfrm>
                <a:off x="8304647" y="4044004"/>
                <a:ext cx="76341" cy="15639"/>
              </a:xfrm>
              <a:custGeom>
                <a:avLst/>
                <a:gdLst/>
                <a:ahLst/>
                <a:cxnLst/>
                <a:rect l="l" t="t" r="r" b="b"/>
                <a:pathLst>
                  <a:path w="8396" h="1720" extrusionOk="0">
                    <a:moveTo>
                      <a:pt x="4200" y="0"/>
                    </a:moveTo>
                    <a:cubicBezTo>
                      <a:pt x="1881" y="0"/>
                      <a:pt x="1" y="382"/>
                      <a:pt x="1" y="862"/>
                    </a:cubicBezTo>
                    <a:cubicBezTo>
                      <a:pt x="1" y="1338"/>
                      <a:pt x="1881" y="1720"/>
                      <a:pt x="4200" y="1720"/>
                    </a:cubicBezTo>
                    <a:cubicBezTo>
                      <a:pt x="6516" y="1720"/>
                      <a:pt x="8395" y="1338"/>
                      <a:pt x="8395" y="862"/>
                    </a:cubicBezTo>
                    <a:cubicBezTo>
                      <a:pt x="8395" y="382"/>
                      <a:pt x="6516" y="0"/>
                      <a:pt x="4200" y="0"/>
                    </a:cubicBezTo>
                    <a:close/>
                  </a:path>
                </a:pathLst>
              </a:custGeom>
              <a:solidFill>
                <a:srgbClr val="5032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939;p46">
              <a:extLst>
                <a:ext uri="{FF2B5EF4-FFF2-40B4-BE49-F238E27FC236}">
                  <a16:creationId xmlns:a16="http://schemas.microsoft.com/office/drawing/2014/main" id="{DCF047BF-C6BF-0DE2-D338-78FA9C7A1D93}"/>
                </a:ext>
              </a:extLst>
            </p:cNvPr>
            <p:cNvGrpSpPr/>
            <p:nvPr/>
          </p:nvGrpSpPr>
          <p:grpSpPr>
            <a:xfrm>
              <a:off x="7925536" y="3882149"/>
              <a:ext cx="198502" cy="306930"/>
              <a:chOff x="8615101" y="3738687"/>
              <a:chExt cx="207573" cy="320956"/>
            </a:xfrm>
          </p:grpSpPr>
          <p:sp>
            <p:nvSpPr>
              <p:cNvPr id="7" name="Google Shape;940;p46">
                <a:extLst>
                  <a:ext uri="{FF2B5EF4-FFF2-40B4-BE49-F238E27FC236}">
                    <a16:creationId xmlns:a16="http://schemas.microsoft.com/office/drawing/2014/main" id="{7D6CB918-F9F0-8FF9-843E-4E1D866AFB32}"/>
                  </a:ext>
                </a:extLst>
              </p:cNvPr>
              <p:cNvSpPr/>
              <p:nvPr/>
            </p:nvSpPr>
            <p:spPr>
              <a:xfrm>
                <a:off x="8646134" y="3738687"/>
                <a:ext cx="12248" cy="309245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34011" extrusionOk="0">
                    <a:moveTo>
                      <a:pt x="0" y="0"/>
                    </a:moveTo>
                    <a:lnTo>
                      <a:pt x="0" y="34010"/>
                    </a:lnTo>
                    <a:lnTo>
                      <a:pt x="1347" y="34010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224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941;p46">
                <a:extLst>
                  <a:ext uri="{FF2B5EF4-FFF2-40B4-BE49-F238E27FC236}">
                    <a16:creationId xmlns:a16="http://schemas.microsoft.com/office/drawing/2014/main" id="{3C6767E6-6E77-5568-CF40-646630B5B9E1}"/>
                  </a:ext>
                </a:extLst>
              </p:cNvPr>
              <p:cNvSpPr/>
              <p:nvPr/>
            </p:nvSpPr>
            <p:spPr>
              <a:xfrm>
                <a:off x="8615101" y="4044004"/>
                <a:ext cx="76332" cy="15639"/>
              </a:xfrm>
              <a:custGeom>
                <a:avLst/>
                <a:gdLst/>
                <a:ahLst/>
                <a:cxnLst/>
                <a:rect l="l" t="t" r="r" b="b"/>
                <a:pathLst>
                  <a:path w="8395" h="1720" extrusionOk="0">
                    <a:moveTo>
                      <a:pt x="4195" y="0"/>
                    </a:moveTo>
                    <a:cubicBezTo>
                      <a:pt x="1875" y="0"/>
                      <a:pt x="0" y="382"/>
                      <a:pt x="0" y="862"/>
                    </a:cubicBezTo>
                    <a:cubicBezTo>
                      <a:pt x="0" y="1338"/>
                      <a:pt x="1875" y="1720"/>
                      <a:pt x="4195" y="1720"/>
                    </a:cubicBezTo>
                    <a:cubicBezTo>
                      <a:pt x="6515" y="1720"/>
                      <a:pt x="8395" y="1338"/>
                      <a:pt x="8395" y="862"/>
                    </a:cubicBezTo>
                    <a:cubicBezTo>
                      <a:pt x="8395" y="382"/>
                      <a:pt x="6515" y="0"/>
                      <a:pt x="4195" y="0"/>
                    </a:cubicBezTo>
                    <a:close/>
                  </a:path>
                </a:pathLst>
              </a:custGeom>
              <a:solidFill>
                <a:srgbClr val="2224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942;p46">
                <a:extLst>
                  <a:ext uri="{FF2B5EF4-FFF2-40B4-BE49-F238E27FC236}">
                    <a16:creationId xmlns:a16="http://schemas.microsoft.com/office/drawing/2014/main" id="{0CD0F5F3-E7F8-F847-07A0-DC262EA7CC2A}"/>
                  </a:ext>
                </a:extLst>
              </p:cNvPr>
              <p:cNvSpPr/>
              <p:nvPr/>
            </p:nvSpPr>
            <p:spPr>
              <a:xfrm>
                <a:off x="8651953" y="3738687"/>
                <a:ext cx="170721" cy="99808"/>
              </a:xfrm>
              <a:custGeom>
                <a:avLst/>
                <a:gdLst/>
                <a:ahLst/>
                <a:cxnLst/>
                <a:rect l="l" t="t" r="r" b="b"/>
                <a:pathLst>
                  <a:path w="18776" h="10977" extrusionOk="0">
                    <a:moveTo>
                      <a:pt x="707" y="0"/>
                    </a:moveTo>
                    <a:lnTo>
                      <a:pt x="0" y="10977"/>
                    </a:lnTo>
                    <a:lnTo>
                      <a:pt x="18776" y="4360"/>
                    </a:lnTo>
                    <a:lnTo>
                      <a:pt x="707" y="0"/>
                    </a:lnTo>
                    <a:close/>
                  </a:path>
                </a:pathLst>
              </a:custGeom>
              <a:solidFill>
                <a:srgbClr val="2224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6C2F22-EF7A-8F8C-AD4E-7DD36FCDCB79}"/>
                </a:ext>
              </a:extLst>
            </p:cNvPr>
            <p:cNvSpPr txBox="1"/>
            <p:nvPr/>
          </p:nvSpPr>
          <p:spPr>
            <a:xfrm>
              <a:off x="6005522" y="3170712"/>
              <a:ext cx="8018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dk1"/>
                  </a:solidFill>
                  <a:latin typeface="VT323"/>
                  <a:sym typeface="VT323"/>
                </a:rPr>
                <a:t>GSM8K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1941454-1C9B-998D-971D-7EA8E8E788EB}"/>
                </a:ext>
              </a:extLst>
            </p:cNvPr>
            <p:cNvSpPr txBox="1"/>
            <p:nvPr/>
          </p:nvSpPr>
          <p:spPr>
            <a:xfrm>
              <a:off x="8028209" y="3843739"/>
              <a:ext cx="11721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dk1"/>
                  </a:solidFill>
                  <a:latin typeface="VT323"/>
                  <a:sym typeface="VT323"/>
                </a:rPr>
                <a:t>Olympiad</a:t>
              </a:r>
            </a:p>
          </p:txBody>
        </p:sp>
        <p:cxnSp>
          <p:nvCxnSpPr>
            <p:cNvPr id="12" name="Google Shape;1215;p47">
              <a:extLst>
                <a:ext uri="{FF2B5EF4-FFF2-40B4-BE49-F238E27FC236}">
                  <a16:creationId xmlns:a16="http://schemas.microsoft.com/office/drawing/2014/main" id="{BAA8AEB7-3D12-A27D-816E-AD011515E3EB}"/>
                </a:ext>
              </a:extLst>
            </p:cNvPr>
            <p:cNvCxnSpPr>
              <a:cxnSpLocks/>
            </p:cNvCxnSpPr>
            <p:nvPr/>
          </p:nvCxnSpPr>
          <p:spPr>
            <a:xfrm>
              <a:off x="6964457" y="3461738"/>
              <a:ext cx="803967" cy="520919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Text 8">
            <a:extLst>
              <a:ext uri="{FF2B5EF4-FFF2-40B4-BE49-F238E27FC236}">
                <a16:creationId xmlns:a16="http://schemas.microsoft.com/office/drawing/2014/main" id="{64F6E81B-7A11-1CFF-BC55-8060E9A67E18}"/>
              </a:ext>
            </a:extLst>
          </p:cNvPr>
          <p:cNvSpPr/>
          <p:nvPr/>
        </p:nvSpPr>
        <p:spPr>
          <a:xfrm>
            <a:off x="3555890" y="2495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2B4943-5007-F1D5-8B8D-CF526E9F15EA}"/>
              </a:ext>
            </a:extLst>
          </p:cNvPr>
          <p:cNvGrpSpPr/>
          <p:nvPr/>
        </p:nvGrpSpPr>
        <p:grpSpPr>
          <a:xfrm>
            <a:off x="502209" y="1101990"/>
            <a:ext cx="8401089" cy="1786905"/>
            <a:chOff x="471729" y="1700521"/>
            <a:chExt cx="8401089" cy="1786905"/>
          </a:xfrm>
        </p:grpSpPr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F7804131-4A74-767F-002E-700B3708B612}"/>
                </a:ext>
              </a:extLst>
            </p:cNvPr>
            <p:cNvSpPr/>
            <p:nvPr/>
          </p:nvSpPr>
          <p:spPr>
            <a:xfrm flipV="1">
              <a:off x="2367170" y="2464158"/>
              <a:ext cx="339317" cy="301988"/>
            </a:xfrm>
            <a:prstGeom prst="line">
              <a:avLst/>
            </a:prstGeom>
            <a:noFill/>
            <a:ln w="17780">
              <a:solidFill>
                <a:srgbClr val="2A2A2A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0">
              <a:extLst>
                <a:ext uri="{FF2B5EF4-FFF2-40B4-BE49-F238E27FC236}">
                  <a16:creationId xmlns:a16="http://schemas.microsoft.com/office/drawing/2014/main" id="{7C1AFFDE-FA25-DF25-C090-2C1C188657EE}"/>
                </a:ext>
              </a:extLst>
            </p:cNvPr>
            <p:cNvSpPr/>
            <p:nvPr/>
          </p:nvSpPr>
          <p:spPr>
            <a:xfrm>
              <a:off x="4729408" y="2766146"/>
              <a:ext cx="472402" cy="0"/>
            </a:xfrm>
            <a:prstGeom prst="line">
              <a:avLst/>
            </a:prstGeom>
            <a:noFill/>
            <a:ln w="17780">
              <a:solidFill>
                <a:srgbClr val="2A2A2A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E0324121-6BB8-0FA2-E15D-DDB8885F1AD4}"/>
                </a:ext>
              </a:extLst>
            </p:cNvPr>
            <p:cNvSpPr/>
            <p:nvPr/>
          </p:nvSpPr>
          <p:spPr>
            <a:xfrm>
              <a:off x="471729" y="2487975"/>
              <a:ext cx="1780855" cy="520455"/>
            </a:xfrm>
            <a:prstGeom prst="rect">
              <a:avLst/>
            </a:prstGeom>
            <a:ln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417320"/>
                        <a:gd name="csY0" fmla="*/ 0 h 713232"/>
                        <a:gd name="csX1" fmla="*/ 458267 w 1417320"/>
                        <a:gd name="csY1" fmla="*/ 0 h 713232"/>
                        <a:gd name="csX2" fmla="*/ 930707 w 1417320"/>
                        <a:gd name="csY2" fmla="*/ 0 h 713232"/>
                        <a:gd name="csX3" fmla="*/ 1417320 w 1417320"/>
                        <a:gd name="csY3" fmla="*/ 0 h 713232"/>
                        <a:gd name="csX4" fmla="*/ 1417320 w 1417320"/>
                        <a:gd name="csY4" fmla="*/ 356616 h 713232"/>
                        <a:gd name="csX5" fmla="*/ 1417320 w 1417320"/>
                        <a:gd name="csY5" fmla="*/ 713232 h 713232"/>
                        <a:gd name="csX6" fmla="*/ 944880 w 1417320"/>
                        <a:gd name="csY6" fmla="*/ 713232 h 713232"/>
                        <a:gd name="csX7" fmla="*/ 500786 w 1417320"/>
                        <a:gd name="csY7" fmla="*/ 713232 h 713232"/>
                        <a:gd name="csX8" fmla="*/ 0 w 1417320"/>
                        <a:gd name="csY8" fmla="*/ 713232 h 713232"/>
                        <a:gd name="csX9" fmla="*/ 0 w 1417320"/>
                        <a:gd name="csY9" fmla="*/ 363748 h 713232"/>
                        <a:gd name="csX10" fmla="*/ 0 w 1417320"/>
                        <a:gd name="csY10" fmla="*/ 0 h 71323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</a:cxnLst>
                      <a:rect l="l" t="t" r="r" b="b"/>
                      <a:pathLst>
                        <a:path w="1417320" h="713232" fill="none" extrusionOk="0">
                          <a:moveTo>
                            <a:pt x="0" y="0"/>
                          </a:moveTo>
                          <a:cubicBezTo>
                            <a:pt x="219628" y="-35669"/>
                            <a:pt x="245571" y="46256"/>
                            <a:pt x="458267" y="0"/>
                          </a:cubicBezTo>
                          <a:cubicBezTo>
                            <a:pt x="670963" y="-46256"/>
                            <a:pt x="805383" y="26034"/>
                            <a:pt x="930707" y="0"/>
                          </a:cubicBezTo>
                          <a:cubicBezTo>
                            <a:pt x="1056031" y="-26034"/>
                            <a:pt x="1252097" y="21579"/>
                            <a:pt x="1417320" y="0"/>
                          </a:cubicBezTo>
                          <a:cubicBezTo>
                            <a:pt x="1424743" y="88960"/>
                            <a:pt x="1379528" y="260214"/>
                            <a:pt x="1417320" y="356616"/>
                          </a:cubicBezTo>
                          <a:cubicBezTo>
                            <a:pt x="1455112" y="453018"/>
                            <a:pt x="1414424" y="602218"/>
                            <a:pt x="1417320" y="713232"/>
                          </a:cubicBezTo>
                          <a:cubicBezTo>
                            <a:pt x="1293342" y="730912"/>
                            <a:pt x="1079867" y="665424"/>
                            <a:pt x="944880" y="713232"/>
                          </a:cubicBezTo>
                          <a:cubicBezTo>
                            <a:pt x="809893" y="761040"/>
                            <a:pt x="664035" y="678897"/>
                            <a:pt x="500786" y="713232"/>
                          </a:cubicBezTo>
                          <a:cubicBezTo>
                            <a:pt x="337537" y="747567"/>
                            <a:pt x="164850" y="704973"/>
                            <a:pt x="0" y="713232"/>
                          </a:cubicBezTo>
                          <a:cubicBezTo>
                            <a:pt x="-29261" y="638842"/>
                            <a:pt x="15265" y="522098"/>
                            <a:pt x="0" y="363748"/>
                          </a:cubicBezTo>
                          <a:cubicBezTo>
                            <a:pt x="-15265" y="205398"/>
                            <a:pt x="30982" y="112465"/>
                            <a:pt x="0" y="0"/>
                          </a:cubicBezTo>
                          <a:close/>
                        </a:path>
                        <a:path w="1417320" h="713232" stroke="0" extrusionOk="0">
                          <a:moveTo>
                            <a:pt x="0" y="0"/>
                          </a:moveTo>
                          <a:cubicBezTo>
                            <a:pt x="199316" y="-31745"/>
                            <a:pt x="285117" y="34527"/>
                            <a:pt x="458267" y="0"/>
                          </a:cubicBezTo>
                          <a:cubicBezTo>
                            <a:pt x="631417" y="-34527"/>
                            <a:pt x="714561" y="29407"/>
                            <a:pt x="888187" y="0"/>
                          </a:cubicBezTo>
                          <a:cubicBezTo>
                            <a:pt x="1061813" y="-29407"/>
                            <a:pt x="1288396" y="21928"/>
                            <a:pt x="1417320" y="0"/>
                          </a:cubicBezTo>
                          <a:cubicBezTo>
                            <a:pt x="1421717" y="93881"/>
                            <a:pt x="1399800" y="246329"/>
                            <a:pt x="1417320" y="349484"/>
                          </a:cubicBezTo>
                          <a:cubicBezTo>
                            <a:pt x="1434840" y="452639"/>
                            <a:pt x="1411528" y="550680"/>
                            <a:pt x="1417320" y="713232"/>
                          </a:cubicBezTo>
                          <a:cubicBezTo>
                            <a:pt x="1276551" y="723423"/>
                            <a:pt x="1142744" y="666330"/>
                            <a:pt x="973226" y="713232"/>
                          </a:cubicBezTo>
                          <a:cubicBezTo>
                            <a:pt x="803708" y="760134"/>
                            <a:pt x="643812" y="694663"/>
                            <a:pt x="529133" y="713232"/>
                          </a:cubicBezTo>
                          <a:cubicBezTo>
                            <a:pt x="414454" y="731801"/>
                            <a:pt x="176661" y="707465"/>
                            <a:pt x="0" y="713232"/>
                          </a:cubicBezTo>
                          <a:cubicBezTo>
                            <a:pt x="-37109" y="568039"/>
                            <a:pt x="7245" y="450204"/>
                            <a:pt x="0" y="378013"/>
                          </a:cubicBezTo>
                          <a:cubicBezTo>
                            <a:pt x="-7245" y="305822"/>
                            <a:pt x="18209" y="15351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Qwen2.5-Math-1.5B</a:t>
              </a:r>
              <a:endParaRPr lang="en-US" sz="115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8A4280-83D0-869F-B730-E56F228E2821}"/>
                </a:ext>
              </a:extLst>
            </p:cNvPr>
            <p:cNvSpPr txBox="1"/>
            <p:nvPr/>
          </p:nvSpPr>
          <p:spPr>
            <a:xfrm>
              <a:off x="471729" y="2133571"/>
              <a:ext cx="10021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Base model</a:t>
              </a:r>
              <a:endParaRPr lang="en-US" sz="1200" i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F9CDD983-096E-ECC2-0564-92404AA17E95}"/>
                </a:ext>
              </a:extLst>
            </p:cNvPr>
            <p:cNvSpPr/>
            <p:nvPr/>
          </p:nvSpPr>
          <p:spPr>
            <a:xfrm>
              <a:off x="2791145" y="2048672"/>
              <a:ext cx="1780855" cy="610039"/>
            </a:xfrm>
            <a:prstGeom prst="rect">
              <a:avLst/>
            </a:prstGeom>
            <a:ln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417320"/>
                        <a:gd name="csY0" fmla="*/ 0 h 713232"/>
                        <a:gd name="csX1" fmla="*/ 458267 w 1417320"/>
                        <a:gd name="csY1" fmla="*/ 0 h 713232"/>
                        <a:gd name="csX2" fmla="*/ 930707 w 1417320"/>
                        <a:gd name="csY2" fmla="*/ 0 h 713232"/>
                        <a:gd name="csX3" fmla="*/ 1417320 w 1417320"/>
                        <a:gd name="csY3" fmla="*/ 0 h 713232"/>
                        <a:gd name="csX4" fmla="*/ 1417320 w 1417320"/>
                        <a:gd name="csY4" fmla="*/ 356616 h 713232"/>
                        <a:gd name="csX5" fmla="*/ 1417320 w 1417320"/>
                        <a:gd name="csY5" fmla="*/ 713232 h 713232"/>
                        <a:gd name="csX6" fmla="*/ 944880 w 1417320"/>
                        <a:gd name="csY6" fmla="*/ 713232 h 713232"/>
                        <a:gd name="csX7" fmla="*/ 500786 w 1417320"/>
                        <a:gd name="csY7" fmla="*/ 713232 h 713232"/>
                        <a:gd name="csX8" fmla="*/ 0 w 1417320"/>
                        <a:gd name="csY8" fmla="*/ 713232 h 713232"/>
                        <a:gd name="csX9" fmla="*/ 0 w 1417320"/>
                        <a:gd name="csY9" fmla="*/ 363748 h 713232"/>
                        <a:gd name="csX10" fmla="*/ 0 w 1417320"/>
                        <a:gd name="csY10" fmla="*/ 0 h 71323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</a:cxnLst>
                      <a:rect l="l" t="t" r="r" b="b"/>
                      <a:pathLst>
                        <a:path w="1417320" h="713232" fill="none" extrusionOk="0">
                          <a:moveTo>
                            <a:pt x="0" y="0"/>
                          </a:moveTo>
                          <a:cubicBezTo>
                            <a:pt x="219628" y="-35669"/>
                            <a:pt x="245571" y="46256"/>
                            <a:pt x="458267" y="0"/>
                          </a:cubicBezTo>
                          <a:cubicBezTo>
                            <a:pt x="670963" y="-46256"/>
                            <a:pt x="805383" y="26034"/>
                            <a:pt x="930707" y="0"/>
                          </a:cubicBezTo>
                          <a:cubicBezTo>
                            <a:pt x="1056031" y="-26034"/>
                            <a:pt x="1252097" y="21579"/>
                            <a:pt x="1417320" y="0"/>
                          </a:cubicBezTo>
                          <a:cubicBezTo>
                            <a:pt x="1424743" y="88960"/>
                            <a:pt x="1379528" y="260214"/>
                            <a:pt x="1417320" y="356616"/>
                          </a:cubicBezTo>
                          <a:cubicBezTo>
                            <a:pt x="1455112" y="453018"/>
                            <a:pt x="1414424" y="602218"/>
                            <a:pt x="1417320" y="713232"/>
                          </a:cubicBezTo>
                          <a:cubicBezTo>
                            <a:pt x="1293342" y="730912"/>
                            <a:pt x="1079867" y="665424"/>
                            <a:pt x="944880" y="713232"/>
                          </a:cubicBezTo>
                          <a:cubicBezTo>
                            <a:pt x="809893" y="761040"/>
                            <a:pt x="664035" y="678897"/>
                            <a:pt x="500786" y="713232"/>
                          </a:cubicBezTo>
                          <a:cubicBezTo>
                            <a:pt x="337537" y="747567"/>
                            <a:pt x="164850" y="704973"/>
                            <a:pt x="0" y="713232"/>
                          </a:cubicBezTo>
                          <a:cubicBezTo>
                            <a:pt x="-29261" y="638842"/>
                            <a:pt x="15265" y="522098"/>
                            <a:pt x="0" y="363748"/>
                          </a:cubicBezTo>
                          <a:cubicBezTo>
                            <a:pt x="-15265" y="205398"/>
                            <a:pt x="30982" y="112465"/>
                            <a:pt x="0" y="0"/>
                          </a:cubicBezTo>
                          <a:close/>
                        </a:path>
                        <a:path w="1417320" h="713232" stroke="0" extrusionOk="0">
                          <a:moveTo>
                            <a:pt x="0" y="0"/>
                          </a:moveTo>
                          <a:cubicBezTo>
                            <a:pt x="199316" y="-31745"/>
                            <a:pt x="285117" y="34527"/>
                            <a:pt x="458267" y="0"/>
                          </a:cubicBezTo>
                          <a:cubicBezTo>
                            <a:pt x="631417" y="-34527"/>
                            <a:pt x="714561" y="29407"/>
                            <a:pt x="888187" y="0"/>
                          </a:cubicBezTo>
                          <a:cubicBezTo>
                            <a:pt x="1061813" y="-29407"/>
                            <a:pt x="1288396" y="21928"/>
                            <a:pt x="1417320" y="0"/>
                          </a:cubicBezTo>
                          <a:cubicBezTo>
                            <a:pt x="1421717" y="93881"/>
                            <a:pt x="1399800" y="246329"/>
                            <a:pt x="1417320" y="349484"/>
                          </a:cubicBezTo>
                          <a:cubicBezTo>
                            <a:pt x="1434840" y="452639"/>
                            <a:pt x="1411528" y="550680"/>
                            <a:pt x="1417320" y="713232"/>
                          </a:cubicBezTo>
                          <a:cubicBezTo>
                            <a:pt x="1276551" y="723423"/>
                            <a:pt x="1142744" y="666330"/>
                            <a:pt x="973226" y="713232"/>
                          </a:cubicBezTo>
                          <a:cubicBezTo>
                            <a:pt x="803708" y="760134"/>
                            <a:pt x="643812" y="694663"/>
                            <a:pt x="529133" y="713232"/>
                          </a:cubicBezTo>
                          <a:cubicBezTo>
                            <a:pt x="414454" y="731801"/>
                            <a:pt x="176661" y="707465"/>
                            <a:pt x="0" y="713232"/>
                          </a:cubicBezTo>
                          <a:cubicBezTo>
                            <a:pt x="-37109" y="568039"/>
                            <a:pt x="7245" y="450204"/>
                            <a:pt x="0" y="378013"/>
                          </a:cubicBezTo>
                          <a:cubicBezTo>
                            <a:pt x="-7245" y="305822"/>
                            <a:pt x="18209" y="15351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SFT + </a:t>
              </a:r>
              <a:r>
                <a:rPr lang="en-US" sz="1150" b="1" dirty="0" err="1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LoRA</a:t>
              </a:r>
              <a:r>
                <a:rPr lang="en-US" sz="1150" b="1" dirty="0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 r8 / r4 / r2</a:t>
              </a:r>
            </a:p>
          </p:txBody>
        </p:sp>
        <p:sp>
          <p:nvSpPr>
            <p:cNvPr id="33" name="Text 12">
              <a:extLst>
                <a:ext uri="{FF2B5EF4-FFF2-40B4-BE49-F238E27FC236}">
                  <a16:creationId xmlns:a16="http://schemas.microsoft.com/office/drawing/2014/main" id="{BAF54328-6CE0-98FF-764A-EAE852050EBD}"/>
                </a:ext>
              </a:extLst>
            </p:cNvPr>
            <p:cNvSpPr/>
            <p:nvPr/>
          </p:nvSpPr>
          <p:spPr>
            <a:xfrm>
              <a:off x="2791145" y="2877387"/>
              <a:ext cx="1780855" cy="610039"/>
            </a:xfrm>
            <a:prstGeom prst="rect">
              <a:avLst/>
            </a:prstGeom>
            <a:ln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417320"/>
                        <a:gd name="csY0" fmla="*/ 0 h 713232"/>
                        <a:gd name="csX1" fmla="*/ 458267 w 1417320"/>
                        <a:gd name="csY1" fmla="*/ 0 h 713232"/>
                        <a:gd name="csX2" fmla="*/ 930707 w 1417320"/>
                        <a:gd name="csY2" fmla="*/ 0 h 713232"/>
                        <a:gd name="csX3" fmla="*/ 1417320 w 1417320"/>
                        <a:gd name="csY3" fmla="*/ 0 h 713232"/>
                        <a:gd name="csX4" fmla="*/ 1417320 w 1417320"/>
                        <a:gd name="csY4" fmla="*/ 356616 h 713232"/>
                        <a:gd name="csX5" fmla="*/ 1417320 w 1417320"/>
                        <a:gd name="csY5" fmla="*/ 713232 h 713232"/>
                        <a:gd name="csX6" fmla="*/ 944880 w 1417320"/>
                        <a:gd name="csY6" fmla="*/ 713232 h 713232"/>
                        <a:gd name="csX7" fmla="*/ 500786 w 1417320"/>
                        <a:gd name="csY7" fmla="*/ 713232 h 713232"/>
                        <a:gd name="csX8" fmla="*/ 0 w 1417320"/>
                        <a:gd name="csY8" fmla="*/ 713232 h 713232"/>
                        <a:gd name="csX9" fmla="*/ 0 w 1417320"/>
                        <a:gd name="csY9" fmla="*/ 363748 h 713232"/>
                        <a:gd name="csX10" fmla="*/ 0 w 1417320"/>
                        <a:gd name="csY10" fmla="*/ 0 h 71323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</a:cxnLst>
                      <a:rect l="l" t="t" r="r" b="b"/>
                      <a:pathLst>
                        <a:path w="1417320" h="713232" fill="none" extrusionOk="0">
                          <a:moveTo>
                            <a:pt x="0" y="0"/>
                          </a:moveTo>
                          <a:cubicBezTo>
                            <a:pt x="219628" y="-35669"/>
                            <a:pt x="245571" y="46256"/>
                            <a:pt x="458267" y="0"/>
                          </a:cubicBezTo>
                          <a:cubicBezTo>
                            <a:pt x="670963" y="-46256"/>
                            <a:pt x="805383" y="26034"/>
                            <a:pt x="930707" y="0"/>
                          </a:cubicBezTo>
                          <a:cubicBezTo>
                            <a:pt x="1056031" y="-26034"/>
                            <a:pt x="1252097" y="21579"/>
                            <a:pt x="1417320" y="0"/>
                          </a:cubicBezTo>
                          <a:cubicBezTo>
                            <a:pt x="1424743" y="88960"/>
                            <a:pt x="1379528" y="260214"/>
                            <a:pt x="1417320" y="356616"/>
                          </a:cubicBezTo>
                          <a:cubicBezTo>
                            <a:pt x="1455112" y="453018"/>
                            <a:pt x="1414424" y="602218"/>
                            <a:pt x="1417320" y="713232"/>
                          </a:cubicBezTo>
                          <a:cubicBezTo>
                            <a:pt x="1293342" y="730912"/>
                            <a:pt x="1079867" y="665424"/>
                            <a:pt x="944880" y="713232"/>
                          </a:cubicBezTo>
                          <a:cubicBezTo>
                            <a:pt x="809893" y="761040"/>
                            <a:pt x="664035" y="678897"/>
                            <a:pt x="500786" y="713232"/>
                          </a:cubicBezTo>
                          <a:cubicBezTo>
                            <a:pt x="337537" y="747567"/>
                            <a:pt x="164850" y="704973"/>
                            <a:pt x="0" y="713232"/>
                          </a:cubicBezTo>
                          <a:cubicBezTo>
                            <a:pt x="-29261" y="638842"/>
                            <a:pt x="15265" y="522098"/>
                            <a:pt x="0" y="363748"/>
                          </a:cubicBezTo>
                          <a:cubicBezTo>
                            <a:pt x="-15265" y="205398"/>
                            <a:pt x="30982" y="112465"/>
                            <a:pt x="0" y="0"/>
                          </a:cubicBezTo>
                          <a:close/>
                        </a:path>
                        <a:path w="1417320" h="713232" stroke="0" extrusionOk="0">
                          <a:moveTo>
                            <a:pt x="0" y="0"/>
                          </a:moveTo>
                          <a:cubicBezTo>
                            <a:pt x="199316" y="-31745"/>
                            <a:pt x="285117" y="34527"/>
                            <a:pt x="458267" y="0"/>
                          </a:cubicBezTo>
                          <a:cubicBezTo>
                            <a:pt x="631417" y="-34527"/>
                            <a:pt x="714561" y="29407"/>
                            <a:pt x="888187" y="0"/>
                          </a:cubicBezTo>
                          <a:cubicBezTo>
                            <a:pt x="1061813" y="-29407"/>
                            <a:pt x="1288396" y="21928"/>
                            <a:pt x="1417320" y="0"/>
                          </a:cubicBezTo>
                          <a:cubicBezTo>
                            <a:pt x="1421717" y="93881"/>
                            <a:pt x="1399800" y="246329"/>
                            <a:pt x="1417320" y="349484"/>
                          </a:cubicBezTo>
                          <a:cubicBezTo>
                            <a:pt x="1434840" y="452639"/>
                            <a:pt x="1411528" y="550680"/>
                            <a:pt x="1417320" y="713232"/>
                          </a:cubicBezTo>
                          <a:cubicBezTo>
                            <a:pt x="1276551" y="723423"/>
                            <a:pt x="1142744" y="666330"/>
                            <a:pt x="973226" y="713232"/>
                          </a:cubicBezTo>
                          <a:cubicBezTo>
                            <a:pt x="803708" y="760134"/>
                            <a:pt x="643812" y="694663"/>
                            <a:pt x="529133" y="713232"/>
                          </a:cubicBezTo>
                          <a:cubicBezTo>
                            <a:pt x="414454" y="731801"/>
                            <a:pt x="176661" y="707465"/>
                            <a:pt x="0" y="713232"/>
                          </a:cubicBezTo>
                          <a:cubicBezTo>
                            <a:pt x="-37109" y="568039"/>
                            <a:pt x="7245" y="450204"/>
                            <a:pt x="0" y="378013"/>
                          </a:cubicBezTo>
                          <a:cubicBezTo>
                            <a:pt x="-7245" y="305822"/>
                            <a:pt x="18209" y="15351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GRPO + </a:t>
              </a:r>
              <a:r>
                <a:rPr lang="en-US" sz="1150" b="1" dirty="0" err="1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LoRA</a:t>
              </a:r>
              <a:r>
                <a:rPr lang="en-US" sz="1150" b="1" dirty="0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 r2</a:t>
              </a:r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6849E445-E3BC-7CE2-62CF-E7FDA47BC656}"/>
                </a:ext>
              </a:extLst>
            </p:cNvPr>
            <p:cNvSpPr/>
            <p:nvPr/>
          </p:nvSpPr>
          <p:spPr>
            <a:xfrm>
              <a:off x="5443876" y="2464158"/>
              <a:ext cx="1363469" cy="610039"/>
            </a:xfrm>
            <a:prstGeom prst="rect">
              <a:avLst/>
            </a:prstGeom>
            <a:ln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417320"/>
                        <a:gd name="csY0" fmla="*/ 0 h 713232"/>
                        <a:gd name="csX1" fmla="*/ 458267 w 1417320"/>
                        <a:gd name="csY1" fmla="*/ 0 h 713232"/>
                        <a:gd name="csX2" fmla="*/ 930707 w 1417320"/>
                        <a:gd name="csY2" fmla="*/ 0 h 713232"/>
                        <a:gd name="csX3" fmla="*/ 1417320 w 1417320"/>
                        <a:gd name="csY3" fmla="*/ 0 h 713232"/>
                        <a:gd name="csX4" fmla="*/ 1417320 w 1417320"/>
                        <a:gd name="csY4" fmla="*/ 356616 h 713232"/>
                        <a:gd name="csX5" fmla="*/ 1417320 w 1417320"/>
                        <a:gd name="csY5" fmla="*/ 713232 h 713232"/>
                        <a:gd name="csX6" fmla="*/ 944880 w 1417320"/>
                        <a:gd name="csY6" fmla="*/ 713232 h 713232"/>
                        <a:gd name="csX7" fmla="*/ 500786 w 1417320"/>
                        <a:gd name="csY7" fmla="*/ 713232 h 713232"/>
                        <a:gd name="csX8" fmla="*/ 0 w 1417320"/>
                        <a:gd name="csY8" fmla="*/ 713232 h 713232"/>
                        <a:gd name="csX9" fmla="*/ 0 w 1417320"/>
                        <a:gd name="csY9" fmla="*/ 363748 h 713232"/>
                        <a:gd name="csX10" fmla="*/ 0 w 1417320"/>
                        <a:gd name="csY10" fmla="*/ 0 h 71323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</a:cxnLst>
                      <a:rect l="l" t="t" r="r" b="b"/>
                      <a:pathLst>
                        <a:path w="1417320" h="713232" fill="none" extrusionOk="0">
                          <a:moveTo>
                            <a:pt x="0" y="0"/>
                          </a:moveTo>
                          <a:cubicBezTo>
                            <a:pt x="219628" y="-35669"/>
                            <a:pt x="245571" y="46256"/>
                            <a:pt x="458267" y="0"/>
                          </a:cubicBezTo>
                          <a:cubicBezTo>
                            <a:pt x="670963" y="-46256"/>
                            <a:pt x="805383" y="26034"/>
                            <a:pt x="930707" y="0"/>
                          </a:cubicBezTo>
                          <a:cubicBezTo>
                            <a:pt x="1056031" y="-26034"/>
                            <a:pt x="1252097" y="21579"/>
                            <a:pt x="1417320" y="0"/>
                          </a:cubicBezTo>
                          <a:cubicBezTo>
                            <a:pt x="1424743" y="88960"/>
                            <a:pt x="1379528" y="260214"/>
                            <a:pt x="1417320" y="356616"/>
                          </a:cubicBezTo>
                          <a:cubicBezTo>
                            <a:pt x="1455112" y="453018"/>
                            <a:pt x="1414424" y="602218"/>
                            <a:pt x="1417320" y="713232"/>
                          </a:cubicBezTo>
                          <a:cubicBezTo>
                            <a:pt x="1293342" y="730912"/>
                            <a:pt x="1079867" y="665424"/>
                            <a:pt x="944880" y="713232"/>
                          </a:cubicBezTo>
                          <a:cubicBezTo>
                            <a:pt x="809893" y="761040"/>
                            <a:pt x="664035" y="678897"/>
                            <a:pt x="500786" y="713232"/>
                          </a:cubicBezTo>
                          <a:cubicBezTo>
                            <a:pt x="337537" y="747567"/>
                            <a:pt x="164850" y="704973"/>
                            <a:pt x="0" y="713232"/>
                          </a:cubicBezTo>
                          <a:cubicBezTo>
                            <a:pt x="-29261" y="638842"/>
                            <a:pt x="15265" y="522098"/>
                            <a:pt x="0" y="363748"/>
                          </a:cubicBezTo>
                          <a:cubicBezTo>
                            <a:pt x="-15265" y="205398"/>
                            <a:pt x="30982" y="112465"/>
                            <a:pt x="0" y="0"/>
                          </a:cubicBezTo>
                          <a:close/>
                        </a:path>
                        <a:path w="1417320" h="713232" stroke="0" extrusionOk="0">
                          <a:moveTo>
                            <a:pt x="0" y="0"/>
                          </a:moveTo>
                          <a:cubicBezTo>
                            <a:pt x="199316" y="-31745"/>
                            <a:pt x="285117" y="34527"/>
                            <a:pt x="458267" y="0"/>
                          </a:cubicBezTo>
                          <a:cubicBezTo>
                            <a:pt x="631417" y="-34527"/>
                            <a:pt x="714561" y="29407"/>
                            <a:pt x="888187" y="0"/>
                          </a:cubicBezTo>
                          <a:cubicBezTo>
                            <a:pt x="1061813" y="-29407"/>
                            <a:pt x="1288396" y="21928"/>
                            <a:pt x="1417320" y="0"/>
                          </a:cubicBezTo>
                          <a:cubicBezTo>
                            <a:pt x="1421717" y="93881"/>
                            <a:pt x="1399800" y="246329"/>
                            <a:pt x="1417320" y="349484"/>
                          </a:cubicBezTo>
                          <a:cubicBezTo>
                            <a:pt x="1434840" y="452639"/>
                            <a:pt x="1411528" y="550680"/>
                            <a:pt x="1417320" y="713232"/>
                          </a:cubicBezTo>
                          <a:cubicBezTo>
                            <a:pt x="1276551" y="723423"/>
                            <a:pt x="1142744" y="666330"/>
                            <a:pt x="973226" y="713232"/>
                          </a:cubicBezTo>
                          <a:cubicBezTo>
                            <a:pt x="803708" y="760134"/>
                            <a:pt x="643812" y="694663"/>
                            <a:pt x="529133" y="713232"/>
                          </a:cubicBezTo>
                          <a:cubicBezTo>
                            <a:pt x="414454" y="731801"/>
                            <a:pt x="176661" y="707465"/>
                            <a:pt x="0" y="713232"/>
                          </a:cubicBezTo>
                          <a:cubicBezTo>
                            <a:pt x="-37109" y="568039"/>
                            <a:pt x="7245" y="450204"/>
                            <a:pt x="0" y="378013"/>
                          </a:cubicBezTo>
                          <a:cubicBezTo>
                            <a:pt x="-7245" y="305822"/>
                            <a:pt x="18209" y="15351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150" b="1" dirty="0" err="1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LoRA</a:t>
              </a:r>
              <a:r>
                <a:rPr lang="en-US" sz="1150" b="1" dirty="0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-XS</a:t>
              </a:r>
            </a:p>
            <a:p>
              <a:pPr marL="0" indent="0" algn="ctr">
                <a:buNone/>
              </a:pPr>
              <a:r>
                <a:rPr lang="en-US" sz="1150" b="1" dirty="0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feasibility run</a:t>
              </a:r>
            </a:p>
          </p:txBody>
        </p:sp>
        <p:sp>
          <p:nvSpPr>
            <p:cNvPr id="35" name="Text 12">
              <a:extLst>
                <a:ext uri="{FF2B5EF4-FFF2-40B4-BE49-F238E27FC236}">
                  <a16:creationId xmlns:a16="http://schemas.microsoft.com/office/drawing/2014/main" id="{088B98B6-78AE-DA1C-9CA1-4CC7906024C0}"/>
                </a:ext>
              </a:extLst>
            </p:cNvPr>
            <p:cNvSpPr/>
            <p:nvPr/>
          </p:nvSpPr>
          <p:spPr>
            <a:xfrm>
              <a:off x="7509349" y="2464158"/>
              <a:ext cx="1363469" cy="610039"/>
            </a:xfrm>
            <a:prstGeom prst="rect">
              <a:avLst/>
            </a:prstGeom>
            <a:ln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417320"/>
                        <a:gd name="csY0" fmla="*/ 0 h 713232"/>
                        <a:gd name="csX1" fmla="*/ 458267 w 1417320"/>
                        <a:gd name="csY1" fmla="*/ 0 h 713232"/>
                        <a:gd name="csX2" fmla="*/ 930707 w 1417320"/>
                        <a:gd name="csY2" fmla="*/ 0 h 713232"/>
                        <a:gd name="csX3" fmla="*/ 1417320 w 1417320"/>
                        <a:gd name="csY3" fmla="*/ 0 h 713232"/>
                        <a:gd name="csX4" fmla="*/ 1417320 w 1417320"/>
                        <a:gd name="csY4" fmla="*/ 356616 h 713232"/>
                        <a:gd name="csX5" fmla="*/ 1417320 w 1417320"/>
                        <a:gd name="csY5" fmla="*/ 713232 h 713232"/>
                        <a:gd name="csX6" fmla="*/ 944880 w 1417320"/>
                        <a:gd name="csY6" fmla="*/ 713232 h 713232"/>
                        <a:gd name="csX7" fmla="*/ 500786 w 1417320"/>
                        <a:gd name="csY7" fmla="*/ 713232 h 713232"/>
                        <a:gd name="csX8" fmla="*/ 0 w 1417320"/>
                        <a:gd name="csY8" fmla="*/ 713232 h 713232"/>
                        <a:gd name="csX9" fmla="*/ 0 w 1417320"/>
                        <a:gd name="csY9" fmla="*/ 363748 h 713232"/>
                        <a:gd name="csX10" fmla="*/ 0 w 1417320"/>
                        <a:gd name="csY10" fmla="*/ 0 h 71323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</a:cxnLst>
                      <a:rect l="l" t="t" r="r" b="b"/>
                      <a:pathLst>
                        <a:path w="1417320" h="713232" fill="none" extrusionOk="0">
                          <a:moveTo>
                            <a:pt x="0" y="0"/>
                          </a:moveTo>
                          <a:cubicBezTo>
                            <a:pt x="219628" y="-35669"/>
                            <a:pt x="245571" y="46256"/>
                            <a:pt x="458267" y="0"/>
                          </a:cubicBezTo>
                          <a:cubicBezTo>
                            <a:pt x="670963" y="-46256"/>
                            <a:pt x="805383" y="26034"/>
                            <a:pt x="930707" y="0"/>
                          </a:cubicBezTo>
                          <a:cubicBezTo>
                            <a:pt x="1056031" y="-26034"/>
                            <a:pt x="1252097" y="21579"/>
                            <a:pt x="1417320" y="0"/>
                          </a:cubicBezTo>
                          <a:cubicBezTo>
                            <a:pt x="1424743" y="88960"/>
                            <a:pt x="1379528" y="260214"/>
                            <a:pt x="1417320" y="356616"/>
                          </a:cubicBezTo>
                          <a:cubicBezTo>
                            <a:pt x="1455112" y="453018"/>
                            <a:pt x="1414424" y="602218"/>
                            <a:pt x="1417320" y="713232"/>
                          </a:cubicBezTo>
                          <a:cubicBezTo>
                            <a:pt x="1293342" y="730912"/>
                            <a:pt x="1079867" y="665424"/>
                            <a:pt x="944880" y="713232"/>
                          </a:cubicBezTo>
                          <a:cubicBezTo>
                            <a:pt x="809893" y="761040"/>
                            <a:pt x="664035" y="678897"/>
                            <a:pt x="500786" y="713232"/>
                          </a:cubicBezTo>
                          <a:cubicBezTo>
                            <a:pt x="337537" y="747567"/>
                            <a:pt x="164850" y="704973"/>
                            <a:pt x="0" y="713232"/>
                          </a:cubicBezTo>
                          <a:cubicBezTo>
                            <a:pt x="-29261" y="638842"/>
                            <a:pt x="15265" y="522098"/>
                            <a:pt x="0" y="363748"/>
                          </a:cubicBezTo>
                          <a:cubicBezTo>
                            <a:pt x="-15265" y="205398"/>
                            <a:pt x="30982" y="112465"/>
                            <a:pt x="0" y="0"/>
                          </a:cubicBezTo>
                          <a:close/>
                        </a:path>
                        <a:path w="1417320" h="713232" stroke="0" extrusionOk="0">
                          <a:moveTo>
                            <a:pt x="0" y="0"/>
                          </a:moveTo>
                          <a:cubicBezTo>
                            <a:pt x="199316" y="-31745"/>
                            <a:pt x="285117" y="34527"/>
                            <a:pt x="458267" y="0"/>
                          </a:cubicBezTo>
                          <a:cubicBezTo>
                            <a:pt x="631417" y="-34527"/>
                            <a:pt x="714561" y="29407"/>
                            <a:pt x="888187" y="0"/>
                          </a:cubicBezTo>
                          <a:cubicBezTo>
                            <a:pt x="1061813" y="-29407"/>
                            <a:pt x="1288396" y="21928"/>
                            <a:pt x="1417320" y="0"/>
                          </a:cubicBezTo>
                          <a:cubicBezTo>
                            <a:pt x="1421717" y="93881"/>
                            <a:pt x="1399800" y="246329"/>
                            <a:pt x="1417320" y="349484"/>
                          </a:cubicBezTo>
                          <a:cubicBezTo>
                            <a:pt x="1434840" y="452639"/>
                            <a:pt x="1411528" y="550680"/>
                            <a:pt x="1417320" y="713232"/>
                          </a:cubicBezTo>
                          <a:cubicBezTo>
                            <a:pt x="1276551" y="723423"/>
                            <a:pt x="1142744" y="666330"/>
                            <a:pt x="973226" y="713232"/>
                          </a:cubicBezTo>
                          <a:cubicBezTo>
                            <a:pt x="803708" y="760134"/>
                            <a:pt x="643812" y="694663"/>
                            <a:pt x="529133" y="713232"/>
                          </a:cubicBezTo>
                          <a:cubicBezTo>
                            <a:pt x="414454" y="731801"/>
                            <a:pt x="176661" y="707465"/>
                            <a:pt x="0" y="713232"/>
                          </a:cubicBezTo>
                          <a:cubicBezTo>
                            <a:pt x="-37109" y="568039"/>
                            <a:pt x="7245" y="450204"/>
                            <a:pt x="0" y="378013"/>
                          </a:cubicBezTo>
                          <a:cubicBezTo>
                            <a:pt x="-7245" y="305822"/>
                            <a:pt x="18209" y="15351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150" b="1" dirty="0" err="1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TinyLoRA</a:t>
              </a:r>
              <a:endParaRPr lang="en-US" sz="1150" b="1" dirty="0">
                <a:solidFill>
                  <a:sysClr val="windowText" lastClr="0000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endParaRPr>
            </a:p>
            <a:p>
              <a:pPr marL="0" indent="0" algn="ctr">
                <a:buNone/>
              </a:pPr>
              <a:r>
                <a:rPr lang="en-US" sz="1150" b="1" dirty="0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rPr>
                <a:t>related work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7E2EB35-9F84-7B39-2D0C-612696617C13}"/>
                </a:ext>
              </a:extLst>
            </p:cNvPr>
            <p:cNvSpPr txBox="1"/>
            <p:nvPr/>
          </p:nvSpPr>
          <p:spPr>
            <a:xfrm>
              <a:off x="2706487" y="1700521"/>
              <a:ext cx="12218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i="1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defRPr>
              </a:lvl1pPr>
            </a:lstStyle>
            <a:p>
              <a:r>
                <a:rPr lang="en-US" sz="1200" dirty="0"/>
                <a:t>Learning signal</a:t>
              </a:r>
            </a:p>
          </p:txBody>
        </p:sp>
        <p:sp>
          <p:nvSpPr>
            <p:cNvPr id="38" name="Shape 9">
              <a:extLst>
                <a:ext uri="{FF2B5EF4-FFF2-40B4-BE49-F238E27FC236}">
                  <a16:creationId xmlns:a16="http://schemas.microsoft.com/office/drawing/2014/main" id="{FA3CDCA9-FA67-23A7-39B1-07585954508D}"/>
                </a:ext>
              </a:extLst>
            </p:cNvPr>
            <p:cNvSpPr/>
            <p:nvPr/>
          </p:nvSpPr>
          <p:spPr>
            <a:xfrm>
              <a:off x="2376454" y="2834399"/>
              <a:ext cx="330034" cy="261983"/>
            </a:xfrm>
            <a:prstGeom prst="line">
              <a:avLst/>
            </a:prstGeom>
            <a:noFill/>
            <a:ln w="17780">
              <a:solidFill>
                <a:srgbClr val="2A2A2A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10">
              <a:extLst>
                <a:ext uri="{FF2B5EF4-FFF2-40B4-BE49-F238E27FC236}">
                  <a16:creationId xmlns:a16="http://schemas.microsoft.com/office/drawing/2014/main" id="{0CA2B0BA-0FBB-3040-3316-43EC1273823A}"/>
                </a:ext>
              </a:extLst>
            </p:cNvPr>
            <p:cNvSpPr/>
            <p:nvPr/>
          </p:nvSpPr>
          <p:spPr>
            <a:xfrm>
              <a:off x="6947069" y="2766146"/>
              <a:ext cx="378291" cy="0"/>
            </a:xfrm>
            <a:prstGeom prst="line">
              <a:avLst/>
            </a:prstGeom>
            <a:noFill/>
            <a:ln w="17780">
              <a:solidFill>
                <a:srgbClr val="2A2A2A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ED2E03-975F-4F32-85A9-C82D0B47A8A7}"/>
                </a:ext>
              </a:extLst>
            </p:cNvPr>
            <p:cNvSpPr txBox="1"/>
            <p:nvPr/>
          </p:nvSpPr>
          <p:spPr>
            <a:xfrm>
              <a:off x="5383693" y="2171870"/>
              <a:ext cx="21256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i="1">
                  <a:solidFill>
                    <a:sysClr val="windowText" lastClr="000000"/>
                  </a:solidFill>
                  <a:latin typeface="Archivo" pitchFamily="34" charset="0"/>
                  <a:ea typeface="Archivo" pitchFamily="34" charset="-122"/>
                  <a:cs typeface="Archivo" pitchFamily="34" charset="-120"/>
                </a:defRPr>
              </a:lvl1pPr>
            </a:lstStyle>
            <a:p>
              <a:r>
                <a:rPr lang="en-US" sz="1200" dirty="0"/>
                <a:t>Adapter family Exploration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C133510-A7C1-CC7D-445C-21AE5C9FA4EC}"/>
              </a:ext>
            </a:extLst>
          </p:cNvPr>
          <p:cNvSpPr txBox="1"/>
          <p:nvPr/>
        </p:nvSpPr>
        <p:spPr>
          <a:xfrm>
            <a:off x="355189" y="321848"/>
            <a:ext cx="34676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dk1"/>
                </a:solidFill>
                <a:latin typeface="VT323"/>
                <a:sym typeface="VT323"/>
              </a:rPr>
              <a:t>Project Workflow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CD57A754-94FF-9496-8505-EEF01E2FB420}"/>
              </a:ext>
            </a:extLst>
          </p:cNvPr>
          <p:cNvSpPr/>
          <p:nvPr/>
        </p:nvSpPr>
        <p:spPr>
          <a:xfrm>
            <a:off x="403025" y="3195196"/>
            <a:ext cx="8337950" cy="174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200" dirty="0"/>
              <a:t>Inspired by </a:t>
            </a:r>
            <a:r>
              <a:rPr lang="en-US" sz="1200" i="1" dirty="0"/>
              <a:t>Learning to Reason in 13 Parameters</a:t>
            </a:r>
            <a:r>
              <a:rPr lang="en-US" sz="1200" dirty="0"/>
              <a:t>, which investigates how far ultra-small RL updates can improve reasoning.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200" dirty="0"/>
              <a:t>Started with </a:t>
            </a:r>
            <a:r>
              <a:rPr lang="en-US" sz="1200" b="1" dirty="0"/>
              <a:t>SFT + </a:t>
            </a:r>
            <a:r>
              <a:rPr lang="en-US" sz="1200" b="1" dirty="0" err="1"/>
              <a:t>LoRA</a:t>
            </a:r>
            <a:r>
              <a:rPr lang="en-US" sz="1200" dirty="0"/>
              <a:t> on </a:t>
            </a:r>
            <a:r>
              <a:rPr lang="en-US" sz="1200" b="1" dirty="0"/>
              <a:t>Qwen2.5-Math-1.5B</a:t>
            </a:r>
            <a:r>
              <a:rPr lang="en-US" sz="1200" dirty="0"/>
              <a:t> with ranks </a:t>
            </a:r>
            <a:r>
              <a:rPr lang="en-US" sz="1200" b="1" dirty="0"/>
              <a:t>8 / 4 / 2</a:t>
            </a:r>
            <a:r>
              <a:rPr lang="en-US" sz="1200" dirty="0"/>
              <a:t> in a local notebook workflow.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200" dirty="0"/>
              <a:t>Now pivoting to </a:t>
            </a:r>
            <a:r>
              <a:rPr lang="en-US" sz="1200" b="1" dirty="0"/>
              <a:t>GRPO + </a:t>
            </a:r>
            <a:r>
              <a:rPr lang="en-US" sz="1200" b="1" dirty="0" err="1"/>
              <a:t>LoRA</a:t>
            </a:r>
            <a:r>
              <a:rPr lang="en-US" sz="1200" b="1" dirty="0"/>
              <a:t> (rank 2)</a:t>
            </a:r>
            <a:r>
              <a:rPr lang="en-US" sz="1200" dirty="0"/>
              <a:t>, moving from supervised targets to reward-based optimization.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200" dirty="0"/>
              <a:t>Evaluate on </a:t>
            </a:r>
            <a:r>
              <a:rPr lang="en-US" sz="1200" b="1" dirty="0"/>
              <a:t>GSM8K</a:t>
            </a:r>
            <a:r>
              <a:rPr lang="en-US" sz="1200" dirty="0"/>
              <a:t> and </a:t>
            </a:r>
            <a:r>
              <a:rPr lang="en-US" sz="1200" b="1" dirty="0"/>
              <a:t>Olympiad-style math</a:t>
            </a:r>
            <a:r>
              <a:rPr lang="en-US" sz="1200" dirty="0"/>
              <a:t> to test whether reasoning improvements transfer to harder problems.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200" dirty="0"/>
              <a:t>Include </a:t>
            </a:r>
            <a:r>
              <a:rPr lang="en-US" sz="1200" b="1" dirty="0" err="1"/>
              <a:t>LoRA</a:t>
            </a:r>
            <a:r>
              <a:rPr lang="en-US" sz="1200" b="1" dirty="0"/>
              <a:t>-XS</a:t>
            </a:r>
            <a:r>
              <a:rPr lang="en-US" sz="1200" dirty="0"/>
              <a:t> as a feasibility check; keep </a:t>
            </a:r>
            <a:r>
              <a:rPr lang="en-US" sz="1200" b="1" dirty="0" err="1"/>
              <a:t>TinyLoRA</a:t>
            </a:r>
            <a:r>
              <a:rPr lang="en-US" sz="1200" dirty="0"/>
              <a:t> as related work and future work.</a:t>
            </a:r>
          </a:p>
        </p:txBody>
      </p:sp>
    </p:spTree>
    <p:extLst>
      <p:ext uri="{BB962C8B-B14F-4D97-AF65-F5344CB8AC3E}">
        <p14:creationId xmlns:p14="http://schemas.microsoft.com/office/powerpoint/2010/main" val="1037455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AE423BCD-BBFA-70A2-BD23-2DF7A72E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FFC83419-C89F-5A00-DA46-F1E1DC0C5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4678" y="2401800"/>
            <a:ext cx="478071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Results Review</a:t>
            </a:r>
          </a:p>
        </p:txBody>
      </p:sp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57887321-022B-2E4D-DB6B-F7733DA84B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8600" y="1498357"/>
            <a:ext cx="3009300" cy="20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7556425"/>
      </p:ext>
    </p:extLst>
  </p:cSld>
  <p:clrMapOvr>
    <a:masterClrMapping/>
  </p:clrMapOvr>
</p:sld>
</file>

<file path=ppt/theme/theme1.xml><?xml version="1.0" encoding="utf-8"?>
<a:theme xmlns:a="http://schemas.openxmlformats.org/drawingml/2006/main" name="Tech Trends 2026 by Slidesgo">
  <a:themeElements>
    <a:clrScheme name="Simple Light">
      <a:dk1>
        <a:srgbClr val="222222"/>
      </a:dk1>
      <a:lt1>
        <a:srgbClr val="F8F8F8"/>
      </a:lt1>
      <a:dk2>
        <a:srgbClr val="222222"/>
      </a:dk2>
      <a:lt2>
        <a:srgbClr val="22222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2222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621</Words>
  <Application>Microsoft Macintosh PowerPoint</Application>
  <PresentationFormat>On-screen Show (16:9)</PresentationFormat>
  <Paragraphs>108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Darker Grotesque SemiBold</vt:lpstr>
      <vt:lpstr>Red Hat Mono</vt:lpstr>
      <vt:lpstr>Cambria Math</vt:lpstr>
      <vt:lpstr>Raleway</vt:lpstr>
      <vt:lpstr>Wingdings</vt:lpstr>
      <vt:lpstr>VT323</vt:lpstr>
      <vt:lpstr>Archivo</vt:lpstr>
      <vt:lpstr>Tech Trends 2026 by Slidesgo</vt:lpstr>
      <vt:lpstr>Optimizing Mathematical Reasoning with LoRA</vt:lpstr>
      <vt:lpstr>TABLE OF CONTENTS</vt:lpstr>
      <vt:lpstr>Intro and Definition</vt:lpstr>
      <vt:lpstr>Intro</vt:lpstr>
      <vt:lpstr>Post-training</vt:lpstr>
      <vt:lpstr>Motivation</vt:lpstr>
      <vt:lpstr>7,000,000,000+</vt:lpstr>
      <vt:lpstr>Methodology</vt:lpstr>
      <vt:lpstr>Fine-Tuning Lineage</vt:lpstr>
      <vt:lpstr>THREE IDEAS</vt:lpstr>
      <vt:lpstr>Project Workflow</vt:lpstr>
      <vt:lpstr>PowerPoint Presentation</vt:lpstr>
      <vt:lpstr>Results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Lusha Zhang</cp:lastModifiedBy>
  <cp:revision>10</cp:revision>
  <dcterms:modified xsi:type="dcterms:W3CDTF">2026-03-19T06:11:31Z</dcterms:modified>
</cp:coreProperties>
</file>